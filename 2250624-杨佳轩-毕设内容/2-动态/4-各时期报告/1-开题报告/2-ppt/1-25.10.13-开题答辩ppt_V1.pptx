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 id="2147483665" r:id="rId2"/>
  </p:sldMasterIdLst>
  <p:notesMasterIdLst>
    <p:notesMasterId r:id="rId18"/>
  </p:notesMasterIdLst>
  <p:sldIdLst>
    <p:sldId id="626" r:id="rId3"/>
    <p:sldId id="1927" r:id="rId4"/>
    <p:sldId id="1994" r:id="rId5"/>
    <p:sldId id="1915" r:id="rId6"/>
    <p:sldId id="1995" r:id="rId7"/>
    <p:sldId id="1974" r:id="rId8"/>
    <p:sldId id="1996" r:id="rId9"/>
    <p:sldId id="1997" r:id="rId10"/>
    <p:sldId id="1977" r:id="rId11"/>
    <p:sldId id="1998" r:id="rId12"/>
    <p:sldId id="1986" r:id="rId13"/>
    <p:sldId id="1999" r:id="rId14"/>
    <p:sldId id="1963" r:id="rId15"/>
    <p:sldId id="1993" r:id="rId16"/>
    <p:sldId id="1920" r:id="rId17"/>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C00000"/>
    <a:srgbClr val="DDDDDD"/>
    <a:srgbClr val="D9D9D9"/>
    <a:srgbClr val="0E58C4"/>
    <a:srgbClr val="1771F5"/>
    <a:srgbClr val="11A7FB"/>
    <a:srgbClr val="D2DEEB"/>
    <a:srgbClr val="5497BD"/>
    <a:srgbClr val="405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90" autoAdjust="0"/>
    <p:restoredTop sz="93899" autoAdjust="0"/>
  </p:normalViewPr>
  <p:slideViewPr>
    <p:cSldViewPr snapToGrid="0">
      <p:cViewPr varScale="1">
        <p:scale>
          <a:sx n="161" d="100"/>
          <a:sy n="161" d="100"/>
        </p:scale>
        <p:origin x="684" y="96"/>
      </p:cViewPr>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varScale="1">
        <p:scale>
          <a:sx n="110" d="100"/>
          <a:sy n="110" d="100"/>
        </p:scale>
        <p:origin x="520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B33A9D70-3550-496F-8CEA-79375B4AC724}" type="datetimeFigureOut">
              <a:rPr lang="zh-CN" altLang="en-US" smtClean="0"/>
              <a:t>2025/10/13</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33B8F23-8142-4ACB-BD67-B58DC4CB01C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2275" y="1241425"/>
            <a:ext cx="5953125" cy="3349625"/>
          </a:xfrm>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en-US" altLang="zh-CN" sz="1100" dirty="0"/>
          </a:p>
        </p:txBody>
      </p:sp>
      <p:sp>
        <p:nvSpPr>
          <p:cNvPr id="4" name="灯片编号占位符 3"/>
          <p:cNvSpPr>
            <a:spLocks noGrp="1"/>
          </p:cNvSpPr>
          <p:nvPr>
            <p:ph type="sldNum" sz="quarter" idx="10"/>
          </p:nvPr>
        </p:nvSpPr>
        <p:spPr/>
        <p:txBody>
          <a:bodyPr/>
          <a:lstStyle/>
          <a:p>
            <a:fld id="{B33B8F23-8142-4ACB-BD67-B58DC4CB01C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2</a:t>
            </a:fld>
            <a:endParaRPr lang="zh-CN" altLang="en-US"/>
          </a:p>
        </p:txBody>
      </p:sp>
    </p:spTree>
    <p:extLst>
      <p:ext uri="{BB962C8B-B14F-4D97-AF65-F5344CB8AC3E}">
        <p14:creationId xmlns:p14="http://schemas.microsoft.com/office/powerpoint/2010/main" val="516598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BA9C-6F46-F0FE-97DD-D48A50359B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DB03BB-779A-BA1E-8EFC-B6A3355E37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BD6E5FB-59F8-A399-BB14-CB9ED476B6E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6501AFA-2AC1-AF05-642D-66102F8683B4}"/>
              </a:ext>
            </a:extLst>
          </p:cNvPr>
          <p:cNvSpPr>
            <a:spLocks noGrp="1"/>
          </p:cNvSpPr>
          <p:nvPr>
            <p:ph type="sldNum" sz="quarter" idx="5"/>
          </p:nvPr>
        </p:nvSpPr>
        <p:spPr/>
        <p:txBody>
          <a:bodyPr/>
          <a:lstStyle/>
          <a:p>
            <a:fld id="{B33B8F23-8142-4ACB-BD67-B58DC4CB01CF}" type="slidenum">
              <a:rPr lang="zh-CN" altLang="en-US" smtClean="0"/>
              <a:t>3</a:t>
            </a:fld>
            <a:endParaRPr lang="zh-CN" altLang="en-US"/>
          </a:p>
        </p:txBody>
      </p:sp>
    </p:spTree>
    <p:extLst>
      <p:ext uri="{BB962C8B-B14F-4D97-AF65-F5344CB8AC3E}">
        <p14:creationId xmlns:p14="http://schemas.microsoft.com/office/powerpoint/2010/main" val="509654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4</a:t>
            </a:fld>
            <a:endParaRPr lang="zh-CN" altLang="en-US"/>
          </a:p>
        </p:txBody>
      </p:sp>
    </p:spTree>
    <p:extLst>
      <p:ext uri="{BB962C8B-B14F-4D97-AF65-F5344CB8AC3E}">
        <p14:creationId xmlns:p14="http://schemas.microsoft.com/office/powerpoint/2010/main" val="3665370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D04E0-373A-DEE3-3001-38C0F8A08F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125B17-BC51-B82E-030D-1E4292D14C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4BDD66-6EFC-7637-70DD-AC7B232AEF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61BB1BB-B18D-B715-0F07-FED23FE255C1}"/>
              </a:ext>
            </a:extLst>
          </p:cNvPr>
          <p:cNvSpPr>
            <a:spLocks noGrp="1"/>
          </p:cNvSpPr>
          <p:nvPr>
            <p:ph type="sldNum" sz="quarter" idx="5"/>
          </p:nvPr>
        </p:nvSpPr>
        <p:spPr/>
        <p:txBody>
          <a:bodyPr/>
          <a:lstStyle/>
          <a:p>
            <a:fld id="{B33B8F23-8142-4ACB-BD67-B58DC4CB01CF}" type="slidenum">
              <a:rPr lang="zh-CN" altLang="en-US" smtClean="0"/>
              <a:t>5</a:t>
            </a:fld>
            <a:endParaRPr lang="zh-CN" altLang="en-US"/>
          </a:p>
        </p:txBody>
      </p:sp>
    </p:spTree>
    <p:extLst>
      <p:ext uri="{BB962C8B-B14F-4D97-AF65-F5344CB8AC3E}">
        <p14:creationId xmlns:p14="http://schemas.microsoft.com/office/powerpoint/2010/main" val="3180854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6</a:t>
            </a:fld>
            <a:endParaRPr lang="zh-CN" altLang="en-US"/>
          </a:p>
        </p:txBody>
      </p:sp>
    </p:spTree>
    <p:extLst>
      <p:ext uri="{BB962C8B-B14F-4D97-AF65-F5344CB8AC3E}">
        <p14:creationId xmlns:p14="http://schemas.microsoft.com/office/powerpoint/2010/main" val="602107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2F820-DF7F-F0D0-7708-FD5A233176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F77E1D-3A3C-0426-384A-9282E69BE0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AB01BC-FE7F-D263-BE76-353589A7137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613484F-E0FD-F3E1-4775-92011109F6D5}"/>
              </a:ext>
            </a:extLst>
          </p:cNvPr>
          <p:cNvSpPr>
            <a:spLocks noGrp="1"/>
          </p:cNvSpPr>
          <p:nvPr>
            <p:ph type="sldNum" sz="quarter" idx="5"/>
          </p:nvPr>
        </p:nvSpPr>
        <p:spPr/>
        <p:txBody>
          <a:bodyPr/>
          <a:lstStyle/>
          <a:p>
            <a:fld id="{B33B8F23-8142-4ACB-BD67-B58DC4CB01CF}" type="slidenum">
              <a:rPr lang="zh-CN" altLang="en-US" smtClean="0"/>
              <a:t>7</a:t>
            </a:fld>
            <a:endParaRPr lang="zh-CN" altLang="en-US"/>
          </a:p>
        </p:txBody>
      </p:sp>
    </p:spTree>
    <p:extLst>
      <p:ext uri="{BB962C8B-B14F-4D97-AF65-F5344CB8AC3E}">
        <p14:creationId xmlns:p14="http://schemas.microsoft.com/office/powerpoint/2010/main" val="3608305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4BE06-1342-F3A4-DABF-46CCD7FD2F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FCB008-DF7D-99F0-7D72-46AA379D08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749828-E8BE-CEB8-21A6-52CDD254FEC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AC6D5BB-D29B-6997-E166-2F9C0E8DA000}"/>
              </a:ext>
            </a:extLst>
          </p:cNvPr>
          <p:cNvSpPr>
            <a:spLocks noGrp="1"/>
          </p:cNvSpPr>
          <p:nvPr>
            <p:ph type="sldNum" sz="quarter" idx="5"/>
          </p:nvPr>
        </p:nvSpPr>
        <p:spPr/>
        <p:txBody>
          <a:bodyPr/>
          <a:lstStyle/>
          <a:p>
            <a:fld id="{B33B8F23-8142-4ACB-BD67-B58DC4CB01CF}" type="slidenum">
              <a:rPr lang="zh-CN" altLang="en-US" smtClean="0"/>
              <a:t>8</a:t>
            </a:fld>
            <a:endParaRPr lang="zh-CN" altLang="en-US"/>
          </a:p>
        </p:txBody>
      </p:sp>
    </p:spTree>
    <p:extLst>
      <p:ext uri="{BB962C8B-B14F-4D97-AF65-F5344CB8AC3E}">
        <p14:creationId xmlns:p14="http://schemas.microsoft.com/office/powerpoint/2010/main" val="497833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7793-A673-19E1-FB2C-A636BD4F2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ADB4F7-0377-13A6-1671-E9EAA5F77E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084054-3DC7-E400-8597-2B40D55ED9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9CB0C0-12A0-1424-4246-C913DEE2F1CA}"/>
              </a:ext>
            </a:extLst>
          </p:cNvPr>
          <p:cNvSpPr>
            <a:spLocks noGrp="1"/>
          </p:cNvSpPr>
          <p:nvPr>
            <p:ph type="sldNum" sz="quarter" idx="5"/>
          </p:nvPr>
        </p:nvSpPr>
        <p:spPr/>
        <p:txBody>
          <a:bodyPr/>
          <a:lstStyle/>
          <a:p>
            <a:fld id="{B33B8F23-8142-4ACB-BD67-B58DC4CB01CF}" type="slidenum">
              <a:rPr lang="zh-CN" altLang="en-US" smtClean="0"/>
              <a:t>9</a:t>
            </a:fld>
            <a:endParaRPr lang="zh-CN" altLang="en-US"/>
          </a:p>
        </p:txBody>
      </p:sp>
    </p:spTree>
    <p:extLst>
      <p:ext uri="{BB962C8B-B14F-4D97-AF65-F5344CB8AC3E}">
        <p14:creationId xmlns:p14="http://schemas.microsoft.com/office/powerpoint/2010/main" val="2928762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2DF58-B3C9-C1EF-380B-337FCD60AD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C6A866-9E50-62E7-B95A-682F6FFCD6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5B494A-997D-4FA2-AECF-E036F0C01AF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77FFDC9-DB3A-E8CD-1E2B-A40E793094D1}"/>
              </a:ext>
            </a:extLst>
          </p:cNvPr>
          <p:cNvSpPr>
            <a:spLocks noGrp="1"/>
          </p:cNvSpPr>
          <p:nvPr>
            <p:ph type="sldNum" sz="quarter" idx="5"/>
          </p:nvPr>
        </p:nvSpPr>
        <p:spPr/>
        <p:txBody>
          <a:bodyPr/>
          <a:lstStyle/>
          <a:p>
            <a:fld id="{B33B8F23-8142-4ACB-BD67-B58DC4CB01CF}" type="slidenum">
              <a:rPr lang="zh-CN" altLang="en-US" smtClean="0"/>
              <a:t>10</a:t>
            </a:fld>
            <a:endParaRPr lang="zh-CN" altLang="en-US"/>
          </a:p>
        </p:txBody>
      </p:sp>
    </p:spTree>
    <p:extLst>
      <p:ext uri="{BB962C8B-B14F-4D97-AF65-F5344CB8AC3E}">
        <p14:creationId xmlns:p14="http://schemas.microsoft.com/office/powerpoint/2010/main" val="3917964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7793-A673-19E1-FB2C-A636BD4F2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ADB4F7-0377-13A6-1671-E9EAA5F77E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084054-3DC7-E400-8597-2B40D55ED9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9CB0C0-12A0-1424-4246-C913DEE2F1CA}"/>
              </a:ext>
            </a:extLst>
          </p:cNvPr>
          <p:cNvSpPr>
            <a:spLocks noGrp="1"/>
          </p:cNvSpPr>
          <p:nvPr>
            <p:ph type="sldNum" sz="quarter" idx="5"/>
          </p:nvPr>
        </p:nvSpPr>
        <p:spPr/>
        <p:txBody>
          <a:bodyPr/>
          <a:lstStyle/>
          <a:p>
            <a:fld id="{B33B8F23-8142-4ACB-BD67-B58DC4CB01CF}" type="slidenum">
              <a:rPr lang="zh-CN" altLang="en-US" smtClean="0"/>
              <a:t>11</a:t>
            </a:fld>
            <a:endParaRPr lang="zh-CN" altLang="en-US"/>
          </a:p>
        </p:txBody>
      </p:sp>
    </p:spTree>
    <p:extLst>
      <p:ext uri="{BB962C8B-B14F-4D97-AF65-F5344CB8AC3E}">
        <p14:creationId xmlns:p14="http://schemas.microsoft.com/office/powerpoint/2010/main" val="3682730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C5F9-7F78-15CD-6B87-06D2D6E04F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FDAC77-7587-4C8E-5E79-F3AEEAEEA6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16A8E0-9BC5-63AF-AEEF-67177D06A93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BF5447E-BE6A-7957-322D-E350DE7B05F3}"/>
              </a:ext>
            </a:extLst>
          </p:cNvPr>
          <p:cNvSpPr>
            <a:spLocks noGrp="1"/>
          </p:cNvSpPr>
          <p:nvPr>
            <p:ph type="sldNum" sz="quarter" idx="5"/>
          </p:nvPr>
        </p:nvSpPr>
        <p:spPr/>
        <p:txBody>
          <a:bodyPr/>
          <a:lstStyle/>
          <a:p>
            <a:fld id="{B33B8F23-8142-4ACB-BD67-B58DC4CB01CF}" type="slidenum">
              <a:rPr lang="zh-CN" altLang="en-US" smtClean="0"/>
              <a:t>12</a:t>
            </a:fld>
            <a:endParaRPr lang="zh-CN" altLang="en-US"/>
          </a:p>
        </p:txBody>
      </p:sp>
    </p:spTree>
    <p:extLst>
      <p:ext uri="{BB962C8B-B14F-4D97-AF65-F5344CB8AC3E}">
        <p14:creationId xmlns:p14="http://schemas.microsoft.com/office/powerpoint/2010/main" val="3658744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89FD8-C65E-2663-2057-B44A087200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227CB0-3EA7-D52F-6399-EE8DD180FF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6B5E4D-6D70-0322-A510-A68FD8FBC69C}"/>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379554F5-E6C2-C614-72FC-77DF95A93FC8}"/>
              </a:ext>
            </a:extLst>
          </p:cNvPr>
          <p:cNvSpPr>
            <a:spLocks noGrp="1"/>
          </p:cNvSpPr>
          <p:nvPr>
            <p:ph type="sldNum" sz="quarter" idx="5"/>
          </p:nvPr>
        </p:nvSpPr>
        <p:spPr/>
        <p:txBody>
          <a:bodyPr/>
          <a:lstStyle/>
          <a:p>
            <a:fld id="{B33B8F23-8142-4ACB-BD67-B58DC4CB01CF}" type="slidenum">
              <a:rPr lang="zh-CN" altLang="en-US" smtClean="0"/>
              <a:t>13</a:t>
            </a:fld>
            <a:endParaRPr lang="zh-CN" altLang="en-US"/>
          </a:p>
        </p:txBody>
      </p:sp>
    </p:spTree>
    <p:extLst>
      <p:ext uri="{BB962C8B-B14F-4D97-AF65-F5344CB8AC3E}">
        <p14:creationId xmlns:p14="http://schemas.microsoft.com/office/powerpoint/2010/main" val="3809001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BF8BB-0A6B-F5CD-EC26-644C5DBDC2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5794D0-A46B-1055-256C-3B6E947771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6B3A29-DDE8-5B8C-2268-598C846AB90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C5259AC-3A36-471D-90EB-C4D1FE1C1B92}"/>
              </a:ext>
            </a:extLst>
          </p:cNvPr>
          <p:cNvSpPr>
            <a:spLocks noGrp="1"/>
          </p:cNvSpPr>
          <p:nvPr>
            <p:ph type="sldNum" sz="quarter" idx="5"/>
          </p:nvPr>
        </p:nvSpPr>
        <p:spPr/>
        <p:txBody>
          <a:bodyPr/>
          <a:lstStyle/>
          <a:p>
            <a:fld id="{B33B8F23-8142-4ACB-BD67-B58DC4CB01CF}" type="slidenum">
              <a:rPr lang="zh-CN" altLang="en-US" smtClean="0"/>
              <a:t>14</a:t>
            </a:fld>
            <a:endParaRPr lang="zh-CN" altLang="en-US"/>
          </a:p>
        </p:txBody>
      </p:sp>
    </p:spTree>
    <p:extLst>
      <p:ext uri="{BB962C8B-B14F-4D97-AF65-F5344CB8AC3E}">
        <p14:creationId xmlns:p14="http://schemas.microsoft.com/office/powerpoint/2010/main" val="2451750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04C6-2A67-A49E-4C50-AC268E298A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05DAB9-F35D-6DAF-53E4-F70CD4380BAF}"/>
              </a:ext>
            </a:extLst>
          </p:cNvPr>
          <p:cNvSpPr>
            <a:spLocks noGrp="1" noRot="1" noChangeAspect="1"/>
          </p:cNvSpPr>
          <p:nvPr>
            <p:ph type="sldImg"/>
          </p:nvPr>
        </p:nvSpPr>
        <p:spPr>
          <a:xfrm>
            <a:off x="422275" y="1241425"/>
            <a:ext cx="5953125" cy="3349625"/>
          </a:xfrm>
        </p:spPr>
      </p:sp>
      <p:sp>
        <p:nvSpPr>
          <p:cNvPr id="3" name="备注占位符 2">
            <a:extLst>
              <a:ext uri="{FF2B5EF4-FFF2-40B4-BE49-F238E27FC236}">
                <a16:creationId xmlns:a16="http://schemas.microsoft.com/office/drawing/2014/main" id="{2CE15E78-A5F6-A8A8-DF2A-CE5E440643F1}"/>
              </a:ext>
            </a:extLst>
          </p:cNvPr>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zh-CN" altLang="en-US" sz="1100" dirty="0"/>
          </a:p>
        </p:txBody>
      </p:sp>
      <p:sp>
        <p:nvSpPr>
          <p:cNvPr id="4" name="灯片编号占位符 3">
            <a:extLst>
              <a:ext uri="{FF2B5EF4-FFF2-40B4-BE49-F238E27FC236}">
                <a16:creationId xmlns:a16="http://schemas.microsoft.com/office/drawing/2014/main" id="{BED8AACF-AA4E-62F9-6F8A-B885EEBF886D}"/>
              </a:ext>
            </a:extLst>
          </p:cNvPr>
          <p:cNvSpPr>
            <a:spLocks noGrp="1"/>
          </p:cNvSpPr>
          <p:nvPr>
            <p:ph type="sldNum" sz="quarter" idx="10"/>
          </p:nvPr>
        </p:nvSpPr>
        <p:spPr/>
        <p:txBody>
          <a:bodyPr/>
          <a:lstStyle/>
          <a:p>
            <a:fld id="{B33B8F23-8142-4ACB-BD67-B58DC4CB01CF}" type="slidenum">
              <a:rPr lang="zh-CN" altLang="en-US" smtClean="0"/>
              <a:t>15</a:t>
            </a:fld>
            <a:endParaRPr lang="zh-CN" altLang="en-US"/>
          </a:p>
        </p:txBody>
      </p:sp>
    </p:spTree>
    <p:extLst>
      <p:ext uri="{BB962C8B-B14F-4D97-AF65-F5344CB8AC3E}">
        <p14:creationId xmlns:p14="http://schemas.microsoft.com/office/powerpoint/2010/main" val="2283803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6333795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1966628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10/13/2025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4361479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10/13/2025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6793521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10/13/2025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3948359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10/13/2025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958758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87919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10/13/2025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4753723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10/13/2025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1811664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8047630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0525269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052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i="1" dirty="0">
                <a:solidFill>
                  <a:srgbClr val="002060"/>
                </a:solidFill>
              </a:rPr>
              <a:t>-</a:t>
            </a:r>
            <a:fld id="{77BAF064-260E-4892-AFE1-03308543B28D}" type="slidenum">
              <a:rPr lang="zh-CN" altLang="en-US" sz="1800" b="1" i="1" smtClean="0">
                <a:solidFill>
                  <a:srgbClr val="002060"/>
                </a:solidFill>
              </a:rPr>
              <a:t>‹#›</a:t>
            </a:fld>
            <a:r>
              <a:rPr lang="en-US" altLang="zh-CN" sz="1800" b="1" i="1" dirty="0">
                <a:solidFill>
                  <a:srgbClr val="002060"/>
                </a:solidFill>
              </a:rPr>
              <a:t>-</a:t>
            </a:r>
            <a:endParaRPr lang="zh-CN" altLang="en-US" sz="1800" b="1" i="1" dirty="0">
              <a:solidFill>
                <a:srgbClr val="00206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7BAF064-260E-4892-AFE1-03308543B28D}" type="slidenum">
              <a:rPr lang="zh-CN" altLang="en-US" sz="1800" b="1" i="1" smtClean="0">
                <a:solidFill>
                  <a:srgbClr val="002060"/>
                </a:solidFill>
              </a:rPr>
              <a:t>‹#›</a:t>
            </a:fld>
            <a:r>
              <a:rPr lang="en-US" altLang="zh-CN" sz="1800" b="1" i="1" dirty="0">
                <a:solidFill>
                  <a:srgbClr val="002060"/>
                </a:solidFill>
              </a:rPr>
              <a:t>/25</a:t>
            </a:r>
            <a:endParaRPr lang="zh-CN" altLang="en-US" sz="1800" b="1" i="1" dirty="0">
              <a:solidFill>
                <a:srgbClr val="002060"/>
              </a:solidFill>
            </a:endParaRPr>
          </a:p>
        </p:txBody>
      </p:sp>
      <p:sp>
        <p:nvSpPr>
          <p:cNvPr id="3" name="Title 1">
            <a:extLst>
              <a:ext uri="{FF2B5EF4-FFF2-40B4-BE49-F238E27FC236}">
                <a16:creationId xmlns:a16="http://schemas.microsoft.com/office/drawing/2014/main" id="{8848F937-E385-36C6-92D8-996CCB7357FA}"/>
              </a:ext>
            </a:extLst>
          </p:cNvPr>
          <p:cNvSpPr>
            <a:spLocks noGrp="1"/>
          </p:cNvSpPr>
          <p:nvPr>
            <p:ph type="title"/>
          </p:nvPr>
        </p:nvSpPr>
        <p:spPr>
          <a:xfrm>
            <a:off x="1" y="271086"/>
            <a:ext cx="12192000" cy="564806"/>
          </a:xfrm>
        </p:spPr>
        <p:txBody>
          <a:bodyPr>
            <a:normAutofit/>
          </a:bodyPr>
          <a:lstStyle>
            <a:lvl1pPr marL="0" algn="l" defTabSz="457200" rtl="0" eaLnBrk="1" latinLnBrk="0" hangingPunct="1">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3946862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9C40F-941F-49B4-42DE-A2AB751E236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FBF2F03-01F5-21A7-E09E-9209039E16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11DAD68-F5AE-D653-DA1E-4A340FDCB506}"/>
              </a:ext>
            </a:extLst>
          </p:cNvPr>
          <p:cNvSpPr>
            <a:spLocks noGrp="1"/>
          </p:cNvSpPr>
          <p:nvPr>
            <p:ph type="dt" sz="half" idx="10"/>
          </p:nvPr>
        </p:nvSpPr>
        <p:spPr/>
        <p:txBody>
          <a:bodyPr/>
          <a:lstStyle/>
          <a:p>
            <a:fld id="{58AD2E3A-192D-445D-B466-0477CAAD1086}" type="datetimeFigureOut">
              <a:rPr lang="zh-CN" altLang="en-US" smtClean="0"/>
              <a:t>2025/10/13</a:t>
            </a:fld>
            <a:endParaRPr lang="zh-CN" altLang="en-US"/>
          </a:p>
        </p:txBody>
      </p:sp>
      <p:sp>
        <p:nvSpPr>
          <p:cNvPr id="5" name="页脚占位符 4">
            <a:extLst>
              <a:ext uri="{FF2B5EF4-FFF2-40B4-BE49-F238E27FC236}">
                <a16:creationId xmlns:a16="http://schemas.microsoft.com/office/drawing/2014/main" id="{7F79DE91-A7E1-679A-77BE-CE670DAF8B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B8469F-AFB2-170B-4DD3-2E4FBAE0423F}"/>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604236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7CA50-642B-4CAA-4CD2-47AAAE109A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ED5F4C9-3426-D4BA-2745-6F7AC952699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5DB38D7-CB02-515C-165E-9ED3557068A2}"/>
              </a:ext>
            </a:extLst>
          </p:cNvPr>
          <p:cNvSpPr>
            <a:spLocks noGrp="1"/>
          </p:cNvSpPr>
          <p:nvPr>
            <p:ph type="dt" sz="half" idx="10"/>
          </p:nvPr>
        </p:nvSpPr>
        <p:spPr/>
        <p:txBody>
          <a:bodyPr/>
          <a:lstStyle/>
          <a:p>
            <a:fld id="{58AD2E3A-192D-445D-B466-0477CAAD1086}" type="datetimeFigureOut">
              <a:rPr lang="zh-CN" altLang="en-US" smtClean="0"/>
              <a:t>2025/10/13</a:t>
            </a:fld>
            <a:endParaRPr lang="zh-CN" altLang="en-US"/>
          </a:p>
        </p:txBody>
      </p:sp>
      <p:sp>
        <p:nvSpPr>
          <p:cNvPr id="5" name="页脚占位符 4">
            <a:extLst>
              <a:ext uri="{FF2B5EF4-FFF2-40B4-BE49-F238E27FC236}">
                <a16:creationId xmlns:a16="http://schemas.microsoft.com/office/drawing/2014/main" id="{4EC4009D-6CB9-CB6B-9EB2-0574E36C35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414FDC-FAE8-7248-F18F-9FE4197B8509}"/>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392637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10/13/2025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矩形 6">
            <a:extLst>
              <a:ext uri="{FF2B5EF4-FFF2-40B4-BE49-F238E27FC236}">
                <a16:creationId xmlns:a16="http://schemas.microsoft.com/office/drawing/2014/main" id="{0188E450-8ABA-4BE1-A9C7-97E1BD652863}"/>
              </a:ext>
            </a:extLst>
          </p:cNvPr>
          <p:cNvSpPr/>
          <p:nvPr userDrawn="1"/>
        </p:nvSpPr>
        <p:spPr>
          <a:xfrm flipV="1">
            <a:off x="0" y="840508"/>
            <a:ext cx="12192000" cy="4635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11410254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49" r:id="rId13"/>
    <p:sldLayoutId id="214748366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D90B9B-99AA-9FB2-9DAC-753584840F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B4FD492-58BD-BD24-D1F0-B4429B0E1A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821B04-0F66-6513-10D8-C42C636B98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AD2E3A-192D-445D-B466-0477CAAD1086}" type="datetimeFigureOut">
              <a:rPr lang="zh-CN" altLang="en-US" smtClean="0"/>
              <a:t>2025/10/13</a:t>
            </a:fld>
            <a:endParaRPr lang="zh-CN" altLang="en-US"/>
          </a:p>
        </p:txBody>
      </p:sp>
      <p:sp>
        <p:nvSpPr>
          <p:cNvPr id="5" name="页脚占位符 4">
            <a:extLst>
              <a:ext uri="{FF2B5EF4-FFF2-40B4-BE49-F238E27FC236}">
                <a16:creationId xmlns:a16="http://schemas.microsoft.com/office/drawing/2014/main" id="{8836511A-8354-5809-B5A2-3E221A02F1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231841C-3462-EA7B-28D4-1EA9278B05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549219271"/>
      </p:ext>
    </p:extLst>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双轮足机器人结构设计与运动控制研究</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5" name="组合 4">
            <a:extLst>
              <a:ext uri="{FF2B5EF4-FFF2-40B4-BE49-F238E27FC236}">
                <a16:creationId xmlns:a16="http://schemas.microsoft.com/office/drawing/2014/main" id="{321AEFCE-097E-BD3D-0E1C-619D33EBFA55}"/>
              </a:ext>
            </a:extLst>
          </p:cNvPr>
          <p:cNvGrpSpPr/>
          <p:nvPr/>
        </p:nvGrpSpPr>
        <p:grpSpPr>
          <a:xfrm>
            <a:off x="4383338" y="5066917"/>
            <a:ext cx="7154920" cy="954107"/>
            <a:chOff x="3952414" y="4777882"/>
            <a:chExt cx="7154920" cy="954107"/>
          </a:xfrm>
        </p:grpSpPr>
        <p:sp>
          <p:nvSpPr>
            <p:cNvPr id="3" name="文本框 2">
              <a:extLst>
                <a:ext uri="{FF2B5EF4-FFF2-40B4-BE49-F238E27FC236}">
                  <a16:creationId xmlns:a16="http://schemas.microsoft.com/office/drawing/2014/main" id="{73BA0275-FA30-4D9F-B2B6-92AC46BFBBFD}"/>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168C33FB-E908-59BD-2A1F-FE65884A4F4C}"/>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sp>
        <p:nvSpPr>
          <p:cNvPr id="7" name="文本框 6">
            <a:extLst>
              <a:ext uri="{FF2B5EF4-FFF2-40B4-BE49-F238E27FC236}">
                <a16:creationId xmlns:a16="http://schemas.microsoft.com/office/drawing/2014/main" id="{D91C4353-F6CF-033E-E55B-9343E672F0E4}"/>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级本科生毕业设计开题答辩</a:t>
            </a:r>
          </a:p>
        </p:txBody>
      </p:sp>
      <p:pic>
        <p:nvPicPr>
          <p:cNvPr id="9" name="图片 8">
            <a:extLst>
              <a:ext uri="{FF2B5EF4-FFF2-40B4-BE49-F238E27FC236}">
                <a16:creationId xmlns:a16="http://schemas.microsoft.com/office/drawing/2014/main" id="{7730C4EA-4A79-83ED-8502-60C7E6AAAAA9}"/>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545"/>
    </mc:Choice>
    <mc:Fallback xmlns="">
      <p:transition spd="slow" advTm="1154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7AE3A45-9FBF-8C7E-330A-7E1129A89D64}"/>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43489005-54AE-08BD-0860-0956147177AB}"/>
              </a:ext>
            </a:extLst>
          </p:cNvPr>
          <p:cNvSpPr/>
          <p:nvPr/>
        </p:nvSpPr>
        <p:spPr>
          <a:xfrm flipV="1">
            <a:off x="3887934" y="1256164"/>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8C342B8E-7149-AE3D-F998-F7BD45AFF8B7}"/>
              </a:ext>
            </a:extLst>
          </p:cNvPr>
          <p:cNvSpPr/>
          <p:nvPr/>
        </p:nvSpPr>
        <p:spPr>
          <a:xfrm flipV="1">
            <a:off x="3468557" y="1221793"/>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7EC86C75-835B-17C5-2500-5B4C51AA8CC0}"/>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0B44B505-8A57-74BF-933B-D5B1FE34D7FC}"/>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594A0131-B403-2126-2A06-F7DCB105D371}"/>
              </a:ext>
            </a:extLst>
          </p:cNvPr>
          <p:cNvSpPr/>
          <p:nvPr/>
        </p:nvSpPr>
        <p:spPr>
          <a:xfrm flipV="1">
            <a:off x="3470104" y="2326648"/>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2563E6B5-1233-1FF0-7C7F-5701B1EB3523}"/>
              </a:ext>
            </a:extLst>
          </p:cNvPr>
          <p:cNvSpPr/>
          <p:nvPr/>
        </p:nvSpPr>
        <p:spPr>
          <a:xfrm flipV="1">
            <a:off x="3887934" y="2361020"/>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7D861644-3123-D188-0D2F-0C11ED960138}"/>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CB3BDFFF-EB8F-6936-81D0-3259012482BA}"/>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AFFAD396-BB51-A50F-8AAA-04774667B748}"/>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814740E9-9E35-BD1E-D575-169544A92CF9}"/>
              </a:ext>
            </a:extLst>
          </p:cNvPr>
          <p:cNvSpPr/>
          <p:nvPr/>
        </p:nvSpPr>
        <p:spPr>
          <a:xfrm flipV="1">
            <a:off x="3494596" y="3481677"/>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4A20CBC0-C78A-2E3A-DD03-A12C5D9DE780}"/>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F55C1E21-003A-06E1-81E9-090133C34ADF}"/>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A66AC8ED-94FA-DBFE-3065-9A21904BB1B8}"/>
              </a:ext>
            </a:extLst>
          </p:cNvPr>
          <p:cNvSpPr/>
          <p:nvPr/>
        </p:nvSpPr>
        <p:spPr>
          <a:xfrm flipV="1">
            <a:off x="3889481" y="46793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E6204227-45C4-09BC-88BE-CD9F22344313}"/>
              </a:ext>
            </a:extLst>
          </p:cNvPr>
          <p:cNvSpPr/>
          <p:nvPr/>
        </p:nvSpPr>
        <p:spPr>
          <a:xfrm flipV="1">
            <a:off x="3473200" y="4644965"/>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5967F2DB-AF3F-F5C9-D47F-825DC5C5F50F}"/>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E187F2D-84E3-76F2-FAC9-8D47EA1D9D06}"/>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CE8DCFEA-E69F-884E-53C1-3530B0E2AFB9}"/>
              </a:ext>
            </a:extLst>
          </p:cNvPr>
          <p:cNvSpPr/>
          <p:nvPr/>
        </p:nvSpPr>
        <p:spPr>
          <a:xfrm flipV="1">
            <a:off x="3494597" y="5842624"/>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4F1DBAE7-3C8B-11B4-E37F-D3B2708C9CCE}"/>
              </a:ext>
            </a:extLst>
          </p:cNvPr>
          <p:cNvSpPr/>
          <p:nvPr/>
        </p:nvSpPr>
        <p:spPr>
          <a:xfrm flipV="1">
            <a:off x="3912427" y="587699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91BA822D-91D5-4C9F-CD34-6040482AC866}"/>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7B5EC910-54D4-D0B8-B6A1-D96B6ACCDA3C}"/>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88678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BA31-8B9D-F077-C179-C81E0409905E}"/>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B28BFA90-F9B4-A6A2-B5D0-C524353114FF}"/>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0D95B6F8-AA64-5DC1-1A54-3E37ECA88B26}"/>
              </a:ext>
            </a:extLst>
          </p:cNvPr>
          <p:cNvSpPr/>
          <p:nvPr/>
        </p:nvSpPr>
        <p:spPr>
          <a:xfrm flipV="1">
            <a:off x="3887934" y="1256164"/>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C92FA456-4FCC-AB2A-AF26-B9349162F648}"/>
              </a:ext>
            </a:extLst>
          </p:cNvPr>
          <p:cNvSpPr/>
          <p:nvPr/>
        </p:nvSpPr>
        <p:spPr>
          <a:xfrm flipV="1">
            <a:off x="3468557" y="1221793"/>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FCE6A9B2-6529-464C-25BE-3E0878DBC6BD}"/>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994305E5-6258-AD56-726C-26829BFF2555}"/>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21152DDD-5AC0-C31C-7AB3-AF3FECB7F921}"/>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F9A012DE-9B34-FA95-98F4-0D32287BE2D0}"/>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D27DC5E4-5267-45C9-6CC5-E635DA1EDF10}"/>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F5A3E433-1656-8CCF-405C-D7AB17AC2CD2}"/>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6271CE23-E016-05DB-7BF1-6B0A4E80934E}"/>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B0572467-B86E-D371-A1B3-ADAD2B3A6A9D}"/>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100A230C-4188-9C2F-696A-30D710CC030E}"/>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3F48C55D-C7D0-104C-5D56-7CE28EF0C669}"/>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7B356CE7-56FA-1F2B-AA55-29A510E8C35B}"/>
              </a:ext>
            </a:extLst>
          </p:cNvPr>
          <p:cNvSpPr/>
          <p:nvPr/>
        </p:nvSpPr>
        <p:spPr>
          <a:xfrm flipV="1">
            <a:off x="3889481" y="46793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F4FAB72C-280F-FCCB-4ECF-D353E01900AD}"/>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3A9C8936-C3F9-3C6B-E3B8-B7B6BF4F6159}"/>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67CF9D92-BC57-4E6F-F43A-53A9A62A31B3}"/>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schemeClr val="bg1"/>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165C88F9-8032-1900-3CE1-5278B9FBBE5A}"/>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2A73ADB5-D5CC-D9FD-45E1-FF1F8E3983F2}"/>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D3272505-BD3E-7DB3-C87D-D75262DAD349}"/>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E7624C5E-9858-CF5B-5972-95B525D89D9F}"/>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schemeClr val="bg1"/>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1463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4D912-5456-A6C8-61E6-C96A9EE89B75}"/>
              </a:ext>
            </a:extLst>
          </p:cNvPr>
          <p:cNvSpPr>
            <a:spLocks noGrp="1"/>
          </p:cNvSpPr>
          <p:nvPr>
            <p:ph type="title"/>
          </p:nvPr>
        </p:nvSpPr>
        <p:spPr/>
        <p:txBody>
          <a:bodyPr/>
          <a:lstStyle/>
          <a:p>
            <a:r>
              <a:rPr lang="zh-CN" altLang="en-US" dirty="0"/>
              <a:t>研究背景及意义</a:t>
            </a:r>
          </a:p>
        </p:txBody>
      </p:sp>
      <p:sp>
        <p:nvSpPr>
          <p:cNvPr id="4" name="圆角矩形 7">
            <a:extLst>
              <a:ext uri="{FF2B5EF4-FFF2-40B4-BE49-F238E27FC236}">
                <a16:creationId xmlns:a16="http://schemas.microsoft.com/office/drawing/2014/main" id="{6EB58233-7FCC-D296-0E6C-5729778D0F7A}"/>
              </a:ext>
            </a:extLst>
          </p:cNvPr>
          <p:cNvSpPr/>
          <p:nvPr/>
        </p:nvSpPr>
        <p:spPr>
          <a:xfrm>
            <a:off x="277034" y="1543265"/>
            <a:ext cx="6012254" cy="164598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8">
            <a:extLst>
              <a:ext uri="{FF2B5EF4-FFF2-40B4-BE49-F238E27FC236}">
                <a16:creationId xmlns:a16="http://schemas.microsoft.com/office/drawing/2014/main" id="{BF046308-2139-F567-7D34-E059BFCB6ABF}"/>
              </a:ext>
            </a:extLst>
          </p:cNvPr>
          <p:cNvSpPr/>
          <p:nvPr/>
        </p:nvSpPr>
        <p:spPr>
          <a:xfrm>
            <a:off x="446049" y="1250932"/>
            <a:ext cx="2535044" cy="515155"/>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机器人技术发展迅速</a:t>
            </a:r>
          </a:p>
        </p:txBody>
      </p:sp>
      <p:grpSp>
        <p:nvGrpSpPr>
          <p:cNvPr id="12" name="组合 11">
            <a:extLst>
              <a:ext uri="{FF2B5EF4-FFF2-40B4-BE49-F238E27FC236}">
                <a16:creationId xmlns:a16="http://schemas.microsoft.com/office/drawing/2014/main" id="{C46E5FB1-F733-3E5F-2B31-F5FDF3D44078}"/>
              </a:ext>
            </a:extLst>
          </p:cNvPr>
          <p:cNvGrpSpPr/>
          <p:nvPr/>
        </p:nvGrpSpPr>
        <p:grpSpPr>
          <a:xfrm>
            <a:off x="277034" y="3607667"/>
            <a:ext cx="6012254" cy="2852607"/>
            <a:chOff x="2413716" y="3419687"/>
            <a:chExt cx="9578085" cy="2112989"/>
          </a:xfrm>
        </p:grpSpPr>
        <p:sp>
          <p:nvSpPr>
            <p:cNvPr id="10" name="圆角矩形 7">
              <a:extLst>
                <a:ext uri="{FF2B5EF4-FFF2-40B4-BE49-F238E27FC236}">
                  <a16:creationId xmlns:a16="http://schemas.microsoft.com/office/drawing/2014/main" id="{108AF4E8-10EF-CB22-0722-6375F6CC1B8B}"/>
                </a:ext>
              </a:extLst>
            </p:cNvPr>
            <p:cNvSpPr/>
            <p:nvPr/>
          </p:nvSpPr>
          <p:spPr>
            <a:xfrm>
              <a:off x="2413716" y="3565553"/>
              <a:ext cx="9578085" cy="196712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8">
              <a:extLst>
                <a:ext uri="{FF2B5EF4-FFF2-40B4-BE49-F238E27FC236}">
                  <a16:creationId xmlns:a16="http://schemas.microsoft.com/office/drawing/2014/main" id="{CFC5E3CF-7E03-BFCC-A21A-15B9E49FC9C2}"/>
                </a:ext>
              </a:extLst>
            </p:cNvPr>
            <p:cNvSpPr/>
            <p:nvPr/>
          </p:nvSpPr>
          <p:spPr>
            <a:xfrm>
              <a:off x="2668667" y="3419687"/>
              <a:ext cx="4052869" cy="40269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轮足机器人性能优越</a:t>
              </a:r>
            </a:p>
          </p:txBody>
        </p:sp>
      </p:grpSp>
      <p:sp>
        <p:nvSpPr>
          <p:cNvPr id="6" name="文本框 5">
            <a:extLst>
              <a:ext uri="{FF2B5EF4-FFF2-40B4-BE49-F238E27FC236}">
                <a16:creationId xmlns:a16="http://schemas.microsoft.com/office/drawing/2014/main" id="{459072E9-E2F3-9ACD-7AE1-517272059D92}"/>
              </a:ext>
            </a:extLst>
          </p:cNvPr>
          <p:cNvSpPr txBox="1"/>
          <p:nvPr/>
        </p:nvSpPr>
        <p:spPr>
          <a:xfrm>
            <a:off x="446049" y="1766087"/>
            <a:ext cx="5721979" cy="1296637"/>
          </a:xfrm>
          <a:prstGeom prst="rect">
            <a:avLst/>
          </a:prstGeom>
          <a:noFill/>
        </p:spPr>
        <p:txBody>
          <a:bodyPr wrap="square" rtlCol="0">
            <a:spAutoFit/>
          </a:bodyPr>
          <a:lstStyle/>
          <a:p>
            <a:pPr latinLnBrk="1">
              <a:lnSpc>
                <a:spcPct val="150000"/>
              </a:lnSpc>
            </a:pPr>
            <a:r>
              <a:rPr lang="zh-CN" altLang="zh-CN" dirty="0">
                <a:latin typeface="+mn-ea"/>
              </a:rPr>
              <a:t>在全球科技迅猛发展的浪潮中，机器人技术（</a:t>
            </a:r>
            <a:r>
              <a:rPr lang="en-US" altLang="zh-CN" dirty="0">
                <a:latin typeface="Times New Roman" panose="02020603050405020304" pitchFamily="18" charset="0"/>
                <a:cs typeface="Times New Roman" panose="02020603050405020304" pitchFamily="18" charset="0"/>
              </a:rPr>
              <a:t>Robotics</a:t>
            </a:r>
            <a:r>
              <a:rPr lang="zh-CN" altLang="zh-CN" dirty="0">
                <a:latin typeface="+mn-ea"/>
              </a:rPr>
              <a:t>）已崛起为驱动社会进步与产业变革的</a:t>
            </a:r>
            <a:r>
              <a:rPr lang="zh-CN" altLang="zh-CN" dirty="0">
                <a:solidFill>
                  <a:srgbClr val="002060"/>
                </a:solidFill>
                <a:latin typeface="思源黑体 CN Bold" panose="020B0800000000000000" pitchFamily="34" charset="-122"/>
                <a:ea typeface="思源黑体 CN Bold" panose="020B0800000000000000" pitchFamily="34" charset="-122"/>
              </a:rPr>
              <a:t>核心驱动力</a:t>
            </a:r>
            <a:r>
              <a:rPr lang="zh-CN" altLang="en-US" dirty="0">
                <a:latin typeface="+mn-ea"/>
              </a:rPr>
              <a:t>。</a:t>
            </a:r>
            <a:r>
              <a:rPr lang="zh-CN" altLang="zh-CN" dirty="0">
                <a:latin typeface="+mn-ea"/>
              </a:rPr>
              <a:t>习近平总书记深刻指出，要“以科技创新推动产业创新”</a:t>
            </a:r>
            <a:endParaRPr lang="zh-CN" altLang="en-US" dirty="0">
              <a:latin typeface="+mn-ea"/>
            </a:endParaRPr>
          </a:p>
        </p:txBody>
      </p:sp>
      <p:pic>
        <p:nvPicPr>
          <p:cNvPr id="1028" name="Picture 4" descr="十四五”智能制造发展规划》：抢占关键技术制高点 2035年规上制造业将普及数字化-新闻频道-和讯网">
            <a:extLst>
              <a:ext uri="{FF2B5EF4-FFF2-40B4-BE49-F238E27FC236}">
                <a16:creationId xmlns:a16="http://schemas.microsoft.com/office/drawing/2014/main" id="{D8123B07-CCA6-14C2-F78B-F66B455C92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695" y="1160034"/>
            <a:ext cx="3341290" cy="19809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9711B366-DF73-4BA6-3AC0-216241F990A7}"/>
              </a:ext>
            </a:extLst>
          </p:cNvPr>
          <p:cNvPicPr>
            <a:picLocks noChangeAspect="1"/>
          </p:cNvPicPr>
          <p:nvPr/>
        </p:nvPicPr>
        <p:blipFill>
          <a:blip r:embed="rId4" cstate="print">
            <a:extLst>
              <a:ext uri="{28A0092B-C50C-407E-A947-70E740481C1C}">
                <a14:useLocalDpi xmlns:a14="http://schemas.microsoft.com/office/drawing/2010/main" val="0"/>
              </a:ext>
            </a:extLst>
          </a:blip>
          <a:srcRect l="6094" r="10722"/>
          <a:stretch>
            <a:fillRect/>
          </a:stretch>
        </p:blipFill>
        <p:spPr>
          <a:xfrm>
            <a:off x="6880695" y="3879490"/>
            <a:ext cx="2683727" cy="2151899"/>
          </a:xfrm>
          <a:prstGeom prst="rect">
            <a:avLst/>
          </a:prstGeom>
          <a:ln>
            <a:noFill/>
          </a:ln>
          <a:effectLst>
            <a:outerShdw blurRad="292100" dist="139700" dir="2700000" algn="tl" rotWithShape="0">
              <a:srgbClr val="333333">
                <a:alpha val="65000"/>
              </a:srgbClr>
            </a:outerShdw>
          </a:effectLst>
        </p:spPr>
      </p:pic>
      <p:sp>
        <p:nvSpPr>
          <p:cNvPr id="17" name="AutoShape 6" descr="政策法规丨《人形机器人创新发展指导意见》：拓展人形机器人在医疗等民生领域服务应用-器械之心">
            <a:extLst>
              <a:ext uri="{FF2B5EF4-FFF2-40B4-BE49-F238E27FC236}">
                <a16:creationId xmlns:a16="http://schemas.microsoft.com/office/drawing/2014/main" id="{F4AFC35C-FD36-647A-3937-6C4E8FB5C0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9" name="图片 18">
            <a:extLst>
              <a:ext uri="{FF2B5EF4-FFF2-40B4-BE49-F238E27FC236}">
                <a16:creationId xmlns:a16="http://schemas.microsoft.com/office/drawing/2014/main" id="{7225C290-243B-341A-4A31-26819FEC1E60}"/>
              </a:ext>
            </a:extLst>
          </p:cNvPr>
          <p:cNvPicPr>
            <a:picLocks noChangeAspect="1"/>
          </p:cNvPicPr>
          <p:nvPr/>
        </p:nvPicPr>
        <p:blipFill>
          <a:blip r:embed="rId5"/>
          <a:stretch>
            <a:fillRect/>
          </a:stretch>
        </p:blipFill>
        <p:spPr>
          <a:xfrm>
            <a:off x="9043803" y="1955759"/>
            <a:ext cx="2544024" cy="1734562"/>
          </a:xfrm>
          <a:prstGeom prst="rect">
            <a:avLst/>
          </a:prstGeom>
          <a:ln>
            <a:noFill/>
          </a:ln>
          <a:effectLst>
            <a:outerShdw blurRad="292100" dist="139700" dir="2700000" algn="tl" rotWithShape="0">
              <a:srgbClr val="333333">
                <a:alpha val="65000"/>
              </a:srgbClr>
            </a:outerShdw>
          </a:effectLst>
        </p:spPr>
      </p:pic>
      <p:pic>
        <p:nvPicPr>
          <p:cNvPr id="1034" name="Picture 10" descr="机器人中的运动健将，轮腿式机器人Ollie_怡美工业设计公司">
            <a:extLst>
              <a:ext uri="{FF2B5EF4-FFF2-40B4-BE49-F238E27FC236}">
                <a16:creationId xmlns:a16="http://schemas.microsoft.com/office/drawing/2014/main" id="{643C5376-4631-824A-1B00-DDB8E70F7B8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8369" t="15276" r="20095" b="7848"/>
          <a:stretch>
            <a:fillRect/>
          </a:stretch>
        </p:blipFill>
        <p:spPr bwMode="auto">
          <a:xfrm>
            <a:off x="9075432" y="4750446"/>
            <a:ext cx="2454074" cy="170982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946C850D-50A2-5F9D-5466-964989274984}"/>
              </a:ext>
            </a:extLst>
          </p:cNvPr>
          <p:cNvSpPr txBox="1"/>
          <p:nvPr/>
        </p:nvSpPr>
        <p:spPr>
          <a:xfrm>
            <a:off x="437069" y="4196743"/>
            <a:ext cx="5721979" cy="2127634"/>
          </a:xfrm>
          <a:prstGeom prst="rect">
            <a:avLst/>
          </a:prstGeom>
          <a:noFill/>
        </p:spPr>
        <p:txBody>
          <a:bodyPr wrap="square" rtlCol="0">
            <a:spAutoFit/>
          </a:bodyPr>
          <a:lstStyle/>
          <a:p>
            <a:pPr latinLnBrk="1">
              <a:lnSpc>
                <a:spcPct val="150000"/>
              </a:lnSpc>
            </a:pPr>
            <a:r>
              <a:rPr lang="zh-CN" altLang="en-US" dirty="0">
                <a:latin typeface="+mn-ea"/>
              </a:rPr>
              <a:t>地面移动机器人作为现有机器人中的绝对主流，越来越多地被用于工业生产、生活娱乐、搜救任务、军事侦察等场景中。</a:t>
            </a:r>
            <a:r>
              <a:rPr lang="zh-CN" altLang="en-US" dirty="0">
                <a:solidFill>
                  <a:srgbClr val="002060"/>
                </a:solidFill>
                <a:latin typeface="思源黑体 CN Bold" panose="020B0800000000000000" pitchFamily="34" charset="-122"/>
                <a:ea typeface="思源黑体 CN Bold" panose="020B0800000000000000" pitchFamily="34" charset="-122"/>
              </a:rPr>
              <a:t>轮足复合式机器人</a:t>
            </a:r>
            <a:r>
              <a:rPr lang="zh-CN" altLang="en-US" dirty="0">
                <a:latin typeface="+mn-ea"/>
              </a:rPr>
              <a:t>兼顾了轮式机器人的高效性与足式机器人的地形适应性，成为当前机器人研究的热点之一。</a:t>
            </a:r>
          </a:p>
        </p:txBody>
      </p:sp>
    </p:spTree>
    <p:extLst>
      <p:ext uri="{BB962C8B-B14F-4D97-AF65-F5344CB8AC3E}">
        <p14:creationId xmlns:p14="http://schemas.microsoft.com/office/powerpoint/2010/main" val="129240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CFA86-F063-6134-5EA5-176EF5079917}"/>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88AF9C3D-625A-E0C4-5D92-B8FE20B2E0F5}"/>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4DB723D3-577C-069C-AD47-42D30C2D835C}"/>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AEF9AFB2-495A-D3F5-995C-4BB1DC4B2E48}"/>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F0396D63-2A41-710F-EDD4-CB6738180C28}"/>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E86276C7-A91B-8797-4DE6-9641C5802DB0}"/>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F2AD2F04-4FFD-C119-D995-33B23FC1969F}"/>
              </a:ext>
            </a:extLst>
          </p:cNvPr>
          <p:cNvSpPr/>
          <p:nvPr/>
        </p:nvSpPr>
        <p:spPr>
          <a:xfrm flipV="1">
            <a:off x="3470104" y="2326648"/>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4D78BD99-2EA0-CBD3-B77B-8CD2E8E307D5}"/>
              </a:ext>
            </a:extLst>
          </p:cNvPr>
          <p:cNvSpPr/>
          <p:nvPr/>
        </p:nvSpPr>
        <p:spPr>
          <a:xfrm flipV="1">
            <a:off x="3887934" y="2361020"/>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B032F607-A8B9-8D93-78C5-58ABFF002B8D}"/>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A85AA75F-36BF-E093-A653-79DC4EE1AEA5}"/>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4E28E943-6746-5816-6245-1E86DFE9FA96}"/>
              </a:ext>
            </a:extLst>
          </p:cNvPr>
          <p:cNvSpPr/>
          <p:nvPr/>
        </p:nvSpPr>
        <p:spPr>
          <a:xfrm flipV="1">
            <a:off x="3910877" y="3516048"/>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A173A4B8-A76B-5AE1-8529-1456932AF2D7}"/>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B061DA36-2445-8BD0-2C01-AD3590913304}"/>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47F1ACCC-522D-6D8E-0253-71025A09ACB4}"/>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EED21CED-6A33-C719-88D3-1179AD0D66C6}"/>
              </a:ext>
            </a:extLst>
          </p:cNvPr>
          <p:cNvSpPr/>
          <p:nvPr/>
        </p:nvSpPr>
        <p:spPr>
          <a:xfrm flipV="1">
            <a:off x="3887934" y="470184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7EA85CD1-E57C-3DA4-4545-7234543F202D}"/>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5C5238AD-FA02-C9D4-7209-30A4E05FF45A}"/>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50168896-4B1A-5C2C-9340-8DD6F11650E7}"/>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31142120-0E94-05FB-E9EC-AFB6F3251516}"/>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B923DBCB-E273-B274-F2A4-2F99C205D69C}"/>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82EFD740-F297-6FC8-9663-1C33124F7BE2}"/>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0AFE3416-9FB6-DBAA-669C-1D9C15022301}"/>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178802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ED049-4FA7-B191-2FEF-31307219DB93}"/>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国内外研究现状分析</a:t>
            </a:r>
          </a:p>
        </p:txBody>
      </p:sp>
      <p:sp>
        <p:nvSpPr>
          <p:cNvPr id="13" name="矩形 12">
            <a:extLst>
              <a:ext uri="{FF2B5EF4-FFF2-40B4-BE49-F238E27FC236}">
                <a16:creationId xmlns:a16="http://schemas.microsoft.com/office/drawing/2014/main" id="{7C9DC89D-B486-3153-7663-50FAFB848E90}"/>
              </a:ext>
            </a:extLst>
          </p:cNvPr>
          <p:cNvSpPr/>
          <p:nvPr/>
        </p:nvSpPr>
        <p:spPr>
          <a:xfrm>
            <a:off x="0" y="1030147"/>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791895C6-D7BC-889D-AFF2-97C6476B4219}"/>
              </a:ext>
            </a:extLst>
          </p:cNvPr>
          <p:cNvSpPr/>
          <p:nvPr/>
        </p:nvSpPr>
        <p:spPr>
          <a:xfrm>
            <a:off x="520858" y="120320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D4C3FA35-38E1-FA7D-E5AC-854F4039C2E8}"/>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1324236A-15CD-91AE-D08E-EC1FA3E04374}"/>
              </a:ext>
            </a:extLst>
          </p:cNvPr>
          <p:cNvSpPr/>
          <p:nvPr/>
        </p:nvSpPr>
        <p:spPr>
          <a:xfrm>
            <a:off x="4500453"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19D283B8-FE71-6389-77DE-0A5667D5C15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18" name="矩形 17">
            <a:extLst>
              <a:ext uri="{FF2B5EF4-FFF2-40B4-BE49-F238E27FC236}">
                <a16:creationId xmlns:a16="http://schemas.microsoft.com/office/drawing/2014/main" id="{6ED52874-749D-FCD3-403E-3352E3790A49}"/>
              </a:ext>
            </a:extLst>
          </p:cNvPr>
          <p:cNvSpPr/>
          <p:nvPr/>
        </p:nvSpPr>
        <p:spPr>
          <a:xfrm>
            <a:off x="398649"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9" name="矩形 18">
            <a:extLst>
              <a:ext uri="{FF2B5EF4-FFF2-40B4-BE49-F238E27FC236}">
                <a16:creationId xmlns:a16="http://schemas.microsoft.com/office/drawing/2014/main" id="{49263E40-B7E3-6498-73ED-15DBC9994F5A}"/>
              </a:ext>
            </a:extLst>
          </p:cNvPr>
          <p:cNvSpPr/>
          <p:nvPr/>
        </p:nvSpPr>
        <p:spPr>
          <a:xfrm>
            <a:off x="398649" y="1586059"/>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串联式结构</a:t>
            </a:r>
          </a:p>
        </p:txBody>
      </p:sp>
      <p:sp>
        <p:nvSpPr>
          <p:cNvPr id="20" name="矩形 19">
            <a:extLst>
              <a:ext uri="{FF2B5EF4-FFF2-40B4-BE49-F238E27FC236}">
                <a16:creationId xmlns:a16="http://schemas.microsoft.com/office/drawing/2014/main" id="{42B2E7A5-767F-678C-C2E6-BDE89421EE2A}"/>
              </a:ext>
            </a:extLst>
          </p:cNvPr>
          <p:cNvSpPr/>
          <p:nvPr/>
        </p:nvSpPr>
        <p:spPr>
          <a:xfrm>
            <a:off x="4279764"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1" name="矩形 20">
            <a:extLst>
              <a:ext uri="{FF2B5EF4-FFF2-40B4-BE49-F238E27FC236}">
                <a16:creationId xmlns:a16="http://schemas.microsoft.com/office/drawing/2014/main" id="{B9CFBA69-7328-E477-22B2-08EB25DF4183}"/>
              </a:ext>
            </a:extLst>
          </p:cNvPr>
          <p:cNvSpPr/>
          <p:nvPr/>
        </p:nvSpPr>
        <p:spPr>
          <a:xfrm>
            <a:off x="4279763" y="1586996"/>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并联式结构</a:t>
            </a:r>
          </a:p>
        </p:txBody>
      </p:sp>
      <p:sp>
        <p:nvSpPr>
          <p:cNvPr id="22" name="矩形 21">
            <a:extLst>
              <a:ext uri="{FF2B5EF4-FFF2-40B4-BE49-F238E27FC236}">
                <a16:creationId xmlns:a16="http://schemas.microsoft.com/office/drawing/2014/main" id="{48C66DEE-DF0D-2F87-1DB9-159FD52E2EAC}"/>
              </a:ext>
            </a:extLst>
          </p:cNvPr>
          <p:cNvSpPr/>
          <p:nvPr/>
        </p:nvSpPr>
        <p:spPr>
          <a:xfrm>
            <a:off x="8160880"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 name="矩形 22">
            <a:extLst>
              <a:ext uri="{FF2B5EF4-FFF2-40B4-BE49-F238E27FC236}">
                <a16:creationId xmlns:a16="http://schemas.microsoft.com/office/drawing/2014/main" id="{C8B8D34E-0D60-F255-64A2-BDCAA3AE3A67}"/>
              </a:ext>
            </a:extLst>
          </p:cNvPr>
          <p:cNvSpPr/>
          <p:nvPr/>
        </p:nvSpPr>
        <p:spPr>
          <a:xfrm>
            <a:off x="8160877" y="1586059"/>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混合式结构</a:t>
            </a:r>
          </a:p>
        </p:txBody>
      </p:sp>
      <p:sp>
        <p:nvSpPr>
          <p:cNvPr id="34" name="文本框 33">
            <a:extLst>
              <a:ext uri="{FF2B5EF4-FFF2-40B4-BE49-F238E27FC236}">
                <a16:creationId xmlns:a16="http://schemas.microsoft.com/office/drawing/2014/main" id="{2D0609C8-324D-960E-1FE1-B22989A69C83}"/>
              </a:ext>
            </a:extLst>
          </p:cNvPr>
          <p:cNvSpPr txBox="1"/>
          <p:nvPr/>
        </p:nvSpPr>
        <p:spPr>
          <a:xfrm>
            <a:off x="480650" y="5118696"/>
            <a:ext cx="3275179"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串联结构仿照仿生腿足，具有关节累积误差小、</a:t>
            </a:r>
            <a:r>
              <a:rPr lang="zh-CN" altLang="zh-CN" sz="1800"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工作空间大</a:t>
            </a:r>
            <a:r>
              <a:rPr lang="zh-CN" altLang="zh-CN" sz="1800" kern="100" dirty="0">
                <a:effectLst/>
                <a:latin typeface="+mn-ea"/>
                <a:cs typeface="Times New Roman" panose="02020603050405020304" pitchFamily="18" charset="0"/>
              </a:rPr>
              <a:t>的优点，但其末端承载刚度较低，腿部惯量较大</a:t>
            </a:r>
            <a:endParaRPr lang="zh-CN" altLang="en-US" dirty="0">
              <a:latin typeface="+mn-ea"/>
            </a:endParaRPr>
          </a:p>
        </p:txBody>
      </p:sp>
      <p:pic>
        <p:nvPicPr>
          <p:cNvPr id="2052" name="Picture 4" descr="ANYbotics - 机器人行业导航 - 河马机器人">
            <a:extLst>
              <a:ext uri="{FF2B5EF4-FFF2-40B4-BE49-F238E27FC236}">
                <a16:creationId xmlns:a16="http://schemas.microsoft.com/office/drawing/2014/main" id="{EAF970F5-0D37-E61E-3FE4-78E4BC45A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781" y="2182508"/>
            <a:ext cx="2477434" cy="247743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imX Dynamics">
            <a:extLst>
              <a:ext uri="{FF2B5EF4-FFF2-40B4-BE49-F238E27FC236}">
                <a16:creationId xmlns:a16="http://schemas.microsoft.com/office/drawing/2014/main" id="{837AF060-A02A-5C08-E431-888978D42E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86829" y="2368904"/>
            <a:ext cx="2890885" cy="2775249"/>
          </a:xfrm>
          <a:prstGeom prst="rect">
            <a:avLst/>
          </a:prstGeom>
          <a:noFill/>
          <a:extLst>
            <a:ext uri="{909E8E84-426E-40DD-AFC4-6F175D3DCCD1}">
              <a14:hiddenFill xmlns:a14="http://schemas.microsoft.com/office/drawing/2010/main">
                <a:solidFill>
                  <a:srgbClr val="FFFFFF"/>
                </a:solidFill>
              </a14:hiddenFill>
            </a:ext>
          </a:extLst>
        </p:spPr>
      </p:pic>
      <p:pic>
        <p:nvPicPr>
          <p:cNvPr id="37" name="图片 36">
            <a:extLst>
              <a:ext uri="{FF2B5EF4-FFF2-40B4-BE49-F238E27FC236}">
                <a16:creationId xmlns:a16="http://schemas.microsoft.com/office/drawing/2014/main" id="{8C33B472-BAEE-E9F1-01C4-8BB53F15B1C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59941" y="2220497"/>
            <a:ext cx="1749468" cy="2152447"/>
          </a:xfrm>
          <a:prstGeom prst="rect">
            <a:avLst/>
          </a:prstGeom>
          <a:noFill/>
        </p:spPr>
      </p:pic>
      <p:pic>
        <p:nvPicPr>
          <p:cNvPr id="39" name="图片 38">
            <a:extLst>
              <a:ext uri="{FF2B5EF4-FFF2-40B4-BE49-F238E27FC236}">
                <a16:creationId xmlns:a16="http://schemas.microsoft.com/office/drawing/2014/main" id="{40BEBEEE-0898-CD2E-549A-BDE18E030B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21001" y="3332804"/>
            <a:ext cx="2430800" cy="1714981"/>
          </a:xfrm>
          <a:prstGeom prst="rect">
            <a:avLst/>
          </a:prstGeom>
        </p:spPr>
      </p:pic>
      <p:sp>
        <p:nvSpPr>
          <p:cNvPr id="41" name="文本框 40">
            <a:extLst>
              <a:ext uri="{FF2B5EF4-FFF2-40B4-BE49-F238E27FC236}">
                <a16:creationId xmlns:a16="http://schemas.microsoft.com/office/drawing/2014/main" id="{FEAF852F-21C0-B253-5B9B-B7BF53194375}"/>
              </a:ext>
            </a:extLst>
          </p:cNvPr>
          <p:cNvSpPr txBox="1"/>
          <p:nvPr/>
        </p:nvSpPr>
        <p:spPr>
          <a:xfrm>
            <a:off x="4279762" y="5125105"/>
            <a:ext cx="3439183"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并联结构则通过闭链运动链提供</a:t>
            </a:r>
            <a:r>
              <a:rPr lang="zh-CN" altLang="zh-CN" sz="1800"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更高的刚度和承载能力</a:t>
            </a:r>
            <a:r>
              <a:rPr lang="zh-CN" altLang="zh-CN" sz="1800" kern="100" dirty="0">
                <a:effectLst/>
                <a:latin typeface="+mn-ea"/>
                <a:cs typeface="Times New Roman" panose="02020603050405020304" pitchFamily="18" charset="0"/>
              </a:rPr>
              <a:t>，尤其适合爆发性跳跃，然而其工作空间相对受限</a:t>
            </a:r>
            <a:endParaRPr lang="zh-CN" altLang="en-US" dirty="0">
              <a:latin typeface="+mn-ea"/>
            </a:endParaRPr>
          </a:p>
        </p:txBody>
      </p:sp>
      <p:pic>
        <p:nvPicPr>
          <p:cNvPr id="42" name="图片 41">
            <a:extLst>
              <a:ext uri="{FF2B5EF4-FFF2-40B4-BE49-F238E27FC236}">
                <a16:creationId xmlns:a16="http://schemas.microsoft.com/office/drawing/2014/main" id="{45745506-9E3F-B893-67CF-17D9F9943659}"/>
              </a:ext>
            </a:extLst>
          </p:cNvPr>
          <p:cNvPicPr>
            <a:picLocks noChangeAspect="1"/>
          </p:cNvPicPr>
          <p:nvPr/>
        </p:nvPicPr>
        <p:blipFill rotWithShape="1">
          <a:blip r:embed="rId7">
            <a:extLst>
              <a:ext uri="{28A0092B-C50C-407E-A947-70E740481C1C}">
                <a14:useLocalDpi xmlns:a14="http://schemas.microsoft.com/office/drawing/2010/main" val="0"/>
              </a:ext>
            </a:extLst>
          </a:blip>
          <a:srcRect t="15768"/>
          <a:stretch>
            <a:fillRect/>
          </a:stretch>
        </p:blipFill>
        <p:spPr bwMode="auto">
          <a:xfrm>
            <a:off x="8246963" y="2220498"/>
            <a:ext cx="2326547" cy="1648880"/>
          </a:xfrm>
          <a:prstGeom prst="rect">
            <a:avLst/>
          </a:prstGeom>
          <a:noFill/>
          <a:ln>
            <a:noFill/>
          </a:ln>
          <a:extLst>
            <a:ext uri="{53640926-AAD7-44D8-BBD7-CCE9431645EC}">
              <a14:shadowObscured xmlns:a14="http://schemas.microsoft.com/office/drawing/2010/main"/>
            </a:ext>
          </a:extLst>
        </p:spPr>
      </p:pic>
      <p:pic>
        <p:nvPicPr>
          <p:cNvPr id="43" name="图片 42">
            <a:extLst>
              <a:ext uri="{FF2B5EF4-FFF2-40B4-BE49-F238E27FC236}">
                <a16:creationId xmlns:a16="http://schemas.microsoft.com/office/drawing/2014/main" id="{E1B48077-D3DA-90B8-7AF2-A72BE3F4E20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5373"/>
          <a:stretch>
            <a:fillRect/>
          </a:stretch>
        </p:blipFill>
        <p:spPr bwMode="auto">
          <a:xfrm>
            <a:off x="9521336" y="3453787"/>
            <a:ext cx="1902634" cy="1731855"/>
          </a:xfrm>
          <a:prstGeom prst="rect">
            <a:avLst/>
          </a:prstGeom>
          <a:noFill/>
          <a:ln>
            <a:noFill/>
          </a:ln>
          <a:extLst>
            <a:ext uri="{53640926-AAD7-44D8-BBD7-CCE9431645EC}">
              <a14:shadowObscured xmlns:a14="http://schemas.microsoft.com/office/drawing/2010/main"/>
            </a:ext>
          </a:extLst>
        </p:spPr>
      </p:pic>
      <p:sp>
        <p:nvSpPr>
          <p:cNvPr id="45" name="文本框 44">
            <a:extLst>
              <a:ext uri="{FF2B5EF4-FFF2-40B4-BE49-F238E27FC236}">
                <a16:creationId xmlns:a16="http://schemas.microsoft.com/office/drawing/2014/main" id="{B344CE64-B5AF-BE95-3A5E-375B809EF9C1}"/>
              </a:ext>
            </a:extLst>
          </p:cNvPr>
          <p:cNvSpPr txBox="1"/>
          <p:nvPr/>
        </p:nvSpPr>
        <p:spPr>
          <a:xfrm>
            <a:off x="8160875" y="5125105"/>
            <a:ext cx="3439183"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通过在串联主链中引入局部并联支链，旨在同时</a:t>
            </a:r>
            <a:r>
              <a:rPr lang="zh-CN" altLang="zh-CN" sz="1800"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兼顾运动灵活性与结构刚性</a:t>
            </a:r>
            <a:r>
              <a:rPr lang="zh-CN" altLang="en-US" sz="1800" kern="100" dirty="0">
                <a:effectLst/>
                <a:latin typeface="+mn-ea"/>
                <a:cs typeface="Times New Roman" panose="02020603050405020304" pitchFamily="18" charset="0"/>
              </a:rPr>
              <a:t>，</a:t>
            </a:r>
            <a:r>
              <a:rPr lang="zh-CN" altLang="zh-CN" dirty="0"/>
              <a:t>优化了负载分配与腿部惯量</a:t>
            </a:r>
            <a:endParaRPr lang="zh-CN" altLang="en-US" dirty="0">
              <a:latin typeface="+mn-ea"/>
            </a:endParaRPr>
          </a:p>
        </p:txBody>
      </p:sp>
    </p:spTree>
    <p:extLst>
      <p:ext uri="{BB962C8B-B14F-4D97-AF65-F5344CB8AC3E}">
        <p14:creationId xmlns:p14="http://schemas.microsoft.com/office/powerpoint/2010/main" val="2212017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E4BC2-59B4-6C44-4CBD-2A06E90950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850C337-DAB6-1154-1439-965A6459AC6B}"/>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国内外研究现状分析</a:t>
            </a:r>
          </a:p>
        </p:txBody>
      </p:sp>
      <p:sp>
        <p:nvSpPr>
          <p:cNvPr id="13" name="矩形 12">
            <a:extLst>
              <a:ext uri="{FF2B5EF4-FFF2-40B4-BE49-F238E27FC236}">
                <a16:creationId xmlns:a16="http://schemas.microsoft.com/office/drawing/2014/main" id="{4724E863-E54D-256A-CB81-36FB5E26BFDF}"/>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E583FE6C-572F-0ACE-1656-C894F01572B4}"/>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568735CB-5F28-F9C0-962D-0BDC504C2CCB}"/>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EBD5DE16-FEA6-F562-246D-91DE0898FD8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3" name="椭圆 2">
            <a:extLst>
              <a:ext uri="{FF2B5EF4-FFF2-40B4-BE49-F238E27FC236}">
                <a16:creationId xmlns:a16="http://schemas.microsoft.com/office/drawing/2014/main" id="{40CBCB36-F682-FA39-E080-83BA4E0DFCB3}"/>
              </a:ext>
            </a:extLst>
          </p:cNvPr>
          <p:cNvSpPr/>
          <p:nvPr/>
        </p:nvSpPr>
        <p:spPr>
          <a:xfrm>
            <a:off x="4528551" y="11964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graphicFrame>
        <p:nvGraphicFramePr>
          <p:cNvPr id="7" name="表格 6">
            <a:extLst>
              <a:ext uri="{FF2B5EF4-FFF2-40B4-BE49-F238E27FC236}">
                <a16:creationId xmlns:a16="http://schemas.microsoft.com/office/drawing/2014/main" id="{B20142A8-DC15-4AAC-828A-325E597A402F}"/>
              </a:ext>
            </a:extLst>
          </p:cNvPr>
          <p:cNvGraphicFramePr>
            <a:graphicFrameLocks noGrp="1"/>
          </p:cNvGraphicFramePr>
          <p:nvPr>
            <p:custDataLst>
              <p:tags r:id="rId1"/>
            </p:custDataLst>
            <p:extLst>
              <p:ext uri="{D42A27DB-BD31-4B8C-83A1-F6EECF244321}">
                <p14:modId xmlns:p14="http://schemas.microsoft.com/office/powerpoint/2010/main" val="3253502005"/>
              </p:ext>
            </p:extLst>
          </p:nvPr>
        </p:nvGraphicFramePr>
        <p:xfrm>
          <a:off x="5080802" y="1814322"/>
          <a:ext cx="6635412" cy="4363454"/>
        </p:xfrm>
        <a:graphic>
          <a:graphicData uri="http://schemas.openxmlformats.org/drawingml/2006/table">
            <a:tbl>
              <a:tblPr/>
              <a:tblGrid>
                <a:gridCol w="1126710">
                  <a:extLst>
                    <a:ext uri="{9D8B030D-6E8A-4147-A177-3AD203B41FA5}">
                      <a16:colId xmlns:a16="http://schemas.microsoft.com/office/drawing/2014/main" val="20000"/>
                    </a:ext>
                  </a:extLst>
                </a:gridCol>
                <a:gridCol w="1686723">
                  <a:extLst>
                    <a:ext uri="{9D8B030D-6E8A-4147-A177-3AD203B41FA5}">
                      <a16:colId xmlns:a16="http://schemas.microsoft.com/office/drawing/2014/main" val="20001"/>
                    </a:ext>
                  </a:extLst>
                </a:gridCol>
                <a:gridCol w="2210769">
                  <a:extLst>
                    <a:ext uri="{9D8B030D-6E8A-4147-A177-3AD203B41FA5}">
                      <a16:colId xmlns:a16="http://schemas.microsoft.com/office/drawing/2014/main" val="20002"/>
                    </a:ext>
                  </a:extLst>
                </a:gridCol>
                <a:gridCol w="1611210">
                  <a:extLst>
                    <a:ext uri="{9D8B030D-6E8A-4147-A177-3AD203B41FA5}">
                      <a16:colId xmlns:a16="http://schemas.microsoft.com/office/drawing/2014/main" val="20003"/>
                    </a:ext>
                  </a:extLst>
                </a:gridCol>
              </a:tblGrid>
              <a:tr h="885758">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mn-ea"/>
                          <a:sym typeface="Arial" panose="020B0604020202020204" pitchFamily="34" charset="0"/>
                        </a:rPr>
                        <a:t>控制方法</a:t>
                      </a:r>
                    </a:p>
                  </a:txBody>
                  <a:tcPr marL="48359" marR="48359" marT="48359" marB="48359" anchor="ctr">
                    <a:lnL w="12700" cap="flat" cmpd="sng" algn="ctr">
                      <a:solidFill>
                        <a:sysClr val="window" lastClr="FFFFFF"/>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rPr>
                        <a:t>全身控制</a:t>
                      </a:r>
                      <a:endParaRPr lang="en-US" altLang="zh-CN"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endParaRPr>
                    </a:p>
                    <a:p>
                      <a:pPr algn="ctr" fontAlgn="ctr"/>
                      <a:r>
                        <a:rPr lang="zh-CN" altLang="en-US"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rPr>
                        <a:t>（</a:t>
                      </a:r>
                      <a:r>
                        <a:rPr lang="en-US" altLang="zh-CN"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rPr>
                        <a:t>WBC)</a:t>
                      </a:r>
                      <a:endParaRPr lang="zh-CN" altLang="en-US"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模型预测控制（</a:t>
                      </a:r>
                      <a:r>
                        <a:rPr lang="en-US" altLang="zh-CN"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MPC</a:t>
                      </a: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a:t>
                      </a: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强化学习（</a:t>
                      </a:r>
                      <a:r>
                        <a:rPr lang="en-US" altLang="zh-CN"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RL</a:t>
                      </a: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a:t>
                      </a: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000"/>
                  </a:ext>
                </a:extLst>
              </a:tr>
              <a:tr h="3477696">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1" i="0" u="none" strike="noStrike" dirty="0">
                          <a:solidFill>
                            <a:schemeClr val="tx1"/>
                          </a:solidFill>
                          <a:latin typeface="黑体" panose="02010609060101010101" pitchFamily="49" charset="-122"/>
                          <a:ea typeface="黑体" panose="02010609060101010101" pitchFamily="49" charset="-122"/>
                          <a:sym typeface="Arial" panose="020B0604020202020204" pitchFamily="34" charset="0"/>
                        </a:rPr>
                        <a:t>特点</a:t>
                      </a:r>
                    </a:p>
                  </a:txBody>
                  <a:tcPr marL="48359" marR="48359" marT="48359" marB="48359" anchor="ctr">
                    <a:lnL w="12700" cap="flat" cmpd="sng" algn="ctr">
                      <a:solidFill>
                        <a:sysClr val="window" lastClr="FFFFFF"/>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0" i="0" kern="1200" dirty="0">
                          <a:solidFill>
                            <a:schemeClr val="tx1"/>
                          </a:solidFill>
                          <a:effectLst/>
                          <a:latin typeface="+mn-ea"/>
                          <a:ea typeface="+mn-ea"/>
                          <a:cs typeface="+mn-cs"/>
                        </a:rPr>
                        <a:t>基于优先级的分层控制框架，实现</a:t>
                      </a:r>
                      <a:r>
                        <a:rPr lang="zh-CN" altLang="en-US" sz="1800" b="0" i="0" kern="1200" dirty="0">
                          <a:solidFill>
                            <a:srgbClr val="002060"/>
                          </a:solidFill>
                          <a:effectLst/>
                          <a:latin typeface="思源黑体 CN Bold" panose="020B0800000000000000" pitchFamily="34" charset="-122"/>
                          <a:ea typeface="思源黑体 CN Bold" panose="020B0800000000000000" pitchFamily="34" charset="-122"/>
                          <a:cs typeface="+mn-cs"/>
                        </a:rPr>
                        <a:t>全身关节的协调运动</a:t>
                      </a:r>
                      <a:r>
                        <a:rPr lang="zh-CN" altLang="en-US" sz="1800" b="0" i="0" kern="1200" dirty="0">
                          <a:solidFill>
                            <a:schemeClr val="tx1"/>
                          </a:solidFill>
                          <a:effectLst/>
                          <a:latin typeface="+mn-ea"/>
                          <a:ea typeface="+mn-ea"/>
                          <a:cs typeface="+mn-cs"/>
                        </a:rPr>
                        <a:t>并显式处理各种物理约束，但其计算负载较高且严重依赖精确的动力学模型。</a:t>
                      </a:r>
                      <a:endParaRPr lang="en-US" altLang="zh-CN" sz="1800" b="0" i="0" u="none" strike="noStrike" dirty="0">
                        <a:solidFill>
                          <a:schemeClr val="tx1"/>
                        </a:solidFill>
                        <a:latin typeface="+mn-ea"/>
                        <a:ea typeface="+mn-ea"/>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0" i="0" kern="1200" dirty="0">
                          <a:solidFill>
                            <a:schemeClr val="tx1"/>
                          </a:solidFill>
                          <a:effectLst/>
                          <a:latin typeface="+mn-ea"/>
                          <a:ea typeface="+mn-ea"/>
                          <a:cs typeface="+mn-cs"/>
                        </a:rPr>
                        <a:t>基于模型的前馈控制策略，其核心在于利用一个预测模型来预估系统未来动态，并通过优化计算出一系列最优控制指令，非常</a:t>
                      </a:r>
                      <a:r>
                        <a:rPr lang="zh-CN" altLang="en-US" sz="1800" b="0" i="0" kern="1200" dirty="0">
                          <a:solidFill>
                            <a:srgbClr val="002060"/>
                          </a:solidFill>
                          <a:effectLst/>
                          <a:latin typeface="思源黑体 CN Bold" panose="020B0800000000000000" pitchFamily="34" charset="-122"/>
                          <a:ea typeface="思源黑体 CN Bold" panose="020B0800000000000000" pitchFamily="34" charset="-122"/>
                          <a:cs typeface="+mn-cs"/>
                        </a:rPr>
                        <a:t>适合于平衡与轨迹规划问题</a:t>
                      </a:r>
                      <a:r>
                        <a:rPr lang="zh-CN" altLang="en-US" sz="1800" b="0" i="0" kern="1200" dirty="0">
                          <a:solidFill>
                            <a:schemeClr val="tx1"/>
                          </a:solidFill>
                          <a:effectLst/>
                          <a:latin typeface="+mn-ea"/>
                          <a:ea typeface="+mn-ea"/>
                          <a:cs typeface="+mn-cs"/>
                        </a:rPr>
                        <a:t>，但其性能依赖于预测模型的准确性与计算效率的权衡。</a:t>
                      </a:r>
                      <a:endParaRPr lang="zh-CN" altLang="en-US" sz="1800" b="0" i="0" u="none" strike="noStrike" dirty="0">
                        <a:solidFill>
                          <a:schemeClr val="tx1"/>
                        </a:solidFill>
                        <a:latin typeface="+mn-ea"/>
                        <a:ea typeface="+mn-ea"/>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0" i="0" kern="1200" dirty="0">
                          <a:solidFill>
                            <a:schemeClr val="tx1"/>
                          </a:solidFill>
                          <a:effectLst/>
                          <a:latin typeface="+mn-ea"/>
                          <a:ea typeface="+mn-ea"/>
                          <a:cs typeface="+mn-cs"/>
                        </a:rPr>
                        <a:t>无模型的试错学习方法。</a:t>
                      </a:r>
                      <a:r>
                        <a:rPr lang="zh-CN" altLang="en-US" sz="1800" b="0" i="0" kern="1200" dirty="0">
                          <a:solidFill>
                            <a:schemeClr val="tx1"/>
                          </a:solidFill>
                          <a:effectLst/>
                          <a:latin typeface="Arial"/>
                          <a:ea typeface="思源黑体 CN Light"/>
                          <a:cs typeface="+mn-cs"/>
                        </a:rPr>
                        <a:t>最大的优势在于</a:t>
                      </a:r>
                      <a:r>
                        <a:rPr lang="zh-CN" altLang="en-US" sz="1800" b="0" i="0" kern="1200" dirty="0">
                          <a:solidFill>
                            <a:srgbClr val="002060"/>
                          </a:solidFill>
                          <a:effectLst/>
                          <a:latin typeface="思源黑体 CN Bold" panose="020B0800000000000000" pitchFamily="34" charset="-122"/>
                          <a:ea typeface="思源黑体 CN Bold" panose="020B0800000000000000" pitchFamily="34" charset="-122"/>
                          <a:cs typeface="+mn-cs"/>
                        </a:rPr>
                        <a:t>无需已知的机器人动力学模型</a:t>
                      </a:r>
                      <a:r>
                        <a:rPr lang="zh-CN" altLang="en-US" sz="1800" b="0" i="0" kern="1200" dirty="0">
                          <a:solidFill>
                            <a:schemeClr val="tx1"/>
                          </a:solidFill>
                          <a:effectLst/>
                          <a:latin typeface="Arial"/>
                          <a:ea typeface="思源黑体 CN Light"/>
                          <a:cs typeface="+mn-cs"/>
                        </a:rPr>
                        <a:t>即可端到端地学习复杂行为。</a:t>
                      </a:r>
                      <a:r>
                        <a:rPr lang="zh-CN" altLang="en-US" sz="1800" b="0" i="0" kern="1200" dirty="0">
                          <a:solidFill>
                            <a:schemeClr val="tx1"/>
                          </a:solidFill>
                          <a:effectLst/>
                          <a:latin typeface="+mn-ea"/>
                          <a:ea typeface="+mn-ea"/>
                          <a:cs typeface="+mn-cs"/>
                        </a:rPr>
                        <a:t>但其学习出的策略可解释性差并存在安全性挑战。</a:t>
                      </a:r>
                      <a:endParaRPr lang="en-US" altLang="zh-CN" sz="1800" b="0" i="0" u="none" strike="noStrike" dirty="0">
                        <a:solidFill>
                          <a:schemeClr val="tx1"/>
                        </a:solidFill>
                        <a:latin typeface="+mn-ea"/>
                        <a:ea typeface="+mn-ea"/>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extLst>
                  <a:ext uri="{0D108BD9-81ED-4DB2-BD59-A6C34878D82A}">
                    <a16:rowId xmlns:a16="http://schemas.microsoft.com/office/drawing/2014/main" val="10001"/>
                  </a:ext>
                </a:extLst>
              </a:tr>
            </a:tbl>
          </a:graphicData>
        </a:graphic>
      </p:graphicFrame>
      <p:sp>
        <p:nvSpPr>
          <p:cNvPr id="9" name="圆角矩形 7">
            <a:extLst>
              <a:ext uri="{FF2B5EF4-FFF2-40B4-BE49-F238E27FC236}">
                <a16:creationId xmlns:a16="http://schemas.microsoft.com/office/drawing/2014/main" id="{C18749D4-B426-7AB9-37AA-CE0FB368C176}"/>
              </a:ext>
            </a:extLst>
          </p:cNvPr>
          <p:cNvSpPr/>
          <p:nvPr/>
        </p:nvSpPr>
        <p:spPr>
          <a:xfrm>
            <a:off x="262166" y="2033882"/>
            <a:ext cx="4510556" cy="4143894"/>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EF2375F3-F0F2-C5C8-9651-45972B0D3C1A}"/>
              </a:ext>
            </a:extLst>
          </p:cNvPr>
          <p:cNvSpPr/>
          <p:nvPr/>
        </p:nvSpPr>
        <p:spPr>
          <a:xfrm>
            <a:off x="475786" y="1814322"/>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高级控制方法的局限</a:t>
            </a:r>
          </a:p>
        </p:txBody>
      </p:sp>
      <p:sp>
        <p:nvSpPr>
          <p:cNvPr id="11" name="文本框 10">
            <a:extLst>
              <a:ext uri="{FF2B5EF4-FFF2-40B4-BE49-F238E27FC236}">
                <a16:creationId xmlns:a16="http://schemas.microsoft.com/office/drawing/2014/main" id="{7659DC86-780A-B2C8-5904-89FAD7CFAC15}"/>
              </a:ext>
            </a:extLst>
          </p:cNvPr>
          <p:cNvSpPr txBox="1"/>
          <p:nvPr/>
        </p:nvSpPr>
        <p:spPr>
          <a:xfrm>
            <a:off x="475786" y="2303783"/>
            <a:ext cx="4292784" cy="3787960"/>
          </a:xfrm>
          <a:prstGeom prst="rect">
            <a:avLst/>
          </a:prstGeom>
          <a:noFill/>
        </p:spPr>
        <p:txBody>
          <a:bodyPr wrap="square" rtlCol="0">
            <a:spAutoFit/>
          </a:bodyPr>
          <a:lstStyle/>
          <a:p>
            <a:pPr latinLnBrk="1">
              <a:lnSpc>
                <a:spcPct val="150000"/>
              </a:lnSpc>
            </a:pPr>
            <a:r>
              <a:rPr lang="zh-CN" altLang="zh-CN" dirty="0">
                <a:latin typeface="Times New Roman" panose="02020603050405020304" pitchFamily="18" charset="0"/>
                <a:ea typeface="等线" panose="02010600030101010101" pitchFamily="2" charset="-122"/>
              </a:rPr>
              <a:t>在</a:t>
            </a:r>
            <a:r>
              <a:rPr lang="zh-CN" altLang="en-US" dirty="0">
                <a:latin typeface="Times New Roman" panose="02020603050405020304" pitchFamily="18" charset="0"/>
                <a:ea typeface="等线" panose="02010600030101010101" pitchFamily="2" charset="-122"/>
              </a:rPr>
              <a:t>尽管</a:t>
            </a:r>
            <a:r>
              <a:rPr lang="en-US" altLang="zh-CN" dirty="0">
                <a:latin typeface="Times New Roman" panose="02020603050405020304" pitchFamily="18" charset="0"/>
                <a:ea typeface="等线" panose="02010600030101010101" pitchFamily="2" charset="-122"/>
              </a:rPr>
              <a:t>WBC</a:t>
            </a:r>
            <a:r>
              <a:rPr lang="zh-CN" altLang="en-US" dirty="0">
                <a:latin typeface="Times New Roman" panose="02020603050405020304" pitchFamily="18" charset="0"/>
                <a:ea typeface="等线" panose="02010600030101010101" pitchFamily="2" charset="-122"/>
              </a:rPr>
              <a:t>、</a:t>
            </a:r>
            <a:r>
              <a:rPr lang="en-US" altLang="zh-CN" dirty="0">
                <a:latin typeface="Times New Roman" panose="02020603050405020304" pitchFamily="18" charset="0"/>
                <a:ea typeface="等线" panose="02010600030101010101" pitchFamily="2" charset="-122"/>
              </a:rPr>
              <a:t>MPC</a:t>
            </a:r>
            <a:r>
              <a:rPr lang="zh-CN" altLang="en-US" dirty="0">
                <a:latin typeface="Times New Roman" panose="02020603050405020304" pitchFamily="18" charset="0"/>
                <a:ea typeface="等线" panose="02010600030101010101" pitchFamily="2" charset="-122"/>
              </a:rPr>
              <a:t>和</a:t>
            </a:r>
            <a:r>
              <a:rPr lang="en-US" altLang="zh-CN" dirty="0">
                <a:latin typeface="Times New Roman" panose="02020603050405020304" pitchFamily="18" charset="0"/>
                <a:ea typeface="等线" panose="02010600030101010101" pitchFamily="2" charset="-122"/>
              </a:rPr>
              <a:t>RL</a:t>
            </a:r>
            <a:r>
              <a:rPr lang="zh-CN" altLang="en-US" dirty="0">
                <a:latin typeface="Times New Roman" panose="02020603050405020304" pitchFamily="18" charset="0"/>
                <a:ea typeface="等线" panose="02010600030101010101" pitchFamily="2" charset="-122"/>
              </a:rPr>
              <a:t>等高级控制方法在性能上各具优势，但它们普遍存在对高精度模型（</a:t>
            </a:r>
            <a:r>
              <a:rPr lang="en-US" altLang="zh-CN" dirty="0">
                <a:latin typeface="Times New Roman" panose="02020603050405020304" pitchFamily="18" charset="0"/>
                <a:ea typeface="等线" panose="02010600030101010101" pitchFamily="2" charset="-122"/>
                <a:cs typeface="Times New Roman" panose="02020603050405020304" pitchFamily="18" charset="0"/>
              </a:rPr>
              <a:t>WBC</a:t>
            </a:r>
            <a:r>
              <a:rPr lang="zh-CN" altLang="en-US" dirty="0">
                <a:latin typeface="Times New Roman" panose="02020603050405020304" pitchFamily="18" charset="0"/>
                <a:ea typeface="等线" panose="02010600030101010101" pitchFamily="2" charset="-122"/>
                <a:cs typeface="Times New Roman" panose="02020603050405020304" pitchFamily="18" charset="0"/>
              </a:rPr>
              <a:t>、</a:t>
            </a:r>
            <a:r>
              <a:rPr lang="en-US" altLang="zh-CN" dirty="0">
                <a:latin typeface="Times New Roman" panose="02020603050405020304" pitchFamily="18" charset="0"/>
                <a:ea typeface="等线" panose="02010600030101010101" pitchFamily="2" charset="-122"/>
                <a:cs typeface="Times New Roman" panose="02020603050405020304" pitchFamily="18" charset="0"/>
              </a:rPr>
              <a:t>MPC</a:t>
            </a:r>
            <a:r>
              <a:rPr lang="zh-CN" altLang="en-US" dirty="0">
                <a:latin typeface="Times New Roman" panose="02020603050405020304" pitchFamily="18" charset="0"/>
                <a:ea typeface="等线" panose="02010600030101010101" pitchFamily="2" charset="-122"/>
              </a:rPr>
              <a:t>）或海量训练数据（</a:t>
            </a:r>
            <a:r>
              <a:rPr lang="en-US" altLang="zh-CN" dirty="0">
                <a:latin typeface="Times New Roman" panose="02020603050405020304" pitchFamily="18" charset="0"/>
                <a:ea typeface="等线" panose="02010600030101010101" pitchFamily="2" charset="-122"/>
              </a:rPr>
              <a:t>RL</a:t>
            </a:r>
            <a:r>
              <a:rPr lang="zh-CN" altLang="en-US" dirty="0">
                <a:latin typeface="Times New Roman" panose="02020603050405020304" pitchFamily="18" charset="0"/>
                <a:ea typeface="等线" panose="02010600030101010101" pitchFamily="2" charset="-122"/>
              </a:rPr>
              <a:t>）的重度依赖，以及伴随而来的高计算复杂度问题，这在一定程度上限制了其在计算资源受限或模型不确定性高的场景下的应用。一种更具前景的控制思路是转向</a:t>
            </a:r>
            <a:r>
              <a:rPr lang="zh-CN" altLang="en-US" dirty="0">
                <a:solidFill>
                  <a:srgbClr val="002060"/>
                </a:solidFill>
                <a:latin typeface="思源黑体 CN Bold" panose="020B0800000000000000" pitchFamily="34" charset="-122"/>
                <a:ea typeface="思源黑体 CN Bold" panose="020B0800000000000000" pitchFamily="34" charset="-122"/>
              </a:rPr>
              <a:t>轻量级、基于物理直觉的混合控制方案</a:t>
            </a:r>
            <a:r>
              <a:rPr lang="zh-CN" altLang="en-US" dirty="0">
                <a:latin typeface="Times New Roman" panose="02020603050405020304" pitchFamily="18" charset="0"/>
                <a:ea typeface="等线" panose="02010600030101010101" pitchFamily="2" charset="-122"/>
              </a:rPr>
              <a:t>。</a:t>
            </a:r>
          </a:p>
        </p:txBody>
      </p:sp>
    </p:spTree>
    <p:extLst>
      <p:ext uri="{BB962C8B-B14F-4D97-AF65-F5344CB8AC3E}">
        <p14:creationId xmlns:p14="http://schemas.microsoft.com/office/powerpoint/2010/main" val="1266232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CC198-DEE1-D838-6965-C18C97639830}"/>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014778C1-FEA8-A769-533D-04EDEB16AFB1}"/>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30F932C6-E9BD-FF6D-FDD9-93F98FFC9E32}"/>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1ADECE65-DC3E-1528-C6AB-A0896C7CBAA3}"/>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BD5F6CA5-8CED-E317-C78E-777B894E8DF3}"/>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E0BC9E1C-DE21-1839-8F29-52AE8F1F3376}"/>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31B2BCBB-60E3-92C5-1BCC-7389D8573B53}"/>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F8A5E83C-1BD6-CBF9-6C22-8112AEA48748}"/>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FEDAE2FD-FC49-9012-0951-7DB48170891C}"/>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A92753DB-EBE5-5227-F7D9-AE59DA6FA302}"/>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165EE801-F206-03E7-9914-9DA5348FD43F}"/>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BFFC955E-AE15-6F99-3A1A-CF5AAFEFBFE3}"/>
              </a:ext>
            </a:extLst>
          </p:cNvPr>
          <p:cNvSpPr/>
          <p:nvPr/>
        </p:nvSpPr>
        <p:spPr>
          <a:xfrm flipV="1">
            <a:off x="3494596" y="3481677"/>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3AD8EA0B-05FB-8646-45AF-054AC2A1F75D}"/>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54A18456-5C89-0DC9-19E0-9B588CDBDBB0}"/>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9D18B27B-6523-494A-F737-9FB87448A87A}"/>
              </a:ext>
            </a:extLst>
          </p:cNvPr>
          <p:cNvSpPr/>
          <p:nvPr/>
        </p:nvSpPr>
        <p:spPr>
          <a:xfrm flipV="1">
            <a:off x="3889481" y="467933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A8EFEF4A-CC30-F50C-B9DF-A8676D1A170A}"/>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CA807B2A-EC51-EC1C-B4CF-E8C7D26E9D03}"/>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34E26E5-28B0-4F51-F079-4736261B4559}"/>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F7A61E97-87F9-6152-FE16-0529150B4D4B}"/>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F081BBB9-4095-212A-BCFA-B52F582ACC0A}"/>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3B2DC0E5-F5B4-2423-8B9C-EAD2609AC6FC}"/>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0D07F16D-1EDC-4E05-636E-F12C25622605}"/>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498071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B81A-4FCF-3D2B-F84E-EC704F6CD978}"/>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0AFC9D4-0FD4-DF36-3035-8B5DC7CC619B}"/>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研究内容及技术路线</a:t>
            </a:r>
          </a:p>
        </p:txBody>
      </p:sp>
      <p:sp>
        <p:nvSpPr>
          <p:cNvPr id="4" name="圆角矩形 7">
            <a:extLst>
              <a:ext uri="{FF2B5EF4-FFF2-40B4-BE49-F238E27FC236}">
                <a16:creationId xmlns:a16="http://schemas.microsoft.com/office/drawing/2014/main" id="{18BF4857-2E95-B30D-66C9-3C8EC17041E9}"/>
              </a:ext>
            </a:extLst>
          </p:cNvPr>
          <p:cNvSpPr/>
          <p:nvPr/>
        </p:nvSpPr>
        <p:spPr>
          <a:xfrm>
            <a:off x="629720" y="1461714"/>
            <a:ext cx="5027665" cy="5013427"/>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8">
            <a:extLst>
              <a:ext uri="{FF2B5EF4-FFF2-40B4-BE49-F238E27FC236}">
                <a16:creationId xmlns:a16="http://schemas.microsoft.com/office/drawing/2014/main" id="{8803728B-49D1-F5AF-F37C-B1162EF42B24}"/>
              </a:ext>
            </a:extLst>
          </p:cNvPr>
          <p:cNvSpPr/>
          <p:nvPr/>
        </p:nvSpPr>
        <p:spPr>
          <a:xfrm>
            <a:off x="847494" y="1129499"/>
            <a:ext cx="4586868"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20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双轮足机器人结构设计与运动控制研究</a:t>
            </a:r>
            <a:endParaRPr lang="en-US" altLang="zh-CN" sz="20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文本框 6">
            <a:extLst>
              <a:ext uri="{FF2B5EF4-FFF2-40B4-BE49-F238E27FC236}">
                <a16:creationId xmlns:a16="http://schemas.microsoft.com/office/drawing/2014/main" id="{B35C781D-80E7-7948-35FD-0881BDAB14AF}"/>
              </a:ext>
            </a:extLst>
          </p:cNvPr>
          <p:cNvSpPr txBox="1"/>
          <p:nvPr/>
        </p:nvSpPr>
        <p:spPr>
          <a:xfrm>
            <a:off x="847494" y="1746483"/>
            <a:ext cx="4586867" cy="4618957"/>
          </a:xfrm>
          <a:prstGeom prst="rect">
            <a:avLst/>
          </a:prstGeom>
          <a:noFill/>
        </p:spPr>
        <p:txBody>
          <a:bodyPr wrap="square" rtlCol="0">
            <a:spAutoFit/>
          </a:bodyPr>
          <a:lstStyle/>
          <a:p>
            <a:pPr latinLnBrk="1">
              <a:lnSpc>
                <a:spcPct val="150000"/>
              </a:lnSpc>
            </a:pPr>
            <a:r>
              <a:rPr lang="zh-CN" altLang="en-US" dirty="0">
                <a:solidFill>
                  <a:srgbClr val="002060"/>
                </a:solidFill>
                <a:latin typeface="思源黑体 CN Bold" panose="020B0800000000000000" pitchFamily="34" charset="-122"/>
                <a:ea typeface="思源黑体 CN Bold" panose="020B0800000000000000" pitchFamily="34" charset="-122"/>
              </a:rPr>
              <a:t>机械系统设计与验证</a:t>
            </a:r>
            <a:r>
              <a:rPr lang="zh-CN" altLang="en-US" dirty="0">
                <a:latin typeface="Times New Roman" panose="02020603050405020304" pitchFamily="18" charset="0"/>
                <a:ea typeface="等线" panose="02010600030101010101" pitchFamily="2" charset="-122"/>
              </a:rPr>
              <a:t>：针对双轮足机器人，完成基于混合式腿部构型的整体机械设计，并通过运动学仿真与强度校核确保结构的可行性。</a:t>
            </a:r>
          </a:p>
          <a:p>
            <a:pPr latinLnBrk="1">
              <a:lnSpc>
                <a:spcPct val="150000"/>
              </a:lnSpc>
            </a:pPr>
            <a:r>
              <a:rPr lang="zh-CN" altLang="en-US" dirty="0">
                <a:solidFill>
                  <a:srgbClr val="002060"/>
                </a:solidFill>
                <a:latin typeface="思源黑体 CN Bold" panose="020B0800000000000000" pitchFamily="34" charset="-122"/>
                <a:ea typeface="思源黑体 CN Bold" panose="020B0800000000000000" pitchFamily="34" charset="-122"/>
              </a:rPr>
              <a:t>轻量级控制器设计</a:t>
            </a:r>
            <a:r>
              <a:rPr lang="zh-CN" altLang="en-US" dirty="0">
                <a:latin typeface="Times New Roman" panose="02020603050405020304" pitchFamily="18" charset="0"/>
                <a:ea typeface="等线" panose="02010600030101010101" pitchFamily="2" charset="-122"/>
              </a:rPr>
              <a:t>：提出混合控制策略，核心在于结合</a:t>
            </a:r>
            <a:r>
              <a:rPr lang="en-US" altLang="zh-CN" dirty="0">
                <a:latin typeface="Times New Roman" panose="02020603050405020304" pitchFamily="18" charset="0"/>
                <a:ea typeface="等线" panose="02010600030101010101" pitchFamily="2" charset="-122"/>
              </a:rPr>
              <a:t>LQR</a:t>
            </a:r>
            <a:r>
              <a:rPr lang="zh-CN" altLang="en-US" dirty="0">
                <a:latin typeface="Times New Roman" panose="02020603050405020304" pitchFamily="18" charset="0"/>
                <a:ea typeface="等线" panose="02010600030101010101" pitchFamily="2" charset="-122"/>
              </a:rPr>
              <a:t>与</a:t>
            </a:r>
            <a:r>
              <a:rPr lang="en-US" altLang="zh-CN" dirty="0">
                <a:latin typeface="Times New Roman" panose="02020603050405020304" pitchFamily="18" charset="0"/>
                <a:ea typeface="等线" panose="02010600030101010101" pitchFamily="2" charset="-122"/>
              </a:rPr>
              <a:t>VMC</a:t>
            </a:r>
            <a:r>
              <a:rPr lang="zh-CN" altLang="en-US" dirty="0">
                <a:latin typeface="Times New Roman" panose="02020603050405020304" pitchFamily="18" charset="0"/>
                <a:ea typeface="等线" panose="02010600030101010101" pitchFamily="2" charset="-122"/>
              </a:rPr>
              <a:t>的直观鲁棒性，并引入轻量级</a:t>
            </a:r>
            <a:r>
              <a:rPr lang="en-US" altLang="zh-CN" dirty="0">
                <a:latin typeface="Times New Roman" panose="02020603050405020304" pitchFamily="18" charset="0"/>
                <a:ea typeface="等线" panose="02010600030101010101" pitchFamily="2" charset="-122"/>
              </a:rPr>
              <a:t>QP</a:t>
            </a:r>
            <a:r>
              <a:rPr lang="zh-CN" altLang="en-US" dirty="0">
                <a:latin typeface="Times New Roman" panose="02020603050405020304" pitchFamily="18" charset="0"/>
                <a:ea typeface="等线" panose="02010600030101010101" pitchFamily="2" charset="-122"/>
              </a:rPr>
              <a:t>优化进行实时决策，在保证性能的同时显著降低了计算负担。</a:t>
            </a:r>
          </a:p>
          <a:p>
            <a:pPr latinLnBrk="1">
              <a:lnSpc>
                <a:spcPct val="150000"/>
              </a:lnSpc>
            </a:pPr>
            <a:r>
              <a:rPr lang="zh-CN" altLang="en-US" dirty="0">
                <a:solidFill>
                  <a:srgbClr val="002060"/>
                </a:solidFill>
                <a:latin typeface="思源黑体 CN Bold" panose="020B0800000000000000" pitchFamily="34" charset="-122"/>
                <a:ea typeface="思源黑体 CN Bold" panose="020B0800000000000000" pitchFamily="34" charset="-122"/>
              </a:rPr>
              <a:t>全流程验证</a:t>
            </a:r>
            <a:r>
              <a:rPr lang="zh-CN" altLang="en-US" dirty="0">
                <a:latin typeface="Times New Roman" panose="02020603050405020304" pitchFamily="18" charset="0"/>
                <a:ea typeface="等线" panose="02010600030101010101" pitchFamily="2" charset="-122"/>
              </a:rPr>
              <a:t>：通过从仿真到实机的完整部署与测试，全面验证所提机械设计与控制方案的有效性与可靠性。</a:t>
            </a:r>
          </a:p>
        </p:txBody>
      </p:sp>
      <p:pic>
        <p:nvPicPr>
          <p:cNvPr id="13" name="图片 12">
            <a:extLst>
              <a:ext uri="{FF2B5EF4-FFF2-40B4-BE49-F238E27FC236}">
                <a16:creationId xmlns:a16="http://schemas.microsoft.com/office/drawing/2014/main" id="{2C947120-DAA0-06EF-3855-8DC50AC651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461714"/>
            <a:ext cx="5826187" cy="5069112"/>
          </a:xfrm>
          <a:prstGeom prst="rect">
            <a:avLst/>
          </a:prstGeom>
        </p:spPr>
      </p:pic>
    </p:spTree>
    <p:extLst>
      <p:ext uri="{BB962C8B-B14F-4D97-AF65-F5344CB8AC3E}">
        <p14:creationId xmlns:p14="http://schemas.microsoft.com/office/powerpoint/2010/main" val="617023696"/>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BCEDA-5B6C-AED7-FF37-3894F2EF8139}"/>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6E11FA7F-5B44-4916-B96C-6BC26ED5DECA}"/>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312136D1-C919-E36F-83E4-9B678686ECA6}"/>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C9C30ED9-397C-AE36-4A09-F8A730903020}"/>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C06A4617-5C55-001C-74C4-5306F07DECFD}"/>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4CD35D8B-3456-DC41-BBA0-BAF8B56E726D}"/>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799AA167-9724-D943-DB21-0C0CAB813F81}"/>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F7BEEB8C-4184-7270-387E-6BB304177A15}"/>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BE1DB1F7-F367-A8DB-35EE-8E5998398082}"/>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5AD3937F-D75F-7C6E-939B-81EE35B53340}"/>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9DE18DCA-62E7-8B4D-0496-9BF6AD810625}"/>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D8B79E1C-0DC9-754B-C274-1B4521C55F31}"/>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C5267D10-D4E9-C4C3-4867-DED6D251A9B1}"/>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2D2CD17B-5B24-7850-BEE8-4FF240E03D5F}"/>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5DF37111-6F3F-CFE0-5D7F-895DA325F285}"/>
              </a:ext>
            </a:extLst>
          </p:cNvPr>
          <p:cNvSpPr/>
          <p:nvPr/>
        </p:nvSpPr>
        <p:spPr>
          <a:xfrm flipV="1">
            <a:off x="3889481" y="46793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30C8B112-930E-EB95-DC65-D8D7103114B4}"/>
              </a:ext>
            </a:extLst>
          </p:cNvPr>
          <p:cNvSpPr/>
          <p:nvPr/>
        </p:nvSpPr>
        <p:spPr>
          <a:xfrm flipV="1">
            <a:off x="3473200" y="4644965"/>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718E8C54-C00D-B382-7425-931DBC028917}"/>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3DCA2DA1-08D1-B479-A16A-9E7E55F095DE}"/>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09EE1A95-ECFB-6339-FE06-29917826B518}"/>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2C7F31A7-CDFC-B066-18C9-813961DF990C}"/>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D9ADAEF4-D3F8-5B42-4A9D-D457658298A4}"/>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D858E9E1-38CC-3E87-C3F3-B21AC4C0AF20}"/>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212463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B81A-4FCF-3D2B-F84E-EC704F6CD978}"/>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0AFC9D4-0FD4-DF36-3035-8B5DC7CC619B}"/>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预期成果与关键创新点</a:t>
            </a:r>
          </a:p>
        </p:txBody>
      </p:sp>
      <p:sp>
        <p:nvSpPr>
          <p:cNvPr id="5" name="文本框 4">
            <a:extLst>
              <a:ext uri="{FF2B5EF4-FFF2-40B4-BE49-F238E27FC236}">
                <a16:creationId xmlns:a16="http://schemas.microsoft.com/office/drawing/2014/main" id="{B9BD4425-6BEE-B767-B32D-7712EAFB4628}"/>
              </a:ext>
            </a:extLst>
          </p:cNvPr>
          <p:cNvSpPr txBox="1"/>
          <p:nvPr/>
        </p:nvSpPr>
        <p:spPr>
          <a:xfrm>
            <a:off x="2356623" y="5692964"/>
            <a:ext cx="8987881" cy="646331"/>
          </a:xfrm>
          <a:prstGeom prst="rect">
            <a:avLst/>
          </a:prstGeom>
          <a:noFill/>
        </p:spPr>
        <p:txBody>
          <a:bodyPr wrap="square">
            <a:spAutoFit/>
          </a:bodyPr>
          <a:lstStyle/>
          <a:p>
            <a:pPr algn="l">
              <a:spcBef>
                <a:spcPts val="450"/>
              </a:spcBef>
              <a:spcAft>
                <a:spcPts val="1200"/>
              </a:spcAft>
            </a:pPr>
            <a:r>
              <a:rPr lang="zh-CN" altLang="en-US" i="0" dirty="0">
                <a:solidFill>
                  <a:srgbClr val="002060"/>
                </a:solidFill>
                <a:effectLst/>
                <a:latin typeface="思源黑体 CN Bold" panose="020B0800000000000000" pitchFamily="34" charset="-122"/>
                <a:ea typeface="思源黑体 CN Bold" panose="020B0800000000000000" pitchFamily="34" charset="-122"/>
              </a:rPr>
              <a:t>可复用的技术框架：</a:t>
            </a:r>
            <a:r>
              <a:rPr lang="zh-CN" altLang="en-US" i="0" dirty="0">
                <a:solidFill>
                  <a:srgbClr val="0F1115"/>
                </a:solidFill>
                <a:effectLst/>
                <a:latin typeface="+mn-ea"/>
              </a:rPr>
              <a:t>形成一套从机械设计、控制器设计到仿真</a:t>
            </a:r>
            <a:r>
              <a:rPr lang="en-US" altLang="zh-CN" i="0" dirty="0">
                <a:solidFill>
                  <a:srgbClr val="0F1115"/>
                </a:solidFill>
                <a:effectLst/>
                <a:latin typeface="+mn-ea"/>
              </a:rPr>
              <a:t>-</a:t>
            </a:r>
            <a:r>
              <a:rPr lang="zh-CN" altLang="en-US" i="0" dirty="0">
                <a:solidFill>
                  <a:srgbClr val="0F1115"/>
                </a:solidFill>
                <a:effectLst/>
                <a:latin typeface="+mn-ea"/>
              </a:rPr>
              <a:t>实物验证的完整技术流程与方法论，为后续高性能轮足机器人的研发提供可复用的技术基础与数据支撑。</a:t>
            </a:r>
          </a:p>
        </p:txBody>
      </p:sp>
      <p:sp>
        <p:nvSpPr>
          <p:cNvPr id="6" name="左大括号 5">
            <a:extLst>
              <a:ext uri="{FF2B5EF4-FFF2-40B4-BE49-F238E27FC236}">
                <a16:creationId xmlns:a16="http://schemas.microsoft.com/office/drawing/2014/main" id="{FE17F772-0F87-4288-B441-E4D446070FC8}"/>
              </a:ext>
            </a:extLst>
          </p:cNvPr>
          <p:cNvSpPr/>
          <p:nvPr/>
        </p:nvSpPr>
        <p:spPr>
          <a:xfrm>
            <a:off x="1085385" y="1424455"/>
            <a:ext cx="1167161" cy="4624039"/>
          </a:xfrm>
          <a:prstGeom prst="leftBrace">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hand-holding-up-a-magnifier_64881">
            <a:extLst>
              <a:ext uri="{FF2B5EF4-FFF2-40B4-BE49-F238E27FC236}">
                <a16:creationId xmlns:a16="http://schemas.microsoft.com/office/drawing/2014/main" id="{7AB31924-0CAE-8FCA-AB07-DC2D322E1E14}"/>
              </a:ext>
            </a:extLst>
          </p:cNvPr>
          <p:cNvSpPr/>
          <p:nvPr/>
        </p:nvSpPr>
        <p:spPr>
          <a:xfrm>
            <a:off x="1921398" y="2403745"/>
            <a:ext cx="309074" cy="369397"/>
          </a:xfrm>
          <a:custGeom>
            <a:avLst/>
            <a:gdLst>
              <a:gd name="connsiteX0" fmla="*/ 194012 w 508566"/>
              <a:gd name="connsiteY0" fmla="*/ 300108 h 607825"/>
              <a:gd name="connsiteX1" fmla="*/ 228316 w 508566"/>
              <a:gd name="connsiteY1" fmla="*/ 311773 h 607825"/>
              <a:gd name="connsiteX2" fmla="*/ 252125 w 508566"/>
              <a:gd name="connsiteY2" fmla="*/ 353055 h 607825"/>
              <a:gd name="connsiteX3" fmla="*/ 362273 w 508566"/>
              <a:gd name="connsiteY3" fmla="*/ 353181 h 607825"/>
              <a:gd name="connsiteX4" fmla="*/ 402623 w 508566"/>
              <a:gd name="connsiteY4" fmla="*/ 386206 h 607825"/>
              <a:gd name="connsiteX5" fmla="*/ 380067 w 508566"/>
              <a:gd name="connsiteY5" fmla="*/ 425987 h 607825"/>
              <a:gd name="connsiteX6" fmla="*/ 391220 w 508566"/>
              <a:gd name="connsiteY6" fmla="*/ 454134 h 607825"/>
              <a:gd name="connsiteX7" fmla="*/ 390092 w 508566"/>
              <a:gd name="connsiteY7" fmla="*/ 463766 h 607825"/>
              <a:gd name="connsiteX8" fmla="*/ 367160 w 508566"/>
              <a:gd name="connsiteY8" fmla="*/ 490787 h 607825"/>
              <a:gd name="connsiteX9" fmla="*/ 371672 w 508566"/>
              <a:gd name="connsiteY9" fmla="*/ 512179 h 607825"/>
              <a:gd name="connsiteX10" fmla="*/ 369165 w 508566"/>
              <a:gd name="connsiteY10" fmla="*/ 526565 h 607825"/>
              <a:gd name="connsiteX11" fmla="*/ 341346 w 508566"/>
              <a:gd name="connsiteY11" fmla="*/ 552210 h 607825"/>
              <a:gd name="connsiteX12" fmla="*/ 280821 w 508566"/>
              <a:gd name="connsiteY12" fmla="*/ 607503 h 607825"/>
              <a:gd name="connsiteX13" fmla="*/ 132202 w 508566"/>
              <a:gd name="connsiteY13" fmla="*/ 579481 h 607825"/>
              <a:gd name="connsiteX14" fmla="*/ 0 w 508566"/>
              <a:gd name="connsiteY14" fmla="*/ 544579 h 607825"/>
              <a:gd name="connsiteX15" fmla="*/ 0 w 508566"/>
              <a:gd name="connsiteY15" fmla="*/ 391710 h 607825"/>
              <a:gd name="connsiteX16" fmla="*/ 66414 w 508566"/>
              <a:gd name="connsiteY16" fmla="*/ 384205 h 607825"/>
              <a:gd name="connsiteX17" fmla="*/ 166663 w 508566"/>
              <a:gd name="connsiteY17" fmla="*/ 310397 h 607825"/>
              <a:gd name="connsiteX18" fmla="*/ 194012 w 508566"/>
              <a:gd name="connsiteY18" fmla="*/ 300108 h 607825"/>
              <a:gd name="connsiteX19" fmla="*/ 354486 w 508566"/>
              <a:gd name="connsiteY19" fmla="*/ 57536 h 607825"/>
              <a:gd name="connsiteX20" fmla="*/ 367011 w 508566"/>
              <a:gd name="connsiteY20" fmla="*/ 70048 h 607825"/>
              <a:gd name="connsiteX21" fmla="*/ 354486 w 508566"/>
              <a:gd name="connsiteY21" fmla="*/ 82560 h 607825"/>
              <a:gd name="connsiteX22" fmla="*/ 297872 w 508566"/>
              <a:gd name="connsiteY22" fmla="*/ 113964 h 607825"/>
              <a:gd name="connsiteX23" fmla="*/ 287226 w 508566"/>
              <a:gd name="connsiteY23" fmla="*/ 119845 h 607825"/>
              <a:gd name="connsiteX24" fmla="*/ 280588 w 508566"/>
              <a:gd name="connsiteY24" fmla="*/ 117843 h 607825"/>
              <a:gd name="connsiteX25" fmla="*/ 276580 w 508566"/>
              <a:gd name="connsiteY25" fmla="*/ 100702 h 607825"/>
              <a:gd name="connsiteX26" fmla="*/ 354486 w 508566"/>
              <a:gd name="connsiteY26" fmla="*/ 57536 h 607825"/>
              <a:gd name="connsiteX27" fmla="*/ 339403 w 508566"/>
              <a:gd name="connsiteY27" fmla="*/ 34283 h 607825"/>
              <a:gd name="connsiteX28" fmla="*/ 240839 w 508566"/>
              <a:gd name="connsiteY28" fmla="*/ 121708 h 607825"/>
              <a:gd name="connsiteX29" fmla="*/ 325538 w 508566"/>
              <a:gd name="connsiteY29" fmla="*/ 267340 h 607825"/>
              <a:gd name="connsiteX30" fmla="*/ 471381 w 508566"/>
              <a:gd name="connsiteY30" fmla="*/ 182763 h 607825"/>
              <a:gd name="connsiteX31" fmla="*/ 386682 w 508566"/>
              <a:gd name="connsiteY31" fmla="*/ 37131 h 607825"/>
              <a:gd name="connsiteX32" fmla="*/ 339403 w 508566"/>
              <a:gd name="connsiteY32" fmla="*/ 34283 h 607825"/>
              <a:gd name="connsiteX33" fmla="*/ 334796 w 508566"/>
              <a:gd name="connsiteY33" fmla="*/ 1513 h 607825"/>
              <a:gd name="connsiteX34" fmla="*/ 395202 w 508566"/>
              <a:gd name="connsiteY34" fmla="*/ 5102 h 607825"/>
              <a:gd name="connsiteX35" fmla="*/ 503457 w 508566"/>
              <a:gd name="connsiteY35" fmla="*/ 191271 h 607825"/>
              <a:gd name="connsiteX36" fmla="*/ 343330 w 508566"/>
              <a:gd name="connsiteY36" fmla="*/ 303873 h 607825"/>
              <a:gd name="connsiteX37" fmla="*/ 337065 w 508566"/>
              <a:gd name="connsiteY37" fmla="*/ 327519 h 607825"/>
              <a:gd name="connsiteX38" fmla="*/ 282061 w 508566"/>
              <a:gd name="connsiteY38" fmla="*/ 327519 h 607825"/>
              <a:gd name="connsiteX39" fmla="*/ 291959 w 508566"/>
              <a:gd name="connsiteY39" fmla="*/ 290360 h 607825"/>
              <a:gd name="connsiteX40" fmla="*/ 208763 w 508566"/>
              <a:gd name="connsiteY40" fmla="*/ 113200 h 607825"/>
              <a:gd name="connsiteX41" fmla="*/ 334796 w 508566"/>
              <a:gd name="connsiteY41" fmla="*/ 1513 h 60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8566" h="607825">
                <a:moveTo>
                  <a:pt x="194012" y="300108"/>
                </a:moveTo>
                <a:cubicBezTo>
                  <a:pt x="204319" y="299139"/>
                  <a:pt x="215785" y="301828"/>
                  <a:pt x="228316" y="311773"/>
                </a:cubicBezTo>
                <a:cubicBezTo>
                  <a:pt x="242351" y="322907"/>
                  <a:pt x="247238" y="342422"/>
                  <a:pt x="252125" y="353055"/>
                </a:cubicBezTo>
                <a:lnTo>
                  <a:pt x="362273" y="353181"/>
                </a:lnTo>
                <a:cubicBezTo>
                  <a:pt x="384328" y="352930"/>
                  <a:pt x="402373" y="360061"/>
                  <a:pt x="402623" y="386206"/>
                </a:cubicBezTo>
                <a:cubicBezTo>
                  <a:pt x="402999" y="412351"/>
                  <a:pt x="380067" y="425987"/>
                  <a:pt x="380067" y="425987"/>
                </a:cubicBezTo>
                <a:cubicBezTo>
                  <a:pt x="380067" y="425987"/>
                  <a:pt x="391471" y="431491"/>
                  <a:pt x="391220" y="454134"/>
                </a:cubicBezTo>
                <a:cubicBezTo>
                  <a:pt x="391220" y="457511"/>
                  <a:pt x="390844" y="460639"/>
                  <a:pt x="390092" y="463766"/>
                </a:cubicBezTo>
                <a:cubicBezTo>
                  <a:pt x="387335" y="474900"/>
                  <a:pt x="379566" y="484032"/>
                  <a:pt x="367160" y="490787"/>
                </a:cubicBezTo>
                <a:cubicBezTo>
                  <a:pt x="369291" y="496041"/>
                  <a:pt x="371672" y="503672"/>
                  <a:pt x="371672" y="512179"/>
                </a:cubicBezTo>
                <a:cubicBezTo>
                  <a:pt x="371672" y="517308"/>
                  <a:pt x="370794" y="522187"/>
                  <a:pt x="369165" y="526565"/>
                </a:cubicBezTo>
                <a:cubicBezTo>
                  <a:pt x="364905" y="537949"/>
                  <a:pt x="355507" y="546581"/>
                  <a:pt x="341346" y="552210"/>
                </a:cubicBezTo>
                <a:cubicBezTo>
                  <a:pt x="339968" y="560967"/>
                  <a:pt x="335331" y="605501"/>
                  <a:pt x="280821" y="607503"/>
                </a:cubicBezTo>
                <a:cubicBezTo>
                  <a:pt x="254506" y="608504"/>
                  <a:pt x="204131" y="609004"/>
                  <a:pt x="132202" y="579481"/>
                </a:cubicBezTo>
                <a:cubicBezTo>
                  <a:pt x="100374" y="566471"/>
                  <a:pt x="62279" y="544579"/>
                  <a:pt x="0" y="544579"/>
                </a:cubicBezTo>
                <a:lnTo>
                  <a:pt x="0" y="391710"/>
                </a:lnTo>
                <a:cubicBezTo>
                  <a:pt x="0" y="391710"/>
                  <a:pt x="36340" y="394337"/>
                  <a:pt x="66414" y="384205"/>
                </a:cubicBezTo>
                <a:cubicBezTo>
                  <a:pt x="90975" y="375948"/>
                  <a:pt x="131200" y="331664"/>
                  <a:pt x="166663" y="310397"/>
                </a:cubicBezTo>
                <a:cubicBezTo>
                  <a:pt x="174558" y="305706"/>
                  <a:pt x="183705" y="301078"/>
                  <a:pt x="194012" y="300108"/>
                </a:cubicBezTo>
                <a:close/>
                <a:moveTo>
                  <a:pt x="354486" y="57536"/>
                </a:moveTo>
                <a:cubicBezTo>
                  <a:pt x="361375" y="57536"/>
                  <a:pt x="367011" y="63166"/>
                  <a:pt x="367011" y="70048"/>
                </a:cubicBezTo>
                <a:cubicBezTo>
                  <a:pt x="367011" y="76929"/>
                  <a:pt x="361375" y="82560"/>
                  <a:pt x="354486" y="82560"/>
                </a:cubicBezTo>
                <a:cubicBezTo>
                  <a:pt x="331315" y="82560"/>
                  <a:pt x="310147" y="94321"/>
                  <a:pt x="297872" y="113964"/>
                </a:cubicBezTo>
                <a:cubicBezTo>
                  <a:pt x="295493" y="117718"/>
                  <a:pt x="291359" y="119845"/>
                  <a:pt x="287226" y="119845"/>
                </a:cubicBezTo>
                <a:cubicBezTo>
                  <a:pt x="284971" y="119845"/>
                  <a:pt x="282592" y="119219"/>
                  <a:pt x="280588" y="117843"/>
                </a:cubicBezTo>
                <a:cubicBezTo>
                  <a:pt x="274701" y="114215"/>
                  <a:pt x="272947" y="106457"/>
                  <a:pt x="276580" y="100702"/>
                </a:cubicBezTo>
                <a:cubicBezTo>
                  <a:pt x="293489" y="73676"/>
                  <a:pt x="322672" y="57536"/>
                  <a:pt x="354486" y="57536"/>
                </a:cubicBezTo>
                <a:close/>
                <a:moveTo>
                  <a:pt x="339403" y="34283"/>
                </a:moveTo>
                <a:cubicBezTo>
                  <a:pt x="293369" y="40799"/>
                  <a:pt x="253431" y="74040"/>
                  <a:pt x="240839" y="121708"/>
                </a:cubicBezTo>
                <a:cubicBezTo>
                  <a:pt x="223924" y="185140"/>
                  <a:pt x="262013" y="250449"/>
                  <a:pt x="325538" y="267340"/>
                </a:cubicBezTo>
                <a:cubicBezTo>
                  <a:pt x="389063" y="284105"/>
                  <a:pt x="454466" y="246195"/>
                  <a:pt x="471381" y="182763"/>
                </a:cubicBezTo>
                <a:cubicBezTo>
                  <a:pt x="488296" y="119206"/>
                  <a:pt x="450206" y="53897"/>
                  <a:pt x="386682" y="37131"/>
                </a:cubicBezTo>
                <a:cubicBezTo>
                  <a:pt x="370769" y="32909"/>
                  <a:pt x="354747" y="32111"/>
                  <a:pt x="339403" y="34283"/>
                </a:cubicBezTo>
                <a:close/>
                <a:moveTo>
                  <a:pt x="334796" y="1513"/>
                </a:moveTo>
                <a:cubicBezTo>
                  <a:pt x="354403" y="-1279"/>
                  <a:pt x="374873" y="-278"/>
                  <a:pt x="395202" y="5102"/>
                </a:cubicBezTo>
                <a:cubicBezTo>
                  <a:pt x="476393" y="26622"/>
                  <a:pt x="525007" y="110072"/>
                  <a:pt x="503457" y="191271"/>
                </a:cubicBezTo>
                <a:cubicBezTo>
                  <a:pt x="484161" y="263586"/>
                  <a:pt x="415500" y="310003"/>
                  <a:pt x="343330" y="303873"/>
                </a:cubicBezTo>
                <a:lnTo>
                  <a:pt x="337065" y="327519"/>
                </a:lnTo>
                <a:lnTo>
                  <a:pt x="282061" y="327519"/>
                </a:lnTo>
                <a:lnTo>
                  <a:pt x="291959" y="290360"/>
                </a:lnTo>
                <a:cubicBezTo>
                  <a:pt x="226179" y="259833"/>
                  <a:pt x="189468" y="185641"/>
                  <a:pt x="208763" y="113200"/>
                </a:cubicBezTo>
                <a:cubicBezTo>
                  <a:pt x="224926" y="52395"/>
                  <a:pt x="275976" y="9888"/>
                  <a:pt x="334796" y="1513"/>
                </a:cubicBezTo>
                <a:close/>
              </a:path>
            </a:pathLst>
          </a:cu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ea typeface="微软雅黑" panose="020B0503020204020204" pitchFamily="34" charset="-122"/>
              <a:cs typeface="+mn-cs"/>
            </a:endParaRPr>
          </a:p>
        </p:txBody>
      </p:sp>
      <p:sp>
        <p:nvSpPr>
          <p:cNvPr id="30" name="文本框 29">
            <a:extLst>
              <a:ext uri="{FF2B5EF4-FFF2-40B4-BE49-F238E27FC236}">
                <a16:creationId xmlns:a16="http://schemas.microsoft.com/office/drawing/2014/main" id="{E64E8D9A-3ED7-BF59-41DA-4739855EAAA0}"/>
              </a:ext>
            </a:extLst>
          </p:cNvPr>
          <p:cNvSpPr txBox="1"/>
          <p:nvPr/>
        </p:nvSpPr>
        <p:spPr>
          <a:xfrm>
            <a:off x="2356623" y="1165036"/>
            <a:ext cx="8987884" cy="923330"/>
          </a:xfrm>
          <a:prstGeom prst="rect">
            <a:avLst/>
          </a:prstGeom>
          <a:noFill/>
        </p:spPr>
        <p:txBody>
          <a:bodyPr wrap="square" rtlCol="0">
            <a:spAutoFit/>
          </a:bodyPr>
          <a:lstStyle/>
          <a:p>
            <a:r>
              <a:rPr lang="zh-CN" altLang="en-US" dirty="0">
                <a:solidFill>
                  <a:srgbClr val="002060"/>
                </a:solidFill>
                <a:latin typeface="思源黑体 CN Bold" panose="020B0800000000000000" pitchFamily="34" charset="-122"/>
                <a:ea typeface="思源黑体 CN Bold" panose="020B0800000000000000" pitchFamily="34" charset="-122"/>
              </a:rPr>
              <a:t>一台高性能双轮足机器人样机</a:t>
            </a:r>
            <a:r>
              <a:rPr lang="zh-CN" altLang="en-US" dirty="0">
                <a:solidFill>
                  <a:srgbClr val="0F1115"/>
                </a:solidFill>
                <a:latin typeface="+mn-ea"/>
              </a:rPr>
              <a:t>：完成基于混合式腿部构型的双轮足机器人整体设计与制造，获得一个功能完整、结构可靠的物理实验平台。</a:t>
            </a:r>
          </a:p>
          <a:p>
            <a:endParaRPr lang="zh-CN" altLang="en-US" dirty="0">
              <a:latin typeface="+mn-ea"/>
            </a:endParaRPr>
          </a:p>
        </p:txBody>
      </p:sp>
      <p:sp>
        <p:nvSpPr>
          <p:cNvPr id="35" name="文本框 34">
            <a:extLst>
              <a:ext uri="{FF2B5EF4-FFF2-40B4-BE49-F238E27FC236}">
                <a16:creationId xmlns:a16="http://schemas.microsoft.com/office/drawing/2014/main" id="{67715E42-C0D4-25AF-2575-BDEDC6CE2D13}"/>
              </a:ext>
            </a:extLst>
          </p:cNvPr>
          <p:cNvSpPr txBox="1"/>
          <p:nvPr/>
        </p:nvSpPr>
        <p:spPr>
          <a:xfrm>
            <a:off x="2356621" y="2505670"/>
            <a:ext cx="8987883" cy="923330"/>
          </a:xfrm>
          <a:prstGeom prst="rect">
            <a:avLst/>
          </a:prstGeom>
          <a:noFill/>
        </p:spPr>
        <p:txBody>
          <a:bodyPr wrap="square">
            <a:spAutoFit/>
          </a:bodyPr>
          <a:lstStyle/>
          <a:p>
            <a:pPr algn="l">
              <a:spcBef>
                <a:spcPts val="450"/>
              </a:spcBef>
              <a:spcAft>
                <a:spcPts val="1200"/>
              </a:spcAft>
            </a:pPr>
            <a:r>
              <a:rPr lang="zh-CN" altLang="en-US" i="0" dirty="0">
                <a:solidFill>
                  <a:srgbClr val="002060"/>
                </a:solidFill>
                <a:effectLst/>
                <a:latin typeface="思源黑体 CN Bold" panose="020B0800000000000000" pitchFamily="34" charset="-122"/>
                <a:ea typeface="思源黑体 CN Bold" panose="020B0800000000000000" pitchFamily="34" charset="-122"/>
              </a:rPr>
              <a:t>一套轻量级实时控制算法：</a:t>
            </a:r>
            <a:r>
              <a:rPr lang="zh-CN" altLang="en-US" i="0" dirty="0">
                <a:solidFill>
                  <a:srgbClr val="0F1115"/>
                </a:solidFill>
                <a:effectLst/>
                <a:latin typeface="+mn-ea"/>
              </a:rPr>
              <a:t>研发并实现一套融合</a:t>
            </a:r>
            <a:r>
              <a:rPr lang="en-US" altLang="zh-CN" i="0" dirty="0">
                <a:solidFill>
                  <a:srgbClr val="0F1115"/>
                </a:solidFill>
                <a:effectLst/>
                <a:latin typeface="+mn-ea"/>
              </a:rPr>
              <a:t>LQR</a:t>
            </a:r>
            <a:r>
              <a:rPr lang="zh-CN" altLang="en-US" i="0" dirty="0">
                <a:solidFill>
                  <a:srgbClr val="0F1115"/>
                </a:solidFill>
                <a:effectLst/>
                <a:latin typeface="+mn-ea"/>
              </a:rPr>
              <a:t>平衡控制、</a:t>
            </a:r>
            <a:r>
              <a:rPr lang="en-US" altLang="zh-CN" i="0" dirty="0">
                <a:solidFill>
                  <a:srgbClr val="0F1115"/>
                </a:solidFill>
                <a:effectLst/>
                <a:latin typeface="+mn-ea"/>
              </a:rPr>
              <a:t>VMC</a:t>
            </a:r>
            <a:r>
              <a:rPr lang="zh-CN" altLang="en-US" i="0" dirty="0">
                <a:solidFill>
                  <a:srgbClr val="0F1115"/>
                </a:solidFill>
                <a:effectLst/>
                <a:latin typeface="+mn-ea"/>
              </a:rPr>
              <a:t>物理直觉与轻量级</a:t>
            </a:r>
            <a:r>
              <a:rPr lang="en-US" altLang="zh-CN" i="0" dirty="0">
                <a:solidFill>
                  <a:srgbClr val="0F1115"/>
                </a:solidFill>
                <a:effectLst/>
                <a:latin typeface="+mn-ea"/>
              </a:rPr>
              <a:t>QP</a:t>
            </a:r>
            <a:r>
              <a:rPr lang="zh-CN" altLang="en-US" i="0" dirty="0">
                <a:solidFill>
                  <a:srgbClr val="0F1115"/>
                </a:solidFill>
                <a:effectLst/>
                <a:latin typeface="+mn-ea"/>
              </a:rPr>
              <a:t>优化的实时控制器，在保证动态性能的同时，将计算负载控制在嵌入式平台可承受范围内。</a:t>
            </a:r>
          </a:p>
        </p:txBody>
      </p:sp>
      <p:sp>
        <p:nvSpPr>
          <p:cNvPr id="38" name="文本框 37">
            <a:extLst>
              <a:ext uri="{FF2B5EF4-FFF2-40B4-BE49-F238E27FC236}">
                <a16:creationId xmlns:a16="http://schemas.microsoft.com/office/drawing/2014/main" id="{F5266887-BC99-99F4-C273-00DD5EA4E2FE}"/>
              </a:ext>
            </a:extLst>
          </p:cNvPr>
          <p:cNvSpPr txBox="1"/>
          <p:nvPr/>
        </p:nvSpPr>
        <p:spPr>
          <a:xfrm>
            <a:off x="2356624" y="3999128"/>
            <a:ext cx="8987882" cy="646331"/>
          </a:xfrm>
          <a:prstGeom prst="rect">
            <a:avLst/>
          </a:prstGeom>
          <a:noFill/>
        </p:spPr>
        <p:txBody>
          <a:bodyPr wrap="square">
            <a:spAutoFit/>
          </a:bodyPr>
          <a:lstStyle/>
          <a:p>
            <a:pPr algn="l">
              <a:spcBef>
                <a:spcPts val="450"/>
              </a:spcBef>
              <a:spcAft>
                <a:spcPts val="1200"/>
              </a:spcAft>
            </a:pPr>
            <a:r>
              <a:rPr lang="zh-CN" altLang="en-US" i="0" dirty="0">
                <a:solidFill>
                  <a:srgbClr val="002060"/>
                </a:solidFill>
                <a:effectLst/>
                <a:latin typeface="思源黑体 CN Bold" panose="020B0800000000000000" pitchFamily="34" charset="-122"/>
                <a:ea typeface="思源黑体 CN Bold" panose="020B0800000000000000" pitchFamily="34" charset="-122"/>
              </a:rPr>
              <a:t>全面的运动能力验证：</a:t>
            </a:r>
            <a:r>
              <a:rPr lang="zh-CN" altLang="en-US" i="0" dirty="0">
                <a:solidFill>
                  <a:srgbClr val="0F1115"/>
                </a:solidFill>
                <a:effectLst/>
                <a:latin typeface="+mn-ea"/>
              </a:rPr>
              <a:t>在仿真与实物平台上，系统验证机器人的静态平衡、动态行进、抗扰动恢复等核心运动能力，并初步挑战不平坦地形的通过性。</a:t>
            </a:r>
          </a:p>
        </p:txBody>
      </p:sp>
      <p:sp>
        <p:nvSpPr>
          <p:cNvPr id="39" name="椭圆 38">
            <a:extLst>
              <a:ext uri="{FF2B5EF4-FFF2-40B4-BE49-F238E27FC236}">
                <a16:creationId xmlns:a16="http://schemas.microsoft.com/office/drawing/2014/main" id="{BDB3E80A-BDAB-F7C5-6BB2-9144DDF03689}"/>
              </a:ext>
            </a:extLst>
          </p:cNvPr>
          <p:cNvSpPr/>
          <p:nvPr/>
        </p:nvSpPr>
        <p:spPr>
          <a:xfrm flipV="1">
            <a:off x="200782" y="3317096"/>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文本框 56">
            <a:extLst>
              <a:ext uri="{FF2B5EF4-FFF2-40B4-BE49-F238E27FC236}">
                <a16:creationId xmlns:a16="http://schemas.microsoft.com/office/drawing/2014/main" id="{FBC93A7D-788C-8EB2-A2D5-E7F41EF0B322}"/>
              </a:ext>
            </a:extLst>
          </p:cNvPr>
          <p:cNvSpPr txBox="1"/>
          <p:nvPr/>
        </p:nvSpPr>
        <p:spPr>
          <a:xfrm>
            <a:off x="200782" y="3382530"/>
            <a:ext cx="832564" cy="707886"/>
          </a:xfrm>
          <a:prstGeom prst="rect">
            <a:avLst/>
          </a:prstGeom>
          <a:noFill/>
        </p:spPr>
        <p:txBody>
          <a:bodyPr wrap="square">
            <a:spAutoFit/>
          </a:bodyPr>
          <a:lstStyle/>
          <a:p>
            <a:r>
              <a:rPr lang="zh-CN" altLang="en-US" sz="4000" dirty="0"/>
              <a:t>🤖</a:t>
            </a:r>
          </a:p>
        </p:txBody>
      </p:sp>
    </p:spTree>
    <p:extLst>
      <p:ext uri="{BB962C8B-B14F-4D97-AF65-F5344CB8AC3E}">
        <p14:creationId xmlns:p14="http://schemas.microsoft.com/office/powerpoint/2010/main" val="3466516015"/>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E3A49-1402-08A3-8A95-FF83CFA21380}"/>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8BA6E207-F071-A877-48EB-6D4CF97B5B08}"/>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14B69FC3-E140-E0BB-6517-0E8EC04B908B}"/>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826E471E-5131-6C89-B630-4D62794CB275}"/>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325C845D-F58D-49A6-460B-052F4D5A84F9}"/>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07B42DFF-81FB-771F-AD0B-146BFE6FE619}"/>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0A85AD4C-2036-1321-5B84-BFE108E32E9C}"/>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54BAF5B1-92C1-9E8A-1924-1A2A63B02538}"/>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B24F8EF7-BB8E-60F2-E60B-610915C89049}"/>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97BA2AEF-E2FB-83C7-A5CB-DBC576DC7232}"/>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71795885-5838-C1F7-6DFA-B655EE4FE24C}"/>
              </a:ext>
            </a:extLst>
          </p:cNvPr>
          <p:cNvSpPr/>
          <p:nvPr/>
        </p:nvSpPr>
        <p:spPr>
          <a:xfrm flipV="1">
            <a:off x="3910877" y="3516048"/>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E2056F6E-820D-E701-FF37-17C16CFF763C}"/>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35E23A7F-19EE-F7BA-C03A-DB2F1BBCC266}"/>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4B1C2A46-ABF5-4144-F3F1-0202A6A14921}"/>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863041CD-16F0-CA17-C1AB-0C01C28AB15E}"/>
              </a:ext>
            </a:extLst>
          </p:cNvPr>
          <p:cNvSpPr/>
          <p:nvPr/>
        </p:nvSpPr>
        <p:spPr>
          <a:xfrm flipV="1">
            <a:off x="3889481" y="467933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55EC225D-9F20-F146-0869-9BD25BFBC791}"/>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6F695B79-1683-F21A-6153-A09FEB205A19}"/>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3066E93-1AF1-6CC0-AB05-DCC8566E3334}"/>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FFF7D0C4-06BC-F0C5-020A-E4D752F434EC}"/>
              </a:ext>
            </a:extLst>
          </p:cNvPr>
          <p:cNvSpPr/>
          <p:nvPr/>
        </p:nvSpPr>
        <p:spPr>
          <a:xfrm flipV="1">
            <a:off x="3494597" y="5842624"/>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6CE2C8AE-E295-FE84-3B38-0307530F4D6F}"/>
              </a:ext>
            </a:extLst>
          </p:cNvPr>
          <p:cNvSpPr/>
          <p:nvPr/>
        </p:nvSpPr>
        <p:spPr>
          <a:xfrm flipV="1">
            <a:off x="3912427" y="587699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EAC9A180-09C7-DE32-C030-446500D0186E}"/>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0D011A27-FE7D-DD00-4A55-29D2C077A1D7}"/>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772987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E6F3C-A99B-E5DE-B4E3-86D92F0AE81C}"/>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7F7D1858-615F-0CD7-B367-414ED9401DC4}"/>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前期工作与进度安排</a:t>
            </a:r>
          </a:p>
        </p:txBody>
      </p:sp>
      <p:sp>
        <p:nvSpPr>
          <p:cNvPr id="14" name="内容占位符 2">
            <a:extLst>
              <a:ext uri="{FF2B5EF4-FFF2-40B4-BE49-F238E27FC236}">
                <a16:creationId xmlns:a16="http://schemas.microsoft.com/office/drawing/2014/main" id="{EB5D6422-04AD-AC6C-9A39-EB0A53FB6B02}"/>
              </a:ext>
            </a:extLst>
          </p:cNvPr>
          <p:cNvSpPr txBox="1">
            <a:spLocks/>
          </p:cNvSpPr>
          <p:nvPr/>
        </p:nvSpPr>
        <p:spPr>
          <a:xfrm>
            <a:off x="5534899" y="624791"/>
            <a:ext cx="3574312" cy="611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zh-CN"/>
          </a:p>
          <a:p>
            <a:endParaRPr kumimoji="1" lang="en" altLang="zh-CN"/>
          </a:p>
          <a:p>
            <a:pPr marL="0" indent="0">
              <a:buFont typeface="Arial" panose="020B0604020202020204" pitchFamily="34" charset="0"/>
              <a:buNone/>
            </a:pPr>
            <a:endParaRPr kumimoji="1" lang="en" altLang="zh-CN"/>
          </a:p>
          <a:p>
            <a:endParaRPr kumimoji="1" lang="en" altLang="zh-CN"/>
          </a:p>
          <a:p>
            <a:endParaRPr kumimoji="1" lang="zh-CN" altLang="en-US" dirty="0"/>
          </a:p>
        </p:txBody>
      </p:sp>
      <p:pic>
        <p:nvPicPr>
          <p:cNvPr id="9" name="图片 8">
            <a:extLst>
              <a:ext uri="{FF2B5EF4-FFF2-40B4-BE49-F238E27FC236}">
                <a16:creationId xmlns:a16="http://schemas.microsoft.com/office/drawing/2014/main" id="{3D9CC4B3-0029-9413-718D-7048FFA5AD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0537" y="1983489"/>
            <a:ext cx="4145973" cy="3434557"/>
          </a:xfrm>
          <a:prstGeom prst="rect">
            <a:avLst/>
          </a:prstGeom>
        </p:spPr>
      </p:pic>
      <p:sp>
        <p:nvSpPr>
          <p:cNvPr id="10" name="矩形 9">
            <a:extLst>
              <a:ext uri="{FF2B5EF4-FFF2-40B4-BE49-F238E27FC236}">
                <a16:creationId xmlns:a16="http://schemas.microsoft.com/office/drawing/2014/main" id="{02084E4B-3EF0-ED04-706A-4C35E943148F}"/>
              </a:ext>
            </a:extLst>
          </p:cNvPr>
          <p:cNvSpPr/>
          <p:nvPr/>
        </p:nvSpPr>
        <p:spPr>
          <a:xfrm>
            <a:off x="951099" y="1371489"/>
            <a:ext cx="4744851" cy="4775311"/>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 name="矩形 10">
            <a:extLst>
              <a:ext uri="{FF2B5EF4-FFF2-40B4-BE49-F238E27FC236}">
                <a16:creationId xmlns:a16="http://schemas.microsoft.com/office/drawing/2014/main" id="{1C00FEB6-882A-9EAD-FE91-EDFB9520F8A2}"/>
              </a:ext>
            </a:extLst>
          </p:cNvPr>
          <p:cNvSpPr/>
          <p:nvPr/>
        </p:nvSpPr>
        <p:spPr>
          <a:xfrm>
            <a:off x="951099" y="1235942"/>
            <a:ext cx="4744851"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腿部结构简图</a:t>
            </a:r>
          </a:p>
        </p:txBody>
      </p:sp>
      <p:sp>
        <p:nvSpPr>
          <p:cNvPr id="12" name="文本框 11">
            <a:extLst>
              <a:ext uri="{FF2B5EF4-FFF2-40B4-BE49-F238E27FC236}">
                <a16:creationId xmlns:a16="http://schemas.microsoft.com/office/drawing/2014/main" id="{675FD8E6-8BE3-B4E1-07D1-423F7931759C}"/>
              </a:ext>
            </a:extLst>
          </p:cNvPr>
          <p:cNvSpPr txBox="1"/>
          <p:nvPr/>
        </p:nvSpPr>
        <p:spPr>
          <a:xfrm>
            <a:off x="1090249" y="5622058"/>
            <a:ext cx="4605701" cy="369332"/>
          </a:xfrm>
          <a:prstGeom prst="rect">
            <a:avLst/>
          </a:prstGeom>
          <a:noFill/>
        </p:spPr>
        <p:txBody>
          <a:bodyPr wrap="square">
            <a:spAutoFit/>
          </a:bodyPr>
          <a:lstStyle/>
          <a:p>
            <a:r>
              <a:rPr lang="zh-CN" altLang="en-US" sz="1800" kern="100" dirty="0">
                <a:effectLst/>
                <a:latin typeface="+mn-ea"/>
                <a:cs typeface="Times New Roman" panose="02020603050405020304" pitchFamily="18" charset="0"/>
              </a:rPr>
              <a:t>根据混合式腿部结构初步绘制机械结构简图</a:t>
            </a:r>
            <a:endParaRPr lang="zh-CN" altLang="en-US" dirty="0">
              <a:latin typeface="+mn-ea"/>
            </a:endParaRPr>
          </a:p>
        </p:txBody>
      </p:sp>
      <p:sp>
        <p:nvSpPr>
          <p:cNvPr id="17" name="矩形 16">
            <a:extLst>
              <a:ext uri="{FF2B5EF4-FFF2-40B4-BE49-F238E27FC236}">
                <a16:creationId xmlns:a16="http://schemas.microsoft.com/office/drawing/2014/main" id="{B371E574-1D93-74CD-32EB-7676F0137D7E}"/>
              </a:ext>
            </a:extLst>
          </p:cNvPr>
          <p:cNvSpPr/>
          <p:nvPr/>
        </p:nvSpPr>
        <p:spPr>
          <a:xfrm>
            <a:off x="6356900" y="1371489"/>
            <a:ext cx="4744851" cy="4775311"/>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0" name="矩形 19">
            <a:extLst>
              <a:ext uri="{FF2B5EF4-FFF2-40B4-BE49-F238E27FC236}">
                <a16:creationId xmlns:a16="http://schemas.microsoft.com/office/drawing/2014/main" id="{8215B401-4D56-597F-CC79-5CF4C25918F7}"/>
              </a:ext>
            </a:extLst>
          </p:cNvPr>
          <p:cNvSpPr/>
          <p:nvPr/>
        </p:nvSpPr>
        <p:spPr>
          <a:xfrm>
            <a:off x="6356900" y="1235942"/>
            <a:ext cx="4744851"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连杆运动学逆解</a:t>
            </a:r>
          </a:p>
        </p:txBody>
      </p:sp>
      <p:sp>
        <p:nvSpPr>
          <p:cNvPr id="21" name="文本框 20">
            <a:extLst>
              <a:ext uri="{FF2B5EF4-FFF2-40B4-BE49-F238E27FC236}">
                <a16:creationId xmlns:a16="http://schemas.microsoft.com/office/drawing/2014/main" id="{AB97147B-C435-CFE6-732E-29AC146336BE}"/>
              </a:ext>
            </a:extLst>
          </p:cNvPr>
          <p:cNvSpPr txBox="1"/>
          <p:nvPr/>
        </p:nvSpPr>
        <p:spPr>
          <a:xfrm>
            <a:off x="6426473" y="5622058"/>
            <a:ext cx="4605701" cy="369332"/>
          </a:xfrm>
          <a:prstGeom prst="rect">
            <a:avLst/>
          </a:prstGeom>
          <a:noFill/>
        </p:spPr>
        <p:txBody>
          <a:bodyPr wrap="square">
            <a:spAutoFit/>
          </a:bodyPr>
          <a:lstStyle/>
          <a:p>
            <a:pPr algn="ctr"/>
            <a:r>
              <a:rPr lang="en-US" altLang="zh-CN" sz="1800" kern="100" dirty="0" err="1">
                <a:effectLst/>
                <a:latin typeface="+mn-ea"/>
                <a:cs typeface="Times New Roman" panose="02020603050405020304" pitchFamily="18" charset="0"/>
              </a:rPr>
              <a:t>Matlab</a:t>
            </a:r>
            <a:r>
              <a:rPr lang="zh-CN" altLang="en-US" sz="1800" kern="100" dirty="0">
                <a:effectLst/>
                <a:latin typeface="+mn-ea"/>
                <a:cs typeface="Times New Roman" panose="02020603050405020304" pitchFamily="18" charset="0"/>
              </a:rPr>
              <a:t>中对腿部连杆正逆运动学进行验证</a:t>
            </a:r>
            <a:endParaRPr lang="zh-CN" altLang="en-US" dirty="0">
              <a:latin typeface="+mn-ea"/>
            </a:endParaRPr>
          </a:p>
        </p:txBody>
      </p:sp>
      <p:pic>
        <p:nvPicPr>
          <p:cNvPr id="33" name="飞书20251013-162125">
            <a:hlinkClick r:id="" action="ppaction://media"/>
            <a:extLst>
              <a:ext uri="{FF2B5EF4-FFF2-40B4-BE49-F238E27FC236}">
                <a16:creationId xmlns:a16="http://schemas.microsoft.com/office/drawing/2014/main" id="{4AF00AFD-AF82-67C3-C1EC-0C1D6E3DBADB}"/>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670506" y="2027066"/>
            <a:ext cx="4117637" cy="3464156"/>
          </a:xfrm>
          <a:prstGeom prst="rect">
            <a:avLst/>
          </a:prstGeom>
        </p:spPr>
      </p:pic>
    </p:spTree>
    <p:extLst>
      <p:ext uri="{BB962C8B-B14F-4D97-AF65-F5344CB8AC3E}">
        <p14:creationId xmlns:p14="http://schemas.microsoft.com/office/powerpoint/2010/main" val="601413382"/>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454"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3"/>
                </p:tgtEl>
              </p:cMediaNode>
            </p:video>
            <p:seq concurrent="1" nextAc="seek">
              <p:cTn id="8" restart="whenNotActive" fill="hold" evtFilter="cancelBubble" nodeType="interactiveSeq">
                <p:stCondLst>
                  <p:cond evt="onClick" delay="0">
                    <p:tgtEl>
                      <p:spTgt spid="3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3"/>
                                        </p:tgtEl>
                                      </p:cBhvr>
                                    </p:cmd>
                                  </p:childTnLst>
                                </p:cTn>
                              </p:par>
                            </p:childTnLst>
                          </p:cTn>
                        </p:par>
                      </p:childTnLst>
                    </p:cTn>
                  </p:par>
                </p:childTnLst>
              </p:cTn>
              <p:nextCondLst>
                <p:cond evt="onClick" delay="0">
                  <p:tgtEl>
                    <p:spTgt spid="3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9462-BDBB-4F01-72AA-59AEEAE86507}"/>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52DA3ADB-200C-2BA8-A0A3-E9AE15C95274}"/>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前期工作与进度安排</a:t>
            </a:r>
          </a:p>
        </p:txBody>
      </p:sp>
      <p:sp>
        <p:nvSpPr>
          <p:cNvPr id="14" name="内容占位符 2">
            <a:extLst>
              <a:ext uri="{FF2B5EF4-FFF2-40B4-BE49-F238E27FC236}">
                <a16:creationId xmlns:a16="http://schemas.microsoft.com/office/drawing/2014/main" id="{1D51B79B-56C1-0A3B-A786-95F24C9D70BE}"/>
              </a:ext>
            </a:extLst>
          </p:cNvPr>
          <p:cNvSpPr txBox="1">
            <a:spLocks/>
          </p:cNvSpPr>
          <p:nvPr/>
        </p:nvSpPr>
        <p:spPr>
          <a:xfrm>
            <a:off x="5534899" y="624791"/>
            <a:ext cx="3574312" cy="611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zh-CN" dirty="0"/>
          </a:p>
          <a:p>
            <a:endParaRPr kumimoji="1" lang="en" altLang="zh-CN" dirty="0"/>
          </a:p>
          <a:p>
            <a:pPr marL="0" indent="0">
              <a:buFont typeface="Arial" panose="020B0604020202020204" pitchFamily="34" charset="0"/>
              <a:buNone/>
            </a:pPr>
            <a:endParaRPr kumimoji="1" lang="en" altLang="zh-CN" dirty="0"/>
          </a:p>
          <a:p>
            <a:endParaRPr kumimoji="1" lang="en" altLang="zh-CN" dirty="0"/>
          </a:p>
          <a:p>
            <a:endParaRPr kumimoji="1" lang="zh-CN" altLang="en-US" dirty="0"/>
          </a:p>
        </p:txBody>
      </p:sp>
      <p:cxnSp>
        <p:nvCxnSpPr>
          <p:cNvPr id="10" name="直接连接符 9">
            <a:extLst>
              <a:ext uri="{FF2B5EF4-FFF2-40B4-BE49-F238E27FC236}">
                <a16:creationId xmlns:a16="http://schemas.microsoft.com/office/drawing/2014/main" id="{BFB566AC-7FF7-3F6C-8DBC-47CE9FA392EC}"/>
              </a:ext>
            </a:extLst>
          </p:cNvPr>
          <p:cNvCxnSpPr/>
          <p:nvPr/>
        </p:nvCxnSpPr>
        <p:spPr>
          <a:xfrm>
            <a:off x="579794" y="2492549"/>
            <a:ext cx="9535973" cy="0"/>
          </a:xfrm>
          <a:prstGeom prst="line">
            <a:avLst/>
          </a:prstGeom>
          <a:ln w="28575">
            <a:solidFill>
              <a:schemeClr val="accent1"/>
            </a:solidFill>
            <a:headEnd type="diamond"/>
          </a:ln>
        </p:spPr>
        <p:style>
          <a:lnRef idx="1">
            <a:schemeClr val="accent1"/>
          </a:lnRef>
          <a:fillRef idx="0">
            <a:schemeClr val="accent1"/>
          </a:fillRef>
          <a:effectRef idx="0">
            <a:schemeClr val="accent1"/>
          </a:effectRef>
          <a:fontRef idx="minor">
            <a:schemeClr val="tx1"/>
          </a:fontRef>
        </p:style>
      </p:cxnSp>
      <p:sp>
        <p:nvSpPr>
          <p:cNvPr id="12" name="椭圆 24">
            <a:extLst>
              <a:ext uri="{FF2B5EF4-FFF2-40B4-BE49-F238E27FC236}">
                <a16:creationId xmlns:a16="http://schemas.microsoft.com/office/drawing/2014/main" id="{F998EABB-3E4A-997F-063A-36202DB0BD34}"/>
              </a:ext>
            </a:extLst>
          </p:cNvPr>
          <p:cNvSpPr/>
          <p:nvPr/>
        </p:nvSpPr>
        <p:spPr>
          <a:xfrm>
            <a:off x="10061792" y="2492548"/>
            <a:ext cx="1385748" cy="3128437"/>
          </a:xfrm>
          <a:custGeom>
            <a:avLst/>
            <a:gdLst>
              <a:gd name="connsiteX0" fmla="*/ 0 w 1943294"/>
              <a:gd name="connsiteY0" fmla="*/ 971647 h 1943294"/>
              <a:gd name="connsiteX1" fmla="*/ 971647 w 1943294"/>
              <a:gd name="connsiteY1" fmla="*/ 0 h 1943294"/>
              <a:gd name="connsiteX2" fmla="*/ 1943294 w 1943294"/>
              <a:gd name="connsiteY2" fmla="*/ 971647 h 1943294"/>
              <a:gd name="connsiteX3" fmla="*/ 971647 w 1943294"/>
              <a:gd name="connsiteY3" fmla="*/ 1943294 h 1943294"/>
              <a:gd name="connsiteX4" fmla="*/ 0 w 1943294"/>
              <a:gd name="connsiteY4" fmla="*/ 971647 h 1943294"/>
              <a:gd name="connsiteX0-1" fmla="*/ 0 w 1943294"/>
              <a:gd name="connsiteY0-2" fmla="*/ 971647 h 1943294"/>
              <a:gd name="connsiteX1-3" fmla="*/ 971647 w 1943294"/>
              <a:gd name="connsiteY1-4" fmla="*/ 0 h 1943294"/>
              <a:gd name="connsiteX2-5" fmla="*/ 1943294 w 1943294"/>
              <a:gd name="connsiteY2-6" fmla="*/ 971647 h 1943294"/>
              <a:gd name="connsiteX3-7" fmla="*/ 971647 w 1943294"/>
              <a:gd name="connsiteY3-8" fmla="*/ 1943294 h 1943294"/>
              <a:gd name="connsiteX4-9" fmla="*/ 91440 w 1943294"/>
              <a:gd name="connsiteY4-10" fmla="*/ 1063087 h 1943294"/>
              <a:gd name="connsiteX0-11" fmla="*/ 0 w 1943294"/>
              <a:gd name="connsiteY0-12" fmla="*/ 971647 h 1943294"/>
              <a:gd name="connsiteX1-13" fmla="*/ 971647 w 1943294"/>
              <a:gd name="connsiteY1-14" fmla="*/ 0 h 1943294"/>
              <a:gd name="connsiteX2-15" fmla="*/ 1943294 w 1943294"/>
              <a:gd name="connsiteY2-16" fmla="*/ 971647 h 1943294"/>
              <a:gd name="connsiteX3-17" fmla="*/ 971647 w 1943294"/>
              <a:gd name="connsiteY3-18" fmla="*/ 1943294 h 1943294"/>
              <a:gd name="connsiteX0-19" fmla="*/ 0 w 971647"/>
              <a:gd name="connsiteY0-20" fmla="*/ 0 h 1943294"/>
              <a:gd name="connsiteX1-21" fmla="*/ 971647 w 971647"/>
              <a:gd name="connsiteY1-22" fmla="*/ 971647 h 1943294"/>
              <a:gd name="connsiteX2-23" fmla="*/ 0 w 971647"/>
              <a:gd name="connsiteY2-24" fmla="*/ 1943294 h 1943294"/>
            </a:gdLst>
            <a:ahLst/>
            <a:cxnLst>
              <a:cxn ang="0">
                <a:pos x="connsiteX0-1" y="connsiteY0-2"/>
              </a:cxn>
              <a:cxn ang="0">
                <a:pos x="connsiteX1-3" y="connsiteY1-4"/>
              </a:cxn>
              <a:cxn ang="0">
                <a:pos x="connsiteX2-5" y="connsiteY2-6"/>
              </a:cxn>
            </a:cxnLst>
            <a:rect l="l" t="t" r="r" b="b"/>
            <a:pathLst>
              <a:path w="971647" h="1943294">
                <a:moveTo>
                  <a:pt x="0" y="0"/>
                </a:moveTo>
                <a:cubicBezTo>
                  <a:pt x="536626" y="0"/>
                  <a:pt x="971647" y="435021"/>
                  <a:pt x="971647" y="971647"/>
                </a:cubicBezTo>
                <a:cubicBezTo>
                  <a:pt x="971647" y="1508273"/>
                  <a:pt x="536626" y="1943294"/>
                  <a:pt x="0" y="1943294"/>
                </a:cubicBezTo>
              </a:path>
            </a:pathLst>
          </a:cu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13" name="直接连接符 12">
            <a:extLst>
              <a:ext uri="{FF2B5EF4-FFF2-40B4-BE49-F238E27FC236}">
                <a16:creationId xmlns:a16="http://schemas.microsoft.com/office/drawing/2014/main" id="{5153200C-A615-7600-BC99-0D891E2BC454}"/>
              </a:ext>
            </a:extLst>
          </p:cNvPr>
          <p:cNvCxnSpPr/>
          <p:nvPr/>
        </p:nvCxnSpPr>
        <p:spPr>
          <a:xfrm>
            <a:off x="5623509" y="5620985"/>
            <a:ext cx="4438283" cy="0"/>
          </a:xfrm>
          <a:prstGeom prst="line">
            <a:avLst/>
          </a:prstGeom>
          <a:ln w="28575">
            <a:solidFill>
              <a:schemeClr val="accent1"/>
            </a:solidFill>
            <a:headEnd type="stealth"/>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5356B182-AF2B-0A46-5C36-31FD91F236D0}"/>
              </a:ext>
            </a:extLst>
          </p:cNvPr>
          <p:cNvSpPr/>
          <p:nvPr/>
        </p:nvSpPr>
        <p:spPr>
          <a:xfrm flipH="1">
            <a:off x="6906753" y="5506879"/>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16" name="freeform3">
            <a:extLst>
              <a:ext uri="{FF2B5EF4-FFF2-40B4-BE49-F238E27FC236}">
                <a16:creationId xmlns:a16="http://schemas.microsoft.com/office/drawing/2014/main" id="{04D7CC36-1417-6176-42E4-6002DA1743DD}"/>
              </a:ext>
            </a:extLst>
          </p:cNvPr>
          <p:cNvSpPr/>
          <p:nvPr/>
        </p:nvSpPr>
        <p:spPr>
          <a:xfrm flipH="1">
            <a:off x="6967281" y="5567406"/>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7" name="椭圆 16">
            <a:extLst>
              <a:ext uri="{FF2B5EF4-FFF2-40B4-BE49-F238E27FC236}">
                <a16:creationId xmlns:a16="http://schemas.microsoft.com/office/drawing/2014/main" id="{1A1F951D-25E9-C383-C8D5-711DB984F280}"/>
              </a:ext>
            </a:extLst>
          </p:cNvPr>
          <p:cNvSpPr/>
          <p:nvPr/>
        </p:nvSpPr>
        <p:spPr>
          <a:xfrm>
            <a:off x="1271909" y="2383140"/>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n w="0"/>
              <a:solidFill>
                <a:schemeClr val="tx1"/>
              </a:solidFill>
              <a:effectLst>
                <a:outerShdw blurRad="38100" dist="19050" dir="2700000" algn="tl" rotWithShape="0">
                  <a:schemeClr val="dk1">
                    <a:alpha val="40000"/>
                  </a:schemeClr>
                </a:outerShdw>
              </a:effectLst>
              <a:ea typeface="微软雅黑" panose="020B0503020204020204" pitchFamily="34" charset="-122"/>
              <a:sym typeface="+mn-lt"/>
            </a:endParaRPr>
          </a:p>
        </p:txBody>
      </p:sp>
      <p:sp>
        <p:nvSpPr>
          <p:cNvPr id="18" name="freeform3">
            <a:extLst>
              <a:ext uri="{FF2B5EF4-FFF2-40B4-BE49-F238E27FC236}">
                <a16:creationId xmlns:a16="http://schemas.microsoft.com/office/drawing/2014/main" id="{93B88F72-7D14-5B6C-B6BD-767A7506E771}"/>
              </a:ext>
            </a:extLst>
          </p:cNvPr>
          <p:cNvSpPr/>
          <p:nvPr/>
        </p:nvSpPr>
        <p:spPr>
          <a:xfrm>
            <a:off x="1332436" y="2443667"/>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9" name="文本框 18">
            <a:extLst>
              <a:ext uri="{FF2B5EF4-FFF2-40B4-BE49-F238E27FC236}">
                <a16:creationId xmlns:a16="http://schemas.microsoft.com/office/drawing/2014/main" id="{C170D331-EF63-BBA2-29BF-B4162A98DC0D}"/>
              </a:ext>
            </a:extLst>
          </p:cNvPr>
          <p:cNvSpPr txBox="1"/>
          <p:nvPr/>
        </p:nvSpPr>
        <p:spPr>
          <a:xfrm>
            <a:off x="1180412" y="1957714"/>
            <a:ext cx="1698172" cy="338554"/>
          </a:xfrm>
          <a:prstGeom prst="rect">
            <a:avLst/>
          </a:prstGeom>
          <a:noFill/>
        </p:spPr>
        <p:txBody>
          <a:bodyPr wrap="square">
            <a:spAutoFit/>
          </a:bodyPr>
          <a:lstStyle/>
          <a:p>
            <a:pPr>
              <a:defRPr/>
            </a:pPr>
            <a:r>
              <a:rPr lang="en-US" altLang="zh-CN" sz="1600" kern="0" dirty="0">
                <a:solidFill>
                  <a:srgbClr val="002060"/>
                </a:solidFill>
                <a:latin typeface="思源黑体 CN Bold" panose="020B0800000000000000" pitchFamily="34" charset="-122"/>
                <a:ea typeface="思源黑体 CN Bold" panose="020B0800000000000000" pitchFamily="34" charset="-122"/>
              </a:rPr>
              <a:t>1</a:t>
            </a:r>
            <a:r>
              <a:rPr lang="zh-CN" altLang="en-US" sz="1600" kern="0" dirty="0">
                <a:solidFill>
                  <a:srgbClr val="002060"/>
                </a:solidFill>
                <a:latin typeface="思源黑体 CN Bold" panose="020B0800000000000000" pitchFamily="34" charset="-122"/>
                <a:ea typeface="思源黑体 CN Bold" panose="020B0800000000000000" pitchFamily="34" charset="-122"/>
              </a:rPr>
              <a:t>、准备阶段</a:t>
            </a:r>
          </a:p>
        </p:txBody>
      </p:sp>
      <p:grpSp>
        <p:nvGrpSpPr>
          <p:cNvPr id="20" name="组合 19">
            <a:extLst>
              <a:ext uri="{FF2B5EF4-FFF2-40B4-BE49-F238E27FC236}">
                <a16:creationId xmlns:a16="http://schemas.microsoft.com/office/drawing/2014/main" id="{BCE00340-69DB-AFEB-6D39-BE20F03496D1}"/>
              </a:ext>
            </a:extLst>
          </p:cNvPr>
          <p:cNvGrpSpPr/>
          <p:nvPr/>
        </p:nvGrpSpPr>
        <p:grpSpPr>
          <a:xfrm>
            <a:off x="1311038" y="2634147"/>
            <a:ext cx="2438402" cy="677619"/>
            <a:chOff x="1295397" y="2843081"/>
            <a:chExt cx="2438402" cy="677619"/>
          </a:xfrm>
        </p:grpSpPr>
        <p:sp>
          <p:nvSpPr>
            <p:cNvPr id="21" name="椭圆 20">
              <a:extLst>
                <a:ext uri="{FF2B5EF4-FFF2-40B4-BE49-F238E27FC236}">
                  <a16:creationId xmlns:a16="http://schemas.microsoft.com/office/drawing/2014/main" id="{70765CAB-16DE-2EA5-CADB-FC97B2FBE75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2" name="矩形 21">
              <a:extLst>
                <a:ext uri="{FF2B5EF4-FFF2-40B4-BE49-F238E27FC236}">
                  <a16:creationId xmlns:a16="http://schemas.microsoft.com/office/drawing/2014/main" id="{3D957664-3C96-72C1-1B74-1472CCE994E9}"/>
                </a:ext>
              </a:extLst>
            </p:cNvPr>
            <p:cNvSpPr/>
            <p:nvPr/>
          </p:nvSpPr>
          <p:spPr>
            <a:xfrm>
              <a:off x="1380293" y="2843081"/>
              <a:ext cx="2353506" cy="677619"/>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课题了解，查阅、收集相关研究资料（第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1-4</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23" name="组合 22">
            <a:extLst>
              <a:ext uri="{FF2B5EF4-FFF2-40B4-BE49-F238E27FC236}">
                <a16:creationId xmlns:a16="http://schemas.microsoft.com/office/drawing/2014/main" id="{AAFC8DAC-5192-B713-ADCA-69BBEFEFEA65}"/>
              </a:ext>
            </a:extLst>
          </p:cNvPr>
          <p:cNvGrpSpPr/>
          <p:nvPr/>
        </p:nvGrpSpPr>
        <p:grpSpPr>
          <a:xfrm>
            <a:off x="1311038" y="3328748"/>
            <a:ext cx="2438402" cy="1000657"/>
            <a:chOff x="1295397" y="2843081"/>
            <a:chExt cx="2438402" cy="1000657"/>
          </a:xfrm>
        </p:grpSpPr>
        <p:sp>
          <p:nvSpPr>
            <p:cNvPr id="24" name="椭圆 23">
              <a:extLst>
                <a:ext uri="{FF2B5EF4-FFF2-40B4-BE49-F238E27FC236}">
                  <a16:creationId xmlns:a16="http://schemas.microsoft.com/office/drawing/2014/main" id="{E2EA1668-42AF-E158-221A-67A13BE841E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a typeface="微软雅黑" panose="020B0503020204020204" pitchFamily="34" charset="-122"/>
              </a:endParaRPr>
            </a:p>
          </p:txBody>
        </p:sp>
        <p:sp>
          <p:nvSpPr>
            <p:cNvPr id="25" name="矩形 24">
              <a:extLst>
                <a:ext uri="{FF2B5EF4-FFF2-40B4-BE49-F238E27FC236}">
                  <a16:creationId xmlns:a16="http://schemas.microsoft.com/office/drawing/2014/main" id="{79E5F6F2-CB78-268D-9E94-E088EE62D4D5}"/>
                </a:ext>
              </a:extLst>
            </p:cNvPr>
            <p:cNvSpPr/>
            <p:nvPr/>
          </p:nvSpPr>
          <p:spPr>
            <a:xfrm>
              <a:off x="1380293" y="2843081"/>
              <a:ext cx="2353506" cy="1000657"/>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学习</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LQR</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VMC</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方法的相关知识、绘制机械图纸（第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5-8</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26" name="组合 25">
            <a:extLst>
              <a:ext uri="{FF2B5EF4-FFF2-40B4-BE49-F238E27FC236}">
                <a16:creationId xmlns:a16="http://schemas.microsoft.com/office/drawing/2014/main" id="{816D7F70-7804-11EE-2627-BF0A8A6C4902}"/>
              </a:ext>
            </a:extLst>
          </p:cNvPr>
          <p:cNvGrpSpPr/>
          <p:nvPr/>
        </p:nvGrpSpPr>
        <p:grpSpPr>
          <a:xfrm>
            <a:off x="6757755" y="5050985"/>
            <a:ext cx="2569028" cy="1354052"/>
            <a:chOff x="1164771" y="2166648"/>
            <a:chExt cx="2569028" cy="1354052"/>
          </a:xfrm>
        </p:grpSpPr>
        <p:sp>
          <p:nvSpPr>
            <p:cNvPr id="27" name="文本框 26">
              <a:extLst>
                <a:ext uri="{FF2B5EF4-FFF2-40B4-BE49-F238E27FC236}">
                  <a16:creationId xmlns:a16="http://schemas.microsoft.com/office/drawing/2014/main" id="{3A533DB9-E158-99CA-07BB-8BC1039D52DE}"/>
                </a:ext>
              </a:extLst>
            </p:cNvPr>
            <p:cNvSpPr txBox="1"/>
            <p:nvPr/>
          </p:nvSpPr>
          <p:spPr>
            <a:xfrm>
              <a:off x="1164771" y="2166648"/>
              <a:ext cx="1698172" cy="338554"/>
            </a:xfrm>
            <a:prstGeom prst="rect">
              <a:avLst/>
            </a:prstGeom>
            <a:noFill/>
          </p:spPr>
          <p:txBody>
            <a:bodyPr wrap="square">
              <a:spAutoFit/>
            </a:bodyPr>
            <a:lstStyle/>
            <a:p>
              <a:pPr>
                <a:defRPr/>
              </a:pPr>
              <a:r>
                <a:rPr lang="en-US" altLang="zh-CN" sz="1600" kern="0" dirty="0">
                  <a:solidFill>
                    <a:srgbClr val="002060"/>
                  </a:solidFill>
                  <a:latin typeface="思源黑体 CN Bold" panose="020B0800000000000000" pitchFamily="34" charset="-122"/>
                  <a:ea typeface="思源黑体 CN Bold" panose="020B0800000000000000" pitchFamily="34" charset="-122"/>
                </a:rPr>
                <a:t>4</a:t>
              </a:r>
              <a:r>
                <a:rPr lang="zh-CN" altLang="en-US" sz="1600" kern="0" dirty="0">
                  <a:solidFill>
                    <a:srgbClr val="002060"/>
                  </a:solidFill>
                  <a:latin typeface="思源黑体 CN Bold" panose="020B0800000000000000" pitchFamily="34" charset="-122"/>
                  <a:ea typeface="思源黑体 CN Bold" panose="020B0800000000000000" pitchFamily="34" charset="-122"/>
                </a:rPr>
                <a:t>、准备阶段</a:t>
              </a:r>
            </a:p>
          </p:txBody>
        </p:sp>
        <p:grpSp>
          <p:nvGrpSpPr>
            <p:cNvPr id="28" name="组合 27">
              <a:extLst>
                <a:ext uri="{FF2B5EF4-FFF2-40B4-BE49-F238E27FC236}">
                  <a16:creationId xmlns:a16="http://schemas.microsoft.com/office/drawing/2014/main" id="{A0B9B51B-7B22-4819-9F03-F44C0CB7D500}"/>
                </a:ext>
              </a:extLst>
            </p:cNvPr>
            <p:cNvGrpSpPr/>
            <p:nvPr/>
          </p:nvGrpSpPr>
          <p:grpSpPr>
            <a:xfrm>
              <a:off x="1295397" y="2843081"/>
              <a:ext cx="2438402" cy="677619"/>
              <a:chOff x="1295397" y="2843081"/>
              <a:chExt cx="2438402" cy="677619"/>
            </a:xfrm>
          </p:grpSpPr>
          <p:sp>
            <p:nvSpPr>
              <p:cNvPr id="29" name="椭圆 28">
                <a:extLst>
                  <a:ext uri="{FF2B5EF4-FFF2-40B4-BE49-F238E27FC236}">
                    <a16:creationId xmlns:a16="http://schemas.microsoft.com/office/drawing/2014/main" id="{96BFF12F-D004-89DD-078A-8CAA387F9E61}"/>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0" name="矩形 29">
                <a:extLst>
                  <a:ext uri="{FF2B5EF4-FFF2-40B4-BE49-F238E27FC236}">
                    <a16:creationId xmlns:a16="http://schemas.microsoft.com/office/drawing/2014/main" id="{2A3AFF19-55C2-D6D0-58DF-8FDB0F03DFDC}"/>
                  </a:ext>
                </a:extLst>
              </p:cNvPr>
              <p:cNvSpPr/>
              <p:nvPr/>
            </p:nvSpPr>
            <p:spPr>
              <a:xfrm>
                <a:off x="1380293" y="2843081"/>
                <a:ext cx="2353506" cy="677619"/>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撰写论文、准备答辩（第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29-32</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sp>
        <p:nvSpPr>
          <p:cNvPr id="36" name="椭圆 35">
            <a:extLst>
              <a:ext uri="{FF2B5EF4-FFF2-40B4-BE49-F238E27FC236}">
                <a16:creationId xmlns:a16="http://schemas.microsoft.com/office/drawing/2014/main" id="{0A0E18C5-DF85-AB8E-0870-C690FAF1688B}"/>
              </a:ext>
            </a:extLst>
          </p:cNvPr>
          <p:cNvSpPr/>
          <p:nvPr/>
        </p:nvSpPr>
        <p:spPr>
          <a:xfrm>
            <a:off x="5511102" y="2368411"/>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37" name="freeform3">
            <a:extLst>
              <a:ext uri="{FF2B5EF4-FFF2-40B4-BE49-F238E27FC236}">
                <a16:creationId xmlns:a16="http://schemas.microsoft.com/office/drawing/2014/main" id="{588546FF-19D4-9D00-EB2E-1E6913B045F0}"/>
              </a:ext>
            </a:extLst>
          </p:cNvPr>
          <p:cNvSpPr/>
          <p:nvPr/>
        </p:nvSpPr>
        <p:spPr>
          <a:xfrm>
            <a:off x="5571629" y="2428938"/>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38" name="文本框 37">
            <a:extLst>
              <a:ext uri="{FF2B5EF4-FFF2-40B4-BE49-F238E27FC236}">
                <a16:creationId xmlns:a16="http://schemas.microsoft.com/office/drawing/2014/main" id="{7F4A186C-6261-388B-797B-6BC9AA664B69}"/>
              </a:ext>
            </a:extLst>
          </p:cNvPr>
          <p:cNvSpPr txBox="1"/>
          <p:nvPr/>
        </p:nvSpPr>
        <p:spPr>
          <a:xfrm>
            <a:off x="5419605" y="1942985"/>
            <a:ext cx="1698172" cy="338554"/>
          </a:xfrm>
          <a:prstGeom prst="rect">
            <a:avLst/>
          </a:prstGeom>
          <a:noFill/>
        </p:spPr>
        <p:txBody>
          <a:bodyPr wrap="square">
            <a:spAutoFit/>
          </a:bodyPr>
          <a:lstStyle/>
          <a:p>
            <a:pPr>
              <a:defRPr/>
            </a:pPr>
            <a:r>
              <a:rPr lang="en-US" altLang="zh-CN" sz="1600" kern="0" dirty="0">
                <a:solidFill>
                  <a:srgbClr val="002060"/>
                </a:solidFill>
                <a:latin typeface="思源黑体 CN Bold" panose="020B0800000000000000" pitchFamily="34" charset="-122"/>
                <a:ea typeface="思源黑体 CN Bold" panose="020B0800000000000000" pitchFamily="34" charset="-122"/>
              </a:rPr>
              <a:t>2</a:t>
            </a:r>
            <a:r>
              <a:rPr lang="zh-CN" altLang="en-US" sz="1600" kern="0" dirty="0">
                <a:solidFill>
                  <a:srgbClr val="002060"/>
                </a:solidFill>
                <a:latin typeface="思源黑体 CN Bold" panose="020B0800000000000000" pitchFamily="34" charset="-122"/>
                <a:ea typeface="思源黑体 CN Bold" panose="020B0800000000000000" pitchFamily="34" charset="-122"/>
              </a:rPr>
              <a:t>、实施阶段</a:t>
            </a:r>
          </a:p>
        </p:txBody>
      </p:sp>
      <p:grpSp>
        <p:nvGrpSpPr>
          <p:cNvPr id="39" name="组合 38">
            <a:extLst>
              <a:ext uri="{FF2B5EF4-FFF2-40B4-BE49-F238E27FC236}">
                <a16:creationId xmlns:a16="http://schemas.microsoft.com/office/drawing/2014/main" id="{71BE6A87-CB68-3BA7-FD26-BDFA24957353}"/>
              </a:ext>
            </a:extLst>
          </p:cNvPr>
          <p:cNvGrpSpPr/>
          <p:nvPr/>
        </p:nvGrpSpPr>
        <p:grpSpPr>
          <a:xfrm>
            <a:off x="5550231" y="2619418"/>
            <a:ext cx="2394361" cy="677491"/>
            <a:chOff x="1295397" y="2843081"/>
            <a:chExt cx="2394361" cy="677491"/>
          </a:xfrm>
        </p:grpSpPr>
        <p:sp>
          <p:nvSpPr>
            <p:cNvPr id="40" name="椭圆 39">
              <a:extLst>
                <a:ext uri="{FF2B5EF4-FFF2-40B4-BE49-F238E27FC236}">
                  <a16:creationId xmlns:a16="http://schemas.microsoft.com/office/drawing/2014/main" id="{72162E78-026D-A6E2-6231-111B03A3C050}"/>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1" name="矩形 40">
              <a:extLst>
                <a:ext uri="{FF2B5EF4-FFF2-40B4-BE49-F238E27FC236}">
                  <a16:creationId xmlns:a16="http://schemas.microsoft.com/office/drawing/2014/main" id="{A8A73479-F911-B9C9-1CC7-67A1E5E36DA4}"/>
                </a:ext>
              </a:extLst>
            </p:cNvPr>
            <p:cNvSpPr/>
            <p:nvPr/>
          </p:nvSpPr>
          <p:spPr>
            <a:xfrm>
              <a:off x="1380293" y="2843081"/>
              <a:ext cx="2309465"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双轮足机器人实机制作（第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9-12</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a:extLst>
              <a:ext uri="{FF2B5EF4-FFF2-40B4-BE49-F238E27FC236}">
                <a16:creationId xmlns:a16="http://schemas.microsoft.com/office/drawing/2014/main" id="{C2062DE8-DDD8-3098-B622-9F49D5ED0AAB}"/>
              </a:ext>
            </a:extLst>
          </p:cNvPr>
          <p:cNvGrpSpPr/>
          <p:nvPr/>
        </p:nvGrpSpPr>
        <p:grpSpPr>
          <a:xfrm>
            <a:off x="5550231" y="3314019"/>
            <a:ext cx="2438402" cy="677491"/>
            <a:chOff x="1295397" y="2843081"/>
            <a:chExt cx="2438402" cy="677491"/>
          </a:xfrm>
        </p:grpSpPr>
        <p:sp>
          <p:nvSpPr>
            <p:cNvPr id="43" name="椭圆 42">
              <a:extLst>
                <a:ext uri="{FF2B5EF4-FFF2-40B4-BE49-F238E27FC236}">
                  <a16:creationId xmlns:a16="http://schemas.microsoft.com/office/drawing/2014/main" id="{B8FA82B1-CC3A-C848-82B4-FA625531E948}"/>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4" name="矩形 43">
              <a:extLst>
                <a:ext uri="{FF2B5EF4-FFF2-40B4-BE49-F238E27FC236}">
                  <a16:creationId xmlns:a16="http://schemas.microsoft.com/office/drawing/2014/main" id="{1CC45E7A-BD9E-701F-CE8D-F3A222D392B4}"/>
                </a:ext>
              </a:extLst>
            </p:cNvPr>
            <p:cNvSpPr/>
            <p:nvPr/>
          </p:nvSpPr>
          <p:spPr>
            <a:xfrm>
              <a:off x="1380293" y="2843081"/>
              <a:ext cx="2353506"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在</a:t>
              </a:r>
              <a:r>
                <a:rPr lang="en-US" altLang="zh-CN" sz="1400" dirty="0" err="1">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Matlab</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中验证控制算法（第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13-16</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45" name="组合 44">
            <a:extLst>
              <a:ext uri="{FF2B5EF4-FFF2-40B4-BE49-F238E27FC236}">
                <a16:creationId xmlns:a16="http://schemas.microsoft.com/office/drawing/2014/main" id="{E30701A3-D6CC-2B62-1F3B-AC27D50271A4}"/>
              </a:ext>
            </a:extLst>
          </p:cNvPr>
          <p:cNvGrpSpPr/>
          <p:nvPr/>
        </p:nvGrpSpPr>
        <p:grpSpPr>
          <a:xfrm>
            <a:off x="5534899" y="3985245"/>
            <a:ext cx="2438402" cy="677491"/>
            <a:chOff x="1295397" y="2843081"/>
            <a:chExt cx="2438402" cy="677491"/>
          </a:xfrm>
        </p:grpSpPr>
        <p:sp>
          <p:nvSpPr>
            <p:cNvPr id="46" name="椭圆 45">
              <a:extLst>
                <a:ext uri="{FF2B5EF4-FFF2-40B4-BE49-F238E27FC236}">
                  <a16:creationId xmlns:a16="http://schemas.microsoft.com/office/drawing/2014/main" id="{F13B152D-C80E-2C06-E0E7-7E677AA58C45}"/>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7" name="矩形 46">
              <a:extLst>
                <a:ext uri="{FF2B5EF4-FFF2-40B4-BE49-F238E27FC236}">
                  <a16:creationId xmlns:a16="http://schemas.microsoft.com/office/drawing/2014/main" id="{D5B4B094-CB2D-5F38-6D44-7B20347C6508}"/>
                </a:ext>
              </a:extLst>
            </p:cNvPr>
            <p:cNvSpPr/>
            <p:nvPr/>
          </p:nvSpPr>
          <p:spPr>
            <a:xfrm>
              <a:off x="1380293" y="2843081"/>
              <a:ext cx="2353506"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编写嵌入式代码（第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17-20</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sp>
        <p:nvSpPr>
          <p:cNvPr id="48" name="椭圆 47">
            <a:extLst>
              <a:ext uri="{FF2B5EF4-FFF2-40B4-BE49-F238E27FC236}">
                <a16:creationId xmlns:a16="http://schemas.microsoft.com/office/drawing/2014/main" id="{EB04E4BF-4404-1256-6426-D284AD958A3F}"/>
              </a:ext>
            </a:extLst>
          </p:cNvPr>
          <p:cNvSpPr/>
          <p:nvPr/>
        </p:nvSpPr>
        <p:spPr>
          <a:xfrm>
            <a:off x="8645488" y="2380186"/>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49" name="freeform3">
            <a:extLst>
              <a:ext uri="{FF2B5EF4-FFF2-40B4-BE49-F238E27FC236}">
                <a16:creationId xmlns:a16="http://schemas.microsoft.com/office/drawing/2014/main" id="{3CAD6797-6CA7-E149-F579-5DC6C5A20742}"/>
              </a:ext>
            </a:extLst>
          </p:cNvPr>
          <p:cNvSpPr/>
          <p:nvPr/>
        </p:nvSpPr>
        <p:spPr>
          <a:xfrm>
            <a:off x="8706015" y="2440713"/>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50" name="文本框 49">
            <a:extLst>
              <a:ext uri="{FF2B5EF4-FFF2-40B4-BE49-F238E27FC236}">
                <a16:creationId xmlns:a16="http://schemas.microsoft.com/office/drawing/2014/main" id="{59D00D3D-852F-0E47-6088-266C0B7984DB}"/>
              </a:ext>
            </a:extLst>
          </p:cNvPr>
          <p:cNvSpPr txBox="1"/>
          <p:nvPr/>
        </p:nvSpPr>
        <p:spPr>
          <a:xfrm>
            <a:off x="8553991" y="1954760"/>
            <a:ext cx="1698172" cy="338554"/>
          </a:xfrm>
          <a:prstGeom prst="rect">
            <a:avLst/>
          </a:prstGeom>
          <a:noFill/>
        </p:spPr>
        <p:txBody>
          <a:bodyPr wrap="square">
            <a:spAutoFit/>
          </a:bodyPr>
          <a:lstStyle/>
          <a:p>
            <a:pPr>
              <a:defRPr/>
            </a:pPr>
            <a:r>
              <a:rPr lang="en-US" altLang="zh-CN" sz="1600" kern="0" dirty="0">
                <a:solidFill>
                  <a:srgbClr val="002060"/>
                </a:solidFill>
                <a:latin typeface="思源黑体 CN Bold" panose="020B0800000000000000" pitchFamily="34" charset="-122"/>
                <a:ea typeface="思源黑体 CN Bold" panose="020B0800000000000000" pitchFamily="34" charset="-122"/>
              </a:rPr>
              <a:t>3</a:t>
            </a:r>
            <a:r>
              <a:rPr lang="zh-CN" altLang="en-US" sz="1600" kern="0" dirty="0">
                <a:solidFill>
                  <a:srgbClr val="002060"/>
                </a:solidFill>
                <a:latin typeface="思源黑体 CN Bold" panose="020B0800000000000000" pitchFamily="34" charset="-122"/>
                <a:ea typeface="思源黑体 CN Bold" panose="020B0800000000000000" pitchFamily="34" charset="-122"/>
              </a:rPr>
              <a:t>、测试阶段</a:t>
            </a:r>
          </a:p>
        </p:txBody>
      </p:sp>
      <p:grpSp>
        <p:nvGrpSpPr>
          <p:cNvPr id="51" name="组合 50">
            <a:extLst>
              <a:ext uri="{FF2B5EF4-FFF2-40B4-BE49-F238E27FC236}">
                <a16:creationId xmlns:a16="http://schemas.microsoft.com/office/drawing/2014/main" id="{0850CB79-803A-BC1B-A6A9-7961782936A7}"/>
              </a:ext>
            </a:extLst>
          </p:cNvPr>
          <p:cNvGrpSpPr/>
          <p:nvPr/>
        </p:nvGrpSpPr>
        <p:grpSpPr>
          <a:xfrm>
            <a:off x="8684617" y="2631193"/>
            <a:ext cx="2438402" cy="677491"/>
            <a:chOff x="1295397" y="2843081"/>
            <a:chExt cx="2438402" cy="677491"/>
          </a:xfrm>
        </p:grpSpPr>
        <p:sp>
          <p:nvSpPr>
            <p:cNvPr id="52" name="椭圆 51">
              <a:extLst>
                <a:ext uri="{FF2B5EF4-FFF2-40B4-BE49-F238E27FC236}">
                  <a16:creationId xmlns:a16="http://schemas.microsoft.com/office/drawing/2014/main" id="{020E6CFB-9129-27B1-666F-92BF48719F0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3" name="矩形 52">
              <a:extLst>
                <a:ext uri="{FF2B5EF4-FFF2-40B4-BE49-F238E27FC236}">
                  <a16:creationId xmlns:a16="http://schemas.microsoft.com/office/drawing/2014/main" id="{8C6A24E7-9C11-CA4D-421C-935703C3D73A}"/>
                </a:ext>
              </a:extLst>
            </p:cNvPr>
            <p:cNvSpPr/>
            <p:nvPr/>
          </p:nvSpPr>
          <p:spPr>
            <a:xfrm>
              <a:off x="1380293" y="2843081"/>
              <a:ext cx="2353506"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实机代码测试（第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21-24</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a:extLst>
              <a:ext uri="{FF2B5EF4-FFF2-40B4-BE49-F238E27FC236}">
                <a16:creationId xmlns:a16="http://schemas.microsoft.com/office/drawing/2014/main" id="{A39901EB-9173-701B-7E52-108DAE74EF95}"/>
              </a:ext>
            </a:extLst>
          </p:cNvPr>
          <p:cNvGrpSpPr/>
          <p:nvPr/>
        </p:nvGrpSpPr>
        <p:grpSpPr>
          <a:xfrm>
            <a:off x="8684617" y="3325794"/>
            <a:ext cx="2438402" cy="354454"/>
            <a:chOff x="1295397" y="2843081"/>
            <a:chExt cx="2438402" cy="354454"/>
          </a:xfrm>
        </p:grpSpPr>
        <p:sp>
          <p:nvSpPr>
            <p:cNvPr id="55" name="椭圆 54">
              <a:extLst>
                <a:ext uri="{FF2B5EF4-FFF2-40B4-BE49-F238E27FC236}">
                  <a16:creationId xmlns:a16="http://schemas.microsoft.com/office/drawing/2014/main" id="{CB16A200-DD10-321B-5C49-F1833A029B9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6" name="矩形 55">
              <a:extLst>
                <a:ext uri="{FF2B5EF4-FFF2-40B4-BE49-F238E27FC236}">
                  <a16:creationId xmlns:a16="http://schemas.microsoft.com/office/drawing/2014/main" id="{A5CAAEF0-4655-ED4E-9348-863233F17C2E}"/>
                </a:ext>
              </a:extLst>
            </p:cNvPr>
            <p:cNvSpPr/>
            <p:nvPr/>
          </p:nvSpPr>
          <p:spPr>
            <a:xfrm>
              <a:off x="1380293" y="2843081"/>
              <a:ext cx="2353506" cy="354454"/>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系统联调测试（第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25-28</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spTree>
    <p:extLst>
      <p:ext uri="{BB962C8B-B14F-4D97-AF65-F5344CB8AC3E}">
        <p14:creationId xmlns:p14="http://schemas.microsoft.com/office/powerpoint/2010/main" val="196386652"/>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A2433-1B73-A64B-D7FF-228CFDB9E691}"/>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B141E280-0904-67E8-6569-8994F5043DE1}"/>
              </a:ext>
            </a:extLst>
          </p:cNvPr>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B215D104-4034-1523-CB71-05A069D9E0BB}"/>
              </a:ext>
            </a:extLst>
          </p:cNvPr>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a:extLst>
              <a:ext uri="{FF2B5EF4-FFF2-40B4-BE49-F238E27FC236}">
                <a16:creationId xmlns:a16="http://schemas.microsoft.com/office/drawing/2014/main" id="{DD760F2E-6D0C-D4FD-FE70-148051C5C764}"/>
              </a:ext>
            </a:extLst>
          </p:cNvPr>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请各位老师批评指正！</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26C442DC-49BB-31D3-90D4-6AF0CE984409}"/>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级本科生毕业设计开题答辩</a:t>
            </a:r>
          </a:p>
        </p:txBody>
      </p:sp>
      <p:grpSp>
        <p:nvGrpSpPr>
          <p:cNvPr id="6" name="组合 5">
            <a:extLst>
              <a:ext uri="{FF2B5EF4-FFF2-40B4-BE49-F238E27FC236}">
                <a16:creationId xmlns:a16="http://schemas.microsoft.com/office/drawing/2014/main" id="{8974283E-130F-D55A-74FC-33A80006CD91}"/>
              </a:ext>
            </a:extLst>
          </p:cNvPr>
          <p:cNvGrpSpPr/>
          <p:nvPr/>
        </p:nvGrpSpPr>
        <p:grpSpPr>
          <a:xfrm>
            <a:off x="4383338" y="5066917"/>
            <a:ext cx="7154920" cy="954107"/>
            <a:chOff x="3952414" y="4777882"/>
            <a:chExt cx="7154920" cy="954107"/>
          </a:xfrm>
        </p:grpSpPr>
        <p:sp>
          <p:nvSpPr>
            <p:cNvPr id="15" name="文本框 14">
              <a:extLst>
                <a:ext uri="{FF2B5EF4-FFF2-40B4-BE49-F238E27FC236}">
                  <a16:creationId xmlns:a16="http://schemas.microsoft.com/office/drawing/2014/main" id="{593FD386-B205-5EC5-C323-A302BED080CE}"/>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B7EC9968-39DE-9698-DFAA-03EBEA49F4AF}"/>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pic>
        <p:nvPicPr>
          <p:cNvPr id="17" name="图片 16">
            <a:extLst>
              <a:ext uri="{FF2B5EF4-FFF2-40B4-BE49-F238E27FC236}">
                <a16:creationId xmlns:a16="http://schemas.microsoft.com/office/drawing/2014/main" id="{658F08FC-5390-D1C8-8DFD-C6AFCDDA5D0A}"/>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extLst>
      <p:ext uri="{BB962C8B-B14F-4D97-AF65-F5344CB8AC3E}">
        <p14:creationId xmlns:p14="http://schemas.microsoft.com/office/powerpoint/2010/main" val="19838320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68bcaba3-4299-41b9-af49-dd499c79b9f7}"/>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10538</TotalTime>
  <Words>1152</Words>
  <Application>Microsoft Office PowerPoint</Application>
  <PresentationFormat>宽屏</PresentationFormat>
  <Paragraphs>156</Paragraphs>
  <Slides>15</Slides>
  <Notes>15</Notes>
  <HiddenSlides>0</HiddenSlides>
  <MMClips>1</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15</vt:i4>
      </vt:variant>
    </vt:vector>
  </HeadingPairs>
  <TitlesOfParts>
    <vt:vector size="26" baseType="lpstr">
      <vt:lpstr>等线</vt:lpstr>
      <vt:lpstr>等线 Light</vt:lpstr>
      <vt:lpstr>黑体</vt:lpstr>
      <vt:lpstr>思源黑体 CN Bold</vt:lpstr>
      <vt:lpstr>Arial</vt:lpstr>
      <vt:lpstr>Calibri</vt:lpstr>
      <vt:lpstr>Calibri Light</vt:lpstr>
      <vt:lpstr>Times New Roman</vt:lpstr>
      <vt:lpstr>微软雅黑</vt:lpstr>
      <vt:lpstr>Office 主题​​</vt:lpstr>
      <vt:lpstr>自定义设计方案</vt:lpstr>
      <vt:lpstr>PowerPoint 演示文稿</vt:lpstr>
      <vt:lpstr>PowerPoint 演示文稿</vt:lpstr>
      <vt:lpstr>PowerPoint 演示文稿</vt:lpstr>
      <vt:lpstr>研究背景及意义</vt:lpstr>
      <vt:lpstr>PowerPoint 演示文稿</vt:lpstr>
      <vt:lpstr>国内外研究现状分析</vt:lpstr>
      <vt:lpstr>国内外研究现状分析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佳轩 杨</cp:lastModifiedBy>
  <cp:revision>1952</cp:revision>
  <cp:lastPrinted>2024-04-20T12:37:04Z</cp:lastPrinted>
  <dcterms:created xsi:type="dcterms:W3CDTF">2020-07-30T10:43:00Z</dcterms:created>
  <dcterms:modified xsi:type="dcterms:W3CDTF">2025-10-13T08:47:54Z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5360D7C9D578478392DF5B8A17F731F5</vt:lpwstr>
  </property>
  <property fmtid="{D5CDD505-2E9C-101B-9397-08002B2CF9AE}" pid="3" name="KSOProductBuildVer">
    <vt:lpwstr>2052-11.1.0.10938</vt:lpwstr>
  </property>
</Properties>
</file>