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16"/>
  </p:notesMasterIdLst>
  <p:handoutMasterIdLst>
    <p:handoutMasterId r:id="rId17"/>
  </p:handoutMasterIdLst>
  <p:sldIdLst>
    <p:sldId id="784" r:id="rId3"/>
    <p:sldId id="22377" r:id="rId4"/>
    <p:sldId id="22570" r:id="rId5"/>
    <p:sldId id="22611" r:id="rId6"/>
    <p:sldId id="22609" r:id="rId7"/>
    <p:sldId id="22608" r:id="rId8"/>
    <p:sldId id="22585" r:id="rId9"/>
    <p:sldId id="22578" r:id="rId10"/>
    <p:sldId id="22613" r:id="rId11"/>
    <p:sldId id="22614" r:id="rId12"/>
    <p:sldId id="22612" r:id="rId13"/>
    <p:sldId id="22615" r:id="rId14"/>
    <p:sldId id="22590" r:id="rId15"/>
  </p:sldIdLst>
  <p:sldSz cx="12192000" cy="6858000"/>
  <p:notesSz cx="6802438" cy="9934575"/>
  <p:defaultTextStyle>
    <a:defPPr>
      <a:defRPr lang="zh-CN"/>
    </a:defPPr>
    <a:lvl1pPr marL="0" lvl="0"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首页" id="{6B6CF500-8C36-4C8A-BF47-2A7D8ECAF8A3}">
          <p14:sldIdLst>
            <p14:sldId id="784"/>
          </p14:sldIdLst>
        </p14:section>
        <p14:section name="主体内容" id="{86385C4F-CB4B-401A-B378-86BF67DB24DC}">
          <p14:sldIdLst>
            <p14:sldId id="22377"/>
            <p14:sldId id="22570"/>
            <p14:sldId id="22611"/>
            <p14:sldId id="22609"/>
            <p14:sldId id="22608"/>
            <p14:sldId id="22585"/>
            <p14:sldId id="22578"/>
            <p14:sldId id="22613"/>
            <p14:sldId id="22614"/>
            <p14:sldId id="22612"/>
            <p14:sldId id="22615"/>
          </p14:sldIdLst>
        </p14:section>
        <p14:section name="结束" id="{93DC825A-7053-4C59-8852-428C61F7B4A6}">
          <p14:sldIdLst>
            <p14:sldId id="22590"/>
          </p14:sldIdLst>
        </p14:section>
      </p14:sectionLst>
    </p:ext>
    <p:ext uri="{EFAFB233-063F-42B5-8137-9DF3F51BA10A}">
      <p15:sldGuideLst xmlns:p15="http://schemas.microsoft.com/office/powerpoint/2012/main">
        <p15:guide id="3" orient="horz" pos="2160" userDrawn="1">
          <p15:clr>
            <a:srgbClr val="A4A3A4"/>
          </p15:clr>
        </p15:guide>
        <p15:guide id="6"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lhj" initials="l" lastIdx="1" clrIdx="1">
    <p:extLst>
      <p:ext uri="{19B8F6BF-5375-455C-9EA6-DF929625EA0E}">
        <p15:presenceInfo xmlns:p15="http://schemas.microsoft.com/office/powerpoint/2012/main" userId="lhj" providerId="None"/>
      </p:ext>
    </p:extLst>
  </p:cmAuthor>
  <p:cmAuthor id="3" name="Administrator" initials="A" lastIdx="2" clrIdx="2">
    <p:extLst>
      <p:ext uri="{19B8F6BF-5375-455C-9EA6-DF929625EA0E}">
        <p15:presenceInfo xmlns:p15="http://schemas.microsoft.com/office/powerpoint/2012/main" userId="f332e7d5afa65cd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EEF"/>
    <a:srgbClr val="00B0F0"/>
    <a:srgbClr val="14AB8E"/>
    <a:srgbClr val="D44318"/>
    <a:srgbClr val="00B050"/>
    <a:srgbClr val="FF9900"/>
    <a:srgbClr val="0098A8"/>
    <a:srgbClr val="ED7D31"/>
    <a:srgbClr val="FFFFFF"/>
    <a:srgbClr val="E93C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6178" autoAdjust="0"/>
  </p:normalViewPr>
  <p:slideViewPr>
    <p:cSldViewPr snapToGrid="0" showGuides="1">
      <p:cViewPr varScale="1">
        <p:scale>
          <a:sx n="85" d="100"/>
          <a:sy n="85" d="100"/>
        </p:scale>
        <p:origin x="605" y="48"/>
      </p:cViewPr>
      <p:guideLst>
        <p:guide orient="horz" pos="2160"/>
        <p:guide pos="3840"/>
      </p:guideLst>
    </p:cSldViewPr>
  </p:slideViewPr>
  <p:notesTextViewPr>
    <p:cViewPr>
      <p:scale>
        <a:sx n="100" d="100"/>
        <a:sy n="100" d="100"/>
      </p:scale>
      <p:origin x="0" y="0"/>
    </p:cViewPr>
  </p:notesTextViewPr>
  <p:sorterViewPr showFormatting="0">
    <p:cViewPr>
      <p:scale>
        <a:sx n="66" d="100"/>
        <a:sy n="66" d="100"/>
      </p:scale>
      <p:origin x="0" y="0"/>
    </p:cViewPr>
  </p:sorterViewPr>
  <p:notesViewPr>
    <p:cSldViewPr snapToGrid="0">
      <p:cViewPr varScale="1">
        <p:scale>
          <a:sx n="87" d="100"/>
          <a:sy n="87" d="100"/>
        </p:scale>
        <p:origin x="3840" y="90"/>
      </p:cViewPr>
      <p:guideLst/>
    </p:cSldViewPr>
  </p:notes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commentAuthors" Target="commentAuthors.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7723" cy="498454"/>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3141" y="1"/>
            <a:ext cx="2947723" cy="498454"/>
          </a:xfrm>
          <a:prstGeom prst="rect">
            <a:avLst/>
          </a:prstGeom>
        </p:spPr>
        <p:txBody>
          <a:bodyPr vert="horz" lIns="91440" tIns="45720" rIns="91440" bIns="45720" rtlCol="0"/>
          <a:lstStyle>
            <a:lvl1pPr algn="r">
              <a:defRPr sz="1200"/>
            </a:lvl1pPr>
          </a:lstStyle>
          <a:p>
            <a:fld id="{FDA707E1-D4A3-43A4-BE54-FBAC387CE24C}" type="datetimeFigureOut">
              <a:rPr lang="zh-CN" altLang="en-US" smtClean="0"/>
              <a:t>2025/10/13</a:t>
            </a:fld>
            <a:endParaRPr lang="zh-CN" altLang="en-US"/>
          </a:p>
        </p:txBody>
      </p:sp>
      <p:sp>
        <p:nvSpPr>
          <p:cNvPr id="4" name="页脚占位符 3"/>
          <p:cNvSpPr>
            <a:spLocks noGrp="1"/>
          </p:cNvSpPr>
          <p:nvPr>
            <p:ph type="ftr" sz="quarter" idx="2"/>
          </p:nvPr>
        </p:nvSpPr>
        <p:spPr>
          <a:xfrm>
            <a:off x="0" y="9436123"/>
            <a:ext cx="2947723" cy="498453"/>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3141" y="9436123"/>
            <a:ext cx="2947723" cy="498453"/>
          </a:xfrm>
          <a:prstGeom prst="rect">
            <a:avLst/>
          </a:prstGeom>
        </p:spPr>
        <p:txBody>
          <a:bodyPr vert="horz" lIns="91440" tIns="45720" rIns="91440" bIns="45720" rtlCol="0" anchor="b"/>
          <a:lstStyle>
            <a:lvl1pPr algn="r">
              <a:defRPr sz="1200"/>
            </a:lvl1pPr>
          </a:lstStyle>
          <a:p>
            <a:fld id="{E3B5ADBF-F9EE-48CE-9F85-BE798A1BD3B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1"/>
            <a:ext cx="2947723" cy="498454"/>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日期占位符 2"/>
          <p:cNvSpPr>
            <a:spLocks noGrp="1" noChangeArrowheads="1"/>
          </p:cNvSpPr>
          <p:nvPr>
            <p:ph type="dt" idx="1"/>
          </p:nvPr>
        </p:nvSpPr>
        <p:spPr bwMode="auto">
          <a:xfrm>
            <a:off x="3853141" y="1"/>
            <a:ext cx="2947723" cy="498454"/>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24" name="幻灯片图像占位符 3"/>
          <p:cNvSpPr>
            <a:spLocks noGrp="1" noRot="1" noChangeAspect="1"/>
          </p:cNvSpPr>
          <p:nvPr>
            <p:ph type="sldImg"/>
          </p:nvPr>
        </p:nvSpPr>
        <p:spPr>
          <a:xfrm>
            <a:off x="422275" y="1241425"/>
            <a:ext cx="5959475" cy="3352800"/>
          </a:xfrm>
          <a:prstGeom prst="rect">
            <a:avLst/>
          </a:prstGeom>
          <a:noFill/>
          <a:ln w="12700">
            <a:noFill/>
          </a:ln>
        </p:spPr>
      </p:sp>
      <p:sp>
        <p:nvSpPr>
          <p:cNvPr id="3077" name="备注占位符 4"/>
          <p:cNvSpPr>
            <a:spLocks noGrp="1" noRot="1" noChangeAspect="1" noChangeArrowheads="1"/>
          </p:cNvSpPr>
          <p:nvPr/>
        </p:nvSpPr>
        <p:spPr bwMode="auto">
          <a:xfrm>
            <a:off x="680244" y="4781014"/>
            <a:ext cx="5441950" cy="391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a:defRPr kumimoji="1" sz="2400">
                <a:solidFill>
                  <a:schemeClr val="tx1"/>
                </a:solidFill>
                <a:latin typeface="Arial" panose="020B0604020202020204" pitchFamily="34" charset="0"/>
                <a:ea typeface="宋体" panose="02010600030101010101" pitchFamily="2" charset="-122"/>
              </a:defRPr>
            </a:lvl1pPr>
            <a:lvl2pPr marL="742950" indent="-285750" defTabSz="0">
              <a:defRPr kumimoji="1" sz="2400">
                <a:solidFill>
                  <a:schemeClr val="tx1"/>
                </a:solidFill>
                <a:latin typeface="Arial" panose="020B0604020202020204" pitchFamily="34" charset="0"/>
                <a:ea typeface="宋体" panose="02010600030101010101" pitchFamily="2" charset="-122"/>
              </a:defRPr>
            </a:lvl2pPr>
            <a:lvl3pPr marL="1143000" indent="-228600" defTabSz="0">
              <a:defRPr kumimoji="1" sz="2400">
                <a:solidFill>
                  <a:schemeClr val="tx1"/>
                </a:solidFill>
                <a:latin typeface="Arial" panose="020B0604020202020204" pitchFamily="34" charset="0"/>
                <a:ea typeface="宋体" panose="02010600030101010101" pitchFamily="2" charset="-122"/>
              </a:defRPr>
            </a:lvl3pPr>
            <a:lvl4pPr marL="1600200" indent="-228600" defTabSz="0">
              <a:defRPr kumimoji="1" sz="2400">
                <a:solidFill>
                  <a:schemeClr val="tx1"/>
                </a:solidFill>
                <a:latin typeface="Arial" panose="020B0604020202020204" pitchFamily="34" charset="0"/>
                <a:ea typeface="宋体" panose="02010600030101010101" pitchFamily="2" charset="-122"/>
              </a:defRPr>
            </a:lvl4pPr>
            <a:lvl5pPr marL="2057400" indent="-228600" defTabSz="0">
              <a:defRPr kumimoji="1" sz="2400">
                <a:solidFill>
                  <a:schemeClr val="tx1"/>
                </a:solidFill>
                <a:latin typeface="Arial" panose="020B0604020202020204" pitchFamily="34" charset="0"/>
                <a:ea typeface="宋体" panose="02010600030101010101" pitchFamily="2" charset="-122"/>
              </a:defRPr>
            </a:lvl5pPr>
            <a:lvl6pPr marL="2514600" indent="-228600" defTabSz="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defTabSz="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defTabSz="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defTabSz="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单击此处编辑母版文本样式</a:t>
            </a: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第二级</a:t>
            </a: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第三级</a:t>
            </a: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第四级</a:t>
            </a:r>
          </a:p>
          <a:p>
            <a:pPr marL="0" marR="0" lvl="0" indent="0" algn="l" defTabSz="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第五级</a:t>
            </a:r>
          </a:p>
        </p:txBody>
      </p:sp>
      <p:sp>
        <p:nvSpPr>
          <p:cNvPr id="2054" name="页脚占位符 5"/>
          <p:cNvSpPr>
            <a:spLocks noGrp="1" noChangeArrowheads="1"/>
          </p:cNvSpPr>
          <p:nvPr>
            <p:ph type="ftr" sz="quarter" idx="4"/>
          </p:nvPr>
        </p:nvSpPr>
        <p:spPr bwMode="auto">
          <a:xfrm>
            <a:off x="0" y="9436123"/>
            <a:ext cx="2947723" cy="498454"/>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灯片编号占位符 6"/>
          <p:cNvSpPr>
            <a:spLocks noGrp="1" noChangeArrowheads="1"/>
          </p:cNvSpPr>
          <p:nvPr>
            <p:ph type="sldNum" sz="quarter" idx="5"/>
          </p:nvPr>
        </p:nvSpPr>
        <p:spPr bwMode="auto">
          <a:xfrm>
            <a:off x="3853141" y="9436123"/>
            <a:ext cx="2947723" cy="498454"/>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A7456E4-8A0C-473D-A3E6-FF6BB9EF1A7C}" type="slidenum">
              <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宋体" panose="02010600030101010101" pitchFamily="2" charset="-122"/>
      </a:defRPr>
    </a:lvl1pPr>
    <a:lvl2pPr marL="4572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19719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1038" y="4781550"/>
            <a:ext cx="5441950" cy="3911600"/>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Arial" panose="020B0604020202020204" pitchFamily="34" charset="0"/>
                <a:ea typeface="+mn-ea"/>
                <a:cs typeface="宋体" panose="02010600030101010101" pitchFamily="2" charset="-122"/>
              </a:rPr>
              <a:t>确定油缸主要零部件的设计参数及关联关系。根据机构运动和结构要求，选择油缸模块类型、基本结构形式和安装方式；根据工作机构对驱动力的要求，确定油缸的工作压力；根据系统工作压力、材料类别、工作行程和速度等要求，自动计算出液压油缸各零部件模型参数（包括但不限于缸体内径、活塞杆直径、油缸壁厚、工作行程、缸体长度、缸盖厚度等，可覆盖缸径</a:t>
            </a:r>
            <a:r>
              <a:rPr lang="en-US" altLang="zh-CN" sz="1200" kern="1200" dirty="0">
                <a:solidFill>
                  <a:schemeClr val="tx1"/>
                </a:solidFill>
                <a:effectLst/>
                <a:latin typeface="Arial" panose="020B0604020202020204" pitchFamily="34" charset="0"/>
                <a:ea typeface="+mn-ea"/>
                <a:cs typeface="宋体" panose="02010600030101010101" pitchFamily="2" charset="-122"/>
              </a:rPr>
              <a:t>0.07m~2m</a:t>
            </a:r>
            <a:r>
              <a:rPr lang="zh-CN" altLang="zh-CN" sz="1200" kern="1200" dirty="0">
                <a:solidFill>
                  <a:schemeClr val="tx1"/>
                </a:solidFill>
                <a:effectLst/>
                <a:latin typeface="Arial" panose="020B0604020202020204" pitchFamily="34" charset="0"/>
                <a:ea typeface="+mn-ea"/>
                <a:cs typeface="宋体" panose="02010600030101010101" pitchFamily="2" charset="-122"/>
              </a:rPr>
              <a:t>，行程</a:t>
            </a:r>
            <a:r>
              <a:rPr lang="en-US" altLang="zh-CN" sz="1200" kern="1200" dirty="0">
                <a:solidFill>
                  <a:schemeClr val="tx1"/>
                </a:solidFill>
                <a:effectLst/>
                <a:latin typeface="Arial" panose="020B0604020202020204" pitchFamily="34" charset="0"/>
                <a:ea typeface="+mn-ea"/>
                <a:cs typeface="宋体" panose="02010600030101010101" pitchFamily="2" charset="-122"/>
              </a:rPr>
              <a:t>0.06m~25m</a:t>
            </a:r>
            <a:r>
              <a:rPr lang="zh-CN" altLang="zh-CN" sz="1200" kern="1200" dirty="0">
                <a:solidFill>
                  <a:schemeClr val="tx1"/>
                </a:solidFill>
                <a:effectLst/>
                <a:latin typeface="Arial" panose="020B0604020202020204" pitchFamily="34" charset="0"/>
                <a:ea typeface="+mn-ea"/>
                <a:cs typeface="宋体" panose="02010600030101010101" pitchFamily="2" charset="-122"/>
              </a:rPr>
              <a:t>）；根据几何约束关系与等价关系，建立设计参数之间的关联公式（如缸体内径尺寸与活塞外径尺寸相等），以减少基本参数数量，并确定最终的参数化设计驱动参数。</a:t>
            </a:r>
          </a:p>
        </p:txBody>
      </p:sp>
      <p:sp>
        <p:nvSpPr>
          <p:cNvPr id="4" name="日期占位符 3"/>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76447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368270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1038" y="4781550"/>
            <a:ext cx="5441950" cy="3911600"/>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Arial" panose="020B0604020202020204" pitchFamily="34" charset="0"/>
                <a:ea typeface="+mn-ea"/>
                <a:cs typeface="宋体" panose="02010600030101010101" pitchFamily="2" charset="-122"/>
              </a:rPr>
              <a:t>本研究拟开发可持续升级和扩展的超大超长数字液压缸数字孪生平台，为超大超长数字液压缸实际工作提供实时监测手段和性能预测方法。平台集成超大超长液压缸本体、多传感器感知、检测控制、安全保护及故障自诊断等功能，形成具有环境信息反馈的机电液一体化控制、多维信息自主决策、智能容错、闭环自主调整分散控制功能的数字控制油缸。采集船体运动、横摇角度、纵摇角度及垂荡高度等姿态信息、海洋风向、浪向、流向、表面流速及风速等环境信息、吊重、锤击数据、桁架角度、油缸压力及位移、液压系统其他数据等输入数据。可视化展示</a:t>
            </a:r>
            <a:r>
              <a:rPr lang="en-US" altLang="zh-CN" sz="1200" kern="1200" dirty="0">
                <a:solidFill>
                  <a:schemeClr val="tx1"/>
                </a:solidFill>
                <a:effectLst/>
                <a:latin typeface="Arial" panose="020B0604020202020204" pitchFamily="34" charset="0"/>
                <a:ea typeface="+mn-ea"/>
                <a:cs typeface="宋体" panose="02010600030101010101" pitchFamily="2" charset="-122"/>
              </a:rPr>
              <a:t>/</a:t>
            </a:r>
            <a:r>
              <a:rPr lang="zh-CN" altLang="zh-CN" sz="1200" kern="1200" dirty="0">
                <a:solidFill>
                  <a:schemeClr val="tx1"/>
                </a:solidFill>
                <a:effectLst/>
                <a:latin typeface="Arial" panose="020B0604020202020204" pitchFamily="34" charset="0"/>
                <a:ea typeface="+mn-ea"/>
                <a:cs typeface="宋体" panose="02010600030101010101" pitchFamily="2" charset="-122"/>
              </a:rPr>
              <a:t>监控油缸工作状态，并通过数据分析可展示作业过程中的关键参数：活塞杆挠度（影响密封性能、导套偏载等）、油缸冲击载荷、数字流态展示、油缸运行速度、油缸行程数值、压力波动值、液压流量值、密封与关节轴承及活塞杆表面涂层等关键部件的健康等级与剩余使用寿命参考值等；实现油缸整机及关键部件（密封、关节轴承及活塞杆表面涂层等）在线性能评估与寿命预测；通过对数据的分析学习能给出油缸工作参数优化建议，提供油缸及关键部件维护保养建议；导出相关历史数据供现场分析决策、后续油缸及关键部件设计参考，实现油缸密封、关节轴承等关键部件及油缸整机的“设计</a:t>
            </a:r>
            <a:r>
              <a:rPr lang="en-US" altLang="zh-CN" sz="1200" kern="1200" dirty="0">
                <a:solidFill>
                  <a:schemeClr val="tx1"/>
                </a:solidFill>
                <a:effectLst/>
                <a:latin typeface="Arial" panose="020B0604020202020204" pitchFamily="34" charset="0"/>
                <a:ea typeface="+mn-ea"/>
                <a:cs typeface="宋体" panose="02010600030101010101" pitchFamily="2" charset="-122"/>
              </a:rPr>
              <a:t>-</a:t>
            </a:r>
            <a:r>
              <a:rPr lang="zh-CN" altLang="zh-CN" sz="1200" kern="1200" dirty="0">
                <a:solidFill>
                  <a:schemeClr val="tx1"/>
                </a:solidFill>
                <a:effectLst/>
                <a:latin typeface="Arial" panose="020B0604020202020204" pitchFamily="34" charset="0"/>
                <a:ea typeface="+mn-ea"/>
                <a:cs typeface="宋体" panose="02010600030101010101" pitchFamily="2" charset="-122"/>
              </a:rPr>
              <a:t>应用</a:t>
            </a:r>
            <a:r>
              <a:rPr lang="en-US" altLang="zh-CN" sz="1200" kern="1200" dirty="0">
                <a:solidFill>
                  <a:schemeClr val="tx1"/>
                </a:solidFill>
                <a:effectLst/>
                <a:latin typeface="Arial" panose="020B0604020202020204" pitchFamily="34" charset="0"/>
                <a:ea typeface="+mn-ea"/>
                <a:cs typeface="宋体" panose="02010600030101010101" pitchFamily="2" charset="-122"/>
              </a:rPr>
              <a:t>-</a:t>
            </a:r>
            <a:r>
              <a:rPr lang="zh-CN" altLang="zh-CN" sz="1200" kern="1200" dirty="0">
                <a:solidFill>
                  <a:schemeClr val="tx1"/>
                </a:solidFill>
                <a:effectLst/>
                <a:latin typeface="Arial" panose="020B0604020202020204" pitchFamily="34" charset="0"/>
                <a:ea typeface="+mn-ea"/>
                <a:cs typeface="宋体" panose="02010600030101010101" pitchFamily="2" charset="-122"/>
              </a:rPr>
              <a:t>优化”闭环验证流程。</a:t>
            </a:r>
          </a:p>
        </p:txBody>
      </p:sp>
      <p:sp>
        <p:nvSpPr>
          <p:cNvPr id="4" name="日期占位符 3"/>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30546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1038" y="4781550"/>
            <a:ext cx="5441950" cy="3911600"/>
          </a:xfrm>
          <a:prstGeom prst="rect">
            <a:avLst/>
          </a:prstGeom>
        </p:spPr>
        <p:txBody>
          <a:bodyPr/>
          <a:lstStyle/>
          <a:p>
            <a:r>
              <a:rPr lang="zh-CN" altLang="zh-CN" sz="1200" kern="1200" dirty="0">
                <a:solidFill>
                  <a:schemeClr val="tx1"/>
                </a:solidFill>
                <a:effectLst/>
                <a:latin typeface="Arial" panose="020B0604020202020204" pitchFamily="34" charset="0"/>
                <a:ea typeface="+mn-ea"/>
                <a:cs typeface="宋体" panose="02010600030101010101" pitchFamily="2" charset="-122"/>
              </a:rPr>
              <a:t>综合上述研究成果，进行油缸总体设计平台的系统化集成。通过获取油缸功能参数，进行液体流态特性、控制系统性能、机构运动、结构应力与运动强度、疲劳损伤及振动等虚拟仿真；根据不同工况与载荷要求，快速解算液压缸关键参数和设计外形尺寸（可覆盖缸径</a:t>
            </a:r>
            <a:r>
              <a:rPr lang="en-US" altLang="zh-CN" sz="1200" kern="1200" dirty="0">
                <a:solidFill>
                  <a:schemeClr val="tx1"/>
                </a:solidFill>
                <a:effectLst/>
                <a:latin typeface="Arial" panose="020B0604020202020204" pitchFamily="34" charset="0"/>
                <a:ea typeface="+mn-ea"/>
                <a:cs typeface="宋体" panose="02010600030101010101" pitchFamily="2" charset="-122"/>
              </a:rPr>
              <a:t>0.07m~2m</a:t>
            </a:r>
            <a:r>
              <a:rPr lang="zh-CN" altLang="zh-CN" sz="1200" kern="1200" dirty="0">
                <a:solidFill>
                  <a:schemeClr val="tx1"/>
                </a:solidFill>
                <a:effectLst/>
                <a:latin typeface="Arial" panose="020B0604020202020204" pitchFamily="34" charset="0"/>
                <a:ea typeface="+mn-ea"/>
                <a:cs typeface="宋体" panose="02010600030101010101" pitchFamily="2" charset="-122"/>
              </a:rPr>
              <a:t>，行程</a:t>
            </a:r>
            <a:r>
              <a:rPr lang="en-US" altLang="zh-CN" sz="1200" kern="1200" dirty="0">
                <a:solidFill>
                  <a:schemeClr val="tx1"/>
                </a:solidFill>
                <a:effectLst/>
                <a:latin typeface="Arial" panose="020B0604020202020204" pitchFamily="34" charset="0"/>
                <a:ea typeface="+mn-ea"/>
                <a:cs typeface="宋体" panose="02010600030101010101" pitchFamily="2" charset="-122"/>
              </a:rPr>
              <a:t>0.06m~25m</a:t>
            </a:r>
            <a:r>
              <a:rPr lang="zh-CN" altLang="zh-CN" sz="1200" kern="1200" dirty="0">
                <a:solidFill>
                  <a:schemeClr val="tx1"/>
                </a:solidFill>
                <a:effectLst/>
                <a:latin typeface="Arial" panose="020B0604020202020204" pitchFamily="34" charset="0"/>
                <a:ea typeface="+mn-ea"/>
                <a:cs typeface="宋体" panose="02010600030101010101" pitchFamily="2" charset="-122"/>
              </a:rPr>
              <a:t>），通过动态模型库给出密封及关节轴承等部件型号；基于设计结果，结合超大超长液压缸设计规范，进行设计结果的校核并输出液压缸结构计算书，并显示不同规格下关键受力值与合格要求值对比分析；结合运行工况和控制边界，辅助设计人员手动配置液压系统，并自动计算液压缸系统关键部件参数（电机功率、泵组流量及油箱容积等），提供推荐的电机泵组选型参数；经过“设计</a:t>
            </a:r>
            <a:r>
              <a:rPr lang="en-US" altLang="zh-CN" sz="1200" kern="1200" dirty="0">
                <a:solidFill>
                  <a:schemeClr val="tx1"/>
                </a:solidFill>
                <a:effectLst/>
                <a:latin typeface="Arial" panose="020B0604020202020204" pitchFamily="34" charset="0"/>
                <a:ea typeface="+mn-ea"/>
                <a:cs typeface="宋体" panose="02010600030101010101" pitchFamily="2" charset="-122"/>
              </a:rPr>
              <a:t>-</a:t>
            </a:r>
            <a:r>
              <a:rPr lang="zh-CN" altLang="zh-CN" sz="1200" kern="1200" dirty="0">
                <a:solidFill>
                  <a:schemeClr val="tx1"/>
                </a:solidFill>
                <a:effectLst/>
                <a:latin typeface="Arial" panose="020B0604020202020204" pitchFamily="34" charset="0"/>
                <a:ea typeface="+mn-ea"/>
                <a:cs typeface="宋体" panose="02010600030101010101" pitchFamily="2" charset="-122"/>
              </a:rPr>
              <a:t>仿真</a:t>
            </a:r>
            <a:r>
              <a:rPr lang="en-US" altLang="zh-CN" sz="1200" kern="1200" dirty="0">
                <a:solidFill>
                  <a:schemeClr val="tx1"/>
                </a:solidFill>
                <a:effectLst/>
                <a:latin typeface="Arial" panose="020B0604020202020204" pitchFamily="34" charset="0"/>
                <a:ea typeface="+mn-ea"/>
                <a:cs typeface="宋体" panose="02010600030101010101" pitchFamily="2" charset="-122"/>
              </a:rPr>
              <a:t>-</a:t>
            </a:r>
            <a:r>
              <a:rPr lang="zh-CN" altLang="zh-CN" sz="1200" kern="1200" dirty="0">
                <a:solidFill>
                  <a:schemeClr val="tx1"/>
                </a:solidFill>
                <a:effectLst/>
                <a:latin typeface="Arial" panose="020B0604020202020204" pitchFamily="34" charset="0"/>
                <a:ea typeface="+mn-ea"/>
                <a:cs typeface="宋体" panose="02010600030101010101" pitchFamily="2" charset="-122"/>
              </a:rPr>
              <a:t>优化”闭环验证流程，导出二维图纸与三维模型。最终，针对液压油缸的参数化设计、数字化建模、虚拟仿真评估结果以及优化改进建议的准确性和可靠性，基于现有主流油缸设计方法的历史数据，利用主机厂相关油缸的设计生产案例进行综合对比实验验证。</a:t>
            </a:r>
          </a:p>
          <a:p>
            <a:r>
              <a:rPr lang="zh-CN" altLang="zh-CN" sz="1200" kern="1200" dirty="0">
                <a:solidFill>
                  <a:schemeClr val="tx1"/>
                </a:solidFill>
                <a:effectLst/>
                <a:latin typeface="Arial" panose="020B0604020202020204" pitchFamily="34" charset="0"/>
                <a:ea typeface="+mn-ea"/>
                <a:cs typeface="宋体" panose="02010600030101010101" pitchFamily="2" charset="-122"/>
              </a:rPr>
              <a:t>此外，油缸总体设计平台还将保留与主流二维、三维软件的</a:t>
            </a:r>
            <a:r>
              <a:rPr lang="en-US" altLang="zh-CN" sz="1200" kern="1200" dirty="0">
                <a:solidFill>
                  <a:schemeClr val="tx1"/>
                </a:solidFill>
                <a:effectLst/>
                <a:latin typeface="Arial" panose="020B0604020202020204" pitchFamily="34" charset="0"/>
                <a:ea typeface="+mn-ea"/>
                <a:cs typeface="宋体" panose="02010600030101010101" pitchFamily="2" charset="-122"/>
              </a:rPr>
              <a:t>API</a:t>
            </a:r>
            <a:r>
              <a:rPr lang="zh-CN" altLang="zh-CN" sz="1200" kern="1200" dirty="0">
                <a:solidFill>
                  <a:schemeClr val="tx1"/>
                </a:solidFill>
                <a:effectLst/>
                <a:latin typeface="Arial" panose="020B0604020202020204" pitchFamily="34" charset="0"/>
                <a:ea typeface="+mn-ea"/>
                <a:cs typeface="宋体" panose="02010600030101010101" pitchFamily="2" charset="-122"/>
              </a:rPr>
              <a:t>接口，可与</a:t>
            </a:r>
            <a:r>
              <a:rPr lang="en-US" altLang="zh-CN" sz="1200" kern="1200" dirty="0">
                <a:solidFill>
                  <a:schemeClr val="tx1"/>
                </a:solidFill>
                <a:effectLst/>
                <a:latin typeface="Arial" panose="020B0604020202020204" pitchFamily="34" charset="0"/>
                <a:ea typeface="+mn-ea"/>
                <a:cs typeface="宋体" panose="02010600030101010101" pitchFamily="2" charset="-122"/>
              </a:rPr>
              <a:t>AutoCAD</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SolidWorks</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Pro/E</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CATIA</a:t>
            </a:r>
            <a:r>
              <a:rPr lang="zh-CN" altLang="zh-CN" sz="1200" kern="1200" dirty="0">
                <a:solidFill>
                  <a:schemeClr val="tx1"/>
                </a:solidFill>
                <a:effectLst/>
                <a:latin typeface="Arial" panose="020B0604020202020204" pitchFamily="34" charset="0"/>
                <a:ea typeface="+mn-ea"/>
                <a:cs typeface="宋体" panose="02010600030101010101" pitchFamily="2" charset="-122"/>
              </a:rPr>
              <a:t>等软件进行模型文件交互导入，可接受</a:t>
            </a:r>
            <a:r>
              <a:rPr lang="en-US" altLang="zh-CN" sz="1200" kern="1200" dirty="0">
                <a:solidFill>
                  <a:schemeClr val="tx1"/>
                </a:solidFill>
                <a:effectLst/>
                <a:latin typeface="Arial" panose="020B0604020202020204" pitchFamily="34" charset="0"/>
                <a:ea typeface="+mn-ea"/>
                <a:cs typeface="宋体" panose="02010600030101010101" pitchFamily="2" charset="-122"/>
              </a:rPr>
              <a:t>DWG</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PRT</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STP</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IGES</a:t>
            </a:r>
            <a:r>
              <a:rPr lang="zh-CN" altLang="zh-CN" sz="1200" kern="1200" dirty="0">
                <a:solidFill>
                  <a:schemeClr val="tx1"/>
                </a:solidFill>
                <a:effectLst/>
                <a:latin typeface="Arial" panose="020B0604020202020204" pitchFamily="34" charset="0"/>
                <a:ea typeface="+mn-ea"/>
                <a:cs typeface="宋体" panose="02010600030101010101" pitchFamily="2" charset="-122"/>
              </a:rPr>
              <a:t>等多种格式的文件导入，并与主流标准件公司的模型库有良好的兼容性，能够实现模型的顺利导入导出，用于更进一步的研究。在仿真分析时，设计平台将提供与</a:t>
            </a:r>
            <a:r>
              <a:rPr lang="en-US" altLang="zh-CN" sz="1200" kern="1200" dirty="0">
                <a:solidFill>
                  <a:schemeClr val="tx1"/>
                </a:solidFill>
                <a:effectLst/>
                <a:latin typeface="Arial" panose="020B0604020202020204" pitchFamily="34" charset="0"/>
                <a:ea typeface="+mn-ea"/>
                <a:cs typeface="宋体" panose="02010600030101010101" pitchFamily="2" charset="-122"/>
              </a:rPr>
              <a:t>MATLAB</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ANSYS</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ABAQUS</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a:solidFill>
                  <a:schemeClr val="tx1"/>
                </a:solidFill>
                <a:effectLst/>
                <a:latin typeface="Arial" panose="020B0604020202020204" pitchFamily="34" charset="0"/>
                <a:ea typeface="+mn-ea"/>
                <a:cs typeface="宋体" panose="02010600030101010101" pitchFamily="2" charset="-122"/>
              </a:rPr>
              <a:t>ADMAS</a:t>
            </a:r>
            <a:r>
              <a:rPr lang="zh-CN" altLang="zh-CN" sz="1200" kern="1200" dirty="0">
                <a:solidFill>
                  <a:schemeClr val="tx1"/>
                </a:solidFill>
                <a:effectLst/>
                <a:latin typeface="Arial" panose="020B0604020202020204" pitchFamily="34" charset="0"/>
                <a:ea typeface="+mn-ea"/>
                <a:cs typeface="宋体" panose="02010600030101010101" pitchFamily="2" charset="-122"/>
              </a:rPr>
              <a:t>、</a:t>
            </a:r>
            <a:r>
              <a:rPr lang="en-US" altLang="zh-CN" sz="1200" kern="1200" dirty="0" err="1">
                <a:solidFill>
                  <a:schemeClr val="tx1"/>
                </a:solidFill>
                <a:effectLst/>
                <a:latin typeface="Arial" panose="020B0604020202020204" pitchFamily="34" charset="0"/>
                <a:ea typeface="+mn-ea"/>
                <a:cs typeface="宋体" panose="02010600030101010101" pitchFamily="2" charset="-122"/>
              </a:rPr>
              <a:t>AMESim</a:t>
            </a:r>
            <a:r>
              <a:rPr lang="zh-CN" altLang="zh-CN" sz="1200" kern="1200" dirty="0">
                <a:solidFill>
                  <a:schemeClr val="tx1"/>
                </a:solidFill>
                <a:effectLst/>
                <a:latin typeface="Arial" panose="020B0604020202020204" pitchFamily="34" charset="0"/>
                <a:ea typeface="+mn-ea"/>
                <a:cs typeface="宋体" panose="02010600030101010101" pitchFamily="2" charset="-122"/>
              </a:rPr>
              <a:t>等主流仿真分析软件交互的接口，并提供二次开发的功能，保证总体设计平台对此类软件具有良好的兼容性。</a:t>
            </a:r>
          </a:p>
        </p:txBody>
      </p:sp>
      <p:sp>
        <p:nvSpPr>
          <p:cNvPr id="4" name="日期占位符 3"/>
          <p:cNvSpPr>
            <a:spLocks noGrp="1"/>
          </p:cNvSpPr>
          <p:nvPr>
            <p:ph type="dt" idx="1"/>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78933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130201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33711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954380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40095805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0244" y="4781014"/>
            <a:ext cx="5441950" cy="391174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6F55828-F1F8-4324-AC13-5BDDECD0B66B}" type="datetime1">
              <a:rPr kumimoji="0" lang="zh-CN" altLang="en-US" sz="1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2025/10/13</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62270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a:prstGeom prst="rect">
            <a:avLst/>
          </a:prstGeom>
        </p:spPr>
        <p:txBody>
          <a:bodyPr/>
          <a:lstStyle/>
          <a:p>
            <a:r>
              <a:rPr lang="zh-CN" altLang="en-US" noProof="1"/>
              <a:t>单击此处编辑母版标题样式</a:t>
            </a:r>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09600" y="1600200"/>
            <a:ext cx="109728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a:prstGeom prst="rect">
            <a:avLst/>
          </a:prstGeo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963613"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609600" y="1600200"/>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600200"/>
            <a:ext cx="54102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609600" y="1535113"/>
            <a:ext cx="53863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09600" y="2174875"/>
            <a:ext cx="53863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92838" y="1535113"/>
            <a:ext cx="5389562"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92838" y="2174875"/>
            <a:ext cx="5389562"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000000" cy="0"/>
          </a:xfrm>
          <a:prstGeom prst="line">
            <a:avLst/>
          </a:prstGeom>
          <a:solidFill>
            <a:schemeClr val="accent1"/>
          </a:solidFill>
          <a:ln w="22225" cap="flat" cmpd="sng" algn="ctr">
            <a:solidFill>
              <a:srgbClr val="C00000"/>
            </a:solidFill>
            <a:prstDash val="solid"/>
            <a:round/>
            <a:headEnd type="none" w="med" len="med"/>
            <a:tailEnd type="none" w="med" len="med"/>
          </a:ln>
        </p:spPr>
      </p:cxn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9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1" name="文本框 40">
            <a:extLst>
              <a:ext uri="{FF2B5EF4-FFF2-40B4-BE49-F238E27FC236}">
                <a16:creationId xmlns:a16="http://schemas.microsoft.com/office/drawing/2014/main" id="{3B6CAA62-464D-4575-A778-395140FD1603}"/>
              </a:ext>
            </a:extLst>
          </p:cNvPr>
          <p:cNvSpPr>
            <a:spLocks noChangeArrowheads="1"/>
          </p:cNvSpPr>
          <p:nvPr userDrawn="1"/>
        </p:nvSpPr>
        <p:spPr bwMode="auto">
          <a:xfrm>
            <a:off x="360000" y="100957"/>
            <a:ext cx="5588082" cy="769441"/>
          </a:xfrm>
          <a:prstGeom prst="rect">
            <a:avLst/>
          </a:prstGeom>
          <a:noFill/>
          <a:ln w="9525">
            <a:noFill/>
            <a:miter lim="800000"/>
          </a:ln>
        </p:spPr>
        <p:txBody>
          <a:bodyPr wrap="square">
            <a:spAutoFit/>
          </a:bodyPr>
          <a:lstStyle/>
          <a:p>
            <a:r>
              <a:rPr lang="en-US" altLang="zh-CN" sz="4400" b="1" dirty="0">
                <a:solidFill>
                  <a:srgbClr val="4B4B4B"/>
                </a:solidFill>
                <a:latin typeface="+mn-ea"/>
                <a:ea typeface="+mn-ea"/>
                <a:sym typeface="+mn-ea"/>
              </a:rPr>
              <a:t>CONTENT</a:t>
            </a:r>
            <a:endParaRPr lang="zh-CN" altLang="en-US" sz="4000" b="1" dirty="0">
              <a:solidFill>
                <a:srgbClr val="4B4B4B"/>
              </a:solidFill>
              <a:latin typeface="+mn-ea"/>
              <a:ea typeface="+mn-ea"/>
              <a:sym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69E41F0A-5A63-45C9-882B-8F51E7F15378}"/>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36099923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8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1" name="文本框 40">
            <a:extLst>
              <a:ext uri="{FF2B5EF4-FFF2-40B4-BE49-F238E27FC236}">
                <a16:creationId xmlns:a16="http://schemas.microsoft.com/office/drawing/2014/main" id="{3B6CAA62-464D-4575-A778-395140FD1603}"/>
              </a:ext>
            </a:extLst>
          </p:cNvPr>
          <p:cNvSpPr>
            <a:spLocks noChangeArrowheads="1"/>
          </p:cNvSpPr>
          <p:nvPr userDrawn="1"/>
        </p:nvSpPr>
        <p:spPr bwMode="auto">
          <a:xfrm>
            <a:off x="360000" y="100957"/>
            <a:ext cx="5588082" cy="769441"/>
          </a:xfrm>
          <a:prstGeom prst="rect">
            <a:avLst/>
          </a:prstGeom>
          <a:noFill/>
          <a:ln w="9525">
            <a:noFill/>
            <a:miter lim="800000"/>
          </a:ln>
        </p:spPr>
        <p:txBody>
          <a:bodyPr wrap="square">
            <a:spAutoFit/>
          </a:bodyPr>
          <a:lstStyle/>
          <a:p>
            <a:r>
              <a:rPr lang="zh-CN" altLang="en-US" sz="4400" b="1" dirty="0">
                <a:solidFill>
                  <a:srgbClr val="4B4B4B"/>
                </a:solidFill>
                <a:latin typeface="+mn-ea"/>
                <a:ea typeface="+mn-ea"/>
                <a:sym typeface="+mn-ea"/>
              </a:rPr>
              <a:t>研究背景</a:t>
            </a:r>
            <a:endParaRPr lang="zh-CN" altLang="en-US" sz="4000" b="1" dirty="0">
              <a:solidFill>
                <a:srgbClr val="4B4B4B"/>
              </a:solidFill>
              <a:latin typeface="+mn-ea"/>
              <a:ea typeface="+mn-ea"/>
              <a:sym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4ED6072B-61D8-4B89-B2F9-258CE81C7DBC}"/>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2950022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01</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3B934867-615D-4C04-AA09-5FE3788FA4D1}"/>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38418379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02</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2D5A823E-754F-49C4-8B49-6C3D1FC9AA8C}"/>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1185071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03</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F2C6E34F-3A6D-4C32-983B-E28438517BD7}"/>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866814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04</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362BB357-1F17-49CB-9CEA-445713B9708E}"/>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34510966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05</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D8125B6C-3CFA-4B1B-B303-A7A2A584E78D}"/>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4951605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7_空白">
    <p:spTree>
      <p:nvGrpSpPr>
        <p:cNvPr id="1" name=""/>
        <p:cNvGrpSpPr/>
        <p:nvPr/>
      </p:nvGrpSpPr>
      <p:grpSpPr>
        <a:xfrm>
          <a:off x="0" y="0"/>
          <a:ext cx="0" cy="0"/>
          <a:chOff x="0" y="0"/>
          <a:chExt cx="0" cy="0"/>
        </a:xfrm>
      </p:grpSpPr>
      <p:grpSp>
        <p:nvGrpSpPr>
          <p:cNvPr id="2" name="组合 1"/>
          <p:cNvGrpSpPr/>
          <p:nvPr userDrawn="1"/>
        </p:nvGrpSpPr>
        <p:grpSpPr>
          <a:xfrm>
            <a:off x="10029825" y="419100"/>
            <a:ext cx="1926590" cy="445770"/>
            <a:chOff x="15810" y="765"/>
            <a:chExt cx="3034" cy="702"/>
          </a:xfrm>
        </p:grpSpPr>
        <p:sp>
          <p:nvSpPr>
            <p:cNvPr id="3" name="矩形 1"/>
            <p:cNvSpPr/>
            <p:nvPr/>
          </p:nvSpPr>
          <p:spPr>
            <a:xfrm>
              <a:off x="17525" y="910"/>
              <a:ext cx="410" cy="413"/>
            </a:xfrm>
            <a:prstGeom prst="rect">
              <a:avLst/>
            </a:prstGeom>
            <a:solidFill>
              <a:srgbClr val="E72A2E">
                <a:alpha val="5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4" name="矩形 3"/>
            <p:cNvSpPr/>
            <p:nvPr/>
          </p:nvSpPr>
          <p:spPr>
            <a:xfrm>
              <a:off x="16953" y="910"/>
              <a:ext cx="410" cy="413"/>
            </a:xfrm>
            <a:prstGeom prst="rect">
              <a:avLst/>
            </a:prstGeom>
            <a:solidFill>
              <a:srgbClr val="E72A2E">
                <a:alpha val="79999"/>
              </a:srgbClr>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5" name="矩形 4"/>
            <p:cNvSpPr/>
            <p:nvPr/>
          </p:nvSpPr>
          <p:spPr>
            <a:xfrm>
              <a:off x="16380" y="910"/>
              <a:ext cx="413" cy="413"/>
            </a:xfrm>
            <a:prstGeom prst="rect">
              <a:avLst/>
            </a:prstGeom>
            <a:solidFill>
              <a:srgbClr val="E72A2E"/>
            </a:solidFill>
            <a:ln w="12700">
              <a:noFill/>
            </a:ln>
          </p:spPr>
          <p:txBody>
            <a:bodyPr anchor="ctr"/>
            <a:lstStyle/>
            <a:p>
              <a:pPr lvl="0" algn="ctr" eaLnBrk="1" hangingPunct="1"/>
              <a:endParaRPr lang="zh-CN" altLang="zh-CN" dirty="0">
                <a:solidFill>
                  <a:srgbClr val="FFFFFF"/>
                </a:solidFill>
                <a:latin typeface="+mn-ea"/>
                <a:ea typeface="+mn-ea"/>
              </a:endParaRPr>
            </a:p>
          </p:txBody>
        </p:sp>
        <p:sp>
          <p:nvSpPr>
            <p:cNvPr id="6" name="矩形 5"/>
            <p:cNvSpPr/>
            <p:nvPr/>
          </p:nvSpPr>
          <p:spPr>
            <a:xfrm>
              <a:off x="15810" y="910"/>
              <a:ext cx="410" cy="413"/>
            </a:xfrm>
            <a:prstGeom prst="rect">
              <a:avLst/>
            </a:prstGeom>
            <a:solidFill>
              <a:srgbClr val="4B4B4B"/>
            </a:solidFill>
            <a:ln w="12700">
              <a:noFill/>
            </a:ln>
          </p:spPr>
          <p:txBody>
            <a:bodyPr anchor="ctr"/>
            <a:lstStyle/>
            <a:p>
              <a:pPr lvl="0" algn="ctr" eaLnBrk="1" hangingPunct="1"/>
              <a:endParaRPr lang="zh-CN" altLang="zh-CN" dirty="0">
                <a:solidFill>
                  <a:srgbClr val="FFFFFF"/>
                </a:solidFill>
                <a:latin typeface="+mn-ea"/>
                <a:ea typeface="+mn-ea"/>
              </a:endParaRPr>
            </a:p>
          </p:txBody>
        </p:sp>
        <p:pic>
          <p:nvPicPr>
            <p:cNvPr id="7" name="图片 26" descr="logo1.gif"/>
            <p:cNvPicPr>
              <a:picLocks noChangeAspect="1"/>
            </p:cNvPicPr>
            <p:nvPr/>
          </p:nvPicPr>
          <p:blipFill>
            <a:blip r:embed="rId2"/>
            <a:stretch>
              <a:fillRect/>
            </a:stretch>
          </p:blipFill>
          <p:spPr>
            <a:xfrm>
              <a:off x="18090" y="765"/>
              <a:ext cx="755" cy="703"/>
            </a:xfrm>
            <a:prstGeom prst="rect">
              <a:avLst/>
            </a:prstGeom>
            <a:noFill/>
            <a:ln w="9525">
              <a:noFill/>
            </a:ln>
          </p:spPr>
        </p:pic>
      </p:grpSp>
      <p:cxnSp>
        <p:nvCxnSpPr>
          <p:cNvPr id="9" name="直接连接符 8"/>
          <p:cNvCxnSpPr/>
          <p:nvPr userDrawn="1"/>
        </p:nvCxnSpPr>
        <p:spPr bwMode="auto">
          <a:xfrm>
            <a:off x="360000" y="936000"/>
            <a:ext cx="9360000" cy="0"/>
          </a:xfrm>
          <a:prstGeom prst="line">
            <a:avLst/>
          </a:prstGeom>
          <a:solidFill>
            <a:schemeClr val="accent1"/>
          </a:solidFill>
          <a:ln w="22225" cap="flat" cmpd="sng" algn="ctr">
            <a:solidFill>
              <a:srgbClr val="C00000"/>
            </a:solidFill>
            <a:prstDash val="solid"/>
            <a:round/>
            <a:headEnd type="none" w="med" len="med"/>
            <a:tailEnd type="none" w="med" len="med"/>
          </a:ln>
        </p:spPr>
      </p:cxnSp>
      <p:sp>
        <p:nvSpPr>
          <p:cNvPr id="10" name="文本框 9">
            <a:extLst>
              <a:ext uri="{FF2B5EF4-FFF2-40B4-BE49-F238E27FC236}">
                <a16:creationId xmlns:a16="http://schemas.microsoft.com/office/drawing/2014/main" id="{B2B254C9-7827-4A1B-BD9E-C13AF642D12F}"/>
              </a:ext>
            </a:extLst>
          </p:cNvPr>
          <p:cNvSpPr txBox="1"/>
          <p:nvPr userDrawn="1"/>
        </p:nvSpPr>
        <p:spPr>
          <a:xfrm>
            <a:off x="360000" y="35856"/>
            <a:ext cx="694746" cy="892552"/>
          </a:xfrm>
          <a:prstGeom prst="rect">
            <a:avLst/>
          </a:prstGeom>
          <a:noFill/>
        </p:spPr>
        <p:txBody>
          <a:bodyPr wrap="square" rtlCol="0">
            <a:spAutoFit/>
          </a:bodyPr>
          <a:lstStyle/>
          <a:p>
            <a:pPr algn="ctr"/>
            <a:r>
              <a:rPr lang="en-US" altLang="zh-CN" sz="3600" dirty="0">
                <a:solidFill>
                  <a:srgbClr val="4B4B4B"/>
                </a:solidFill>
                <a:latin typeface="Impact" panose="020B0806030902050204" pitchFamily="34" charset="0"/>
              </a:rPr>
              <a:t>06</a:t>
            </a:r>
          </a:p>
          <a:p>
            <a:pPr algn="ctr">
              <a:lnSpc>
                <a:spcPct val="80000"/>
              </a:lnSpc>
            </a:pPr>
            <a:r>
              <a:rPr lang="en-US" altLang="zh-CN" sz="2000" dirty="0">
                <a:solidFill>
                  <a:srgbClr val="4B4B4B"/>
                </a:solidFill>
                <a:latin typeface="微软雅黑" panose="020B0503020204020204" pitchFamily="34" charset="-122"/>
                <a:ea typeface="微软雅黑" panose="020B0503020204020204" pitchFamily="34" charset="-122"/>
              </a:rPr>
              <a:t>Part</a:t>
            </a:r>
            <a:endParaRPr lang="zh-CN" altLang="en-US" sz="2000" dirty="0">
              <a:solidFill>
                <a:srgbClr val="4B4B4B"/>
              </a:solidFill>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F561A68-392B-4039-9935-49AFA73D0847}"/>
              </a:ext>
            </a:extLst>
          </p:cNvPr>
          <p:cNvCxnSpPr>
            <a:cxnSpLocks/>
          </p:cNvCxnSpPr>
          <p:nvPr userDrawn="1"/>
        </p:nvCxnSpPr>
        <p:spPr>
          <a:xfrm>
            <a:off x="0" y="6365010"/>
            <a:ext cx="121920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20ACAE39-F9E0-4755-BDD5-C7D1760E4E97}"/>
              </a:ext>
            </a:extLst>
          </p:cNvPr>
          <p:cNvPicPr>
            <a:picLocks noChangeAspect="1"/>
          </p:cNvPicPr>
          <p:nvPr userDrawn="1"/>
        </p:nvPicPr>
        <p:blipFill>
          <a:blip r:embed="rId3"/>
          <a:stretch>
            <a:fillRect/>
          </a:stretch>
        </p:blipFill>
        <p:spPr>
          <a:xfrm>
            <a:off x="7591238" y="6363153"/>
            <a:ext cx="4521708" cy="536448"/>
          </a:xfrm>
          <a:prstGeom prst="rect">
            <a:avLst/>
          </a:prstGeom>
        </p:spPr>
      </p:pic>
    </p:spTree>
    <p:extLst>
      <p:ext uri="{BB962C8B-B14F-4D97-AF65-F5344CB8AC3E}">
        <p14:creationId xmlns:p14="http://schemas.microsoft.com/office/powerpoint/2010/main" val="10803939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bg1">
            <a:lumMod val="95000"/>
          </a:schemeClr>
        </a:solidFill>
        <a:effectLst/>
      </p:bgPr>
    </p:bg>
    <p:spTree>
      <p:nvGrpSpPr>
        <p:cNvPr id="1" name=""/>
        <p:cNvGrpSpPr/>
        <p:nvPr/>
      </p:nvGrpSpPr>
      <p:grpSpPr>
        <a:xfrm>
          <a:off x="0" y="0"/>
          <a:ext cx="0" cy="0"/>
          <a:chOff x="0" y="0"/>
          <a:chExt cx="0" cy="0"/>
        </a:xfrm>
      </p:grpSpPr>
      <p:sp>
        <p:nvSpPr>
          <p:cNvPr id="2" name="矩形 1"/>
          <p:cNvSpPr/>
          <p:nvPr userDrawn="1"/>
        </p:nvSpPr>
        <p:spPr bwMode="auto">
          <a:xfrm>
            <a:off x="0" y="267128"/>
            <a:ext cx="246580" cy="739740"/>
          </a:xfrm>
          <a:prstGeom prst="rect">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a:prstGeom prst="rect">
            <a:avLst/>
          </a:prstGeo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4767263" y="273050"/>
            <a:ext cx="681513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09600" y="1435100"/>
            <a:ext cx="40116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a:prstGeom prst="rect">
            <a:avLst/>
          </a:prstGeo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2389188"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微软雅黑" panose="020B0503020204020204" pitchFamily="34" charset="-122"/>
              <a:sym typeface="Calibri" panose="020F0502020204030204" pitchFamily="34" charset="0"/>
            </a:endParaRPr>
          </a:p>
        </p:txBody>
      </p:sp>
      <p:sp>
        <p:nvSpPr>
          <p:cNvPr id="4" name="文本占位符 3"/>
          <p:cNvSpPr>
            <a:spLocks noGrp="1"/>
          </p:cNvSpPr>
          <p:nvPr>
            <p:ph type="body" sz="half" idx="2"/>
          </p:nvPr>
        </p:nvSpPr>
        <p:spPr>
          <a:xfrm>
            <a:off x="2389188"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609600" y="1600200"/>
            <a:ext cx="10972800" cy="4525963"/>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274638"/>
            <a:ext cx="8077200" cy="5851525"/>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noProof="1"/>
              <a:t>单击此处编辑母版标题样式</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3" y="188913"/>
            <a:ext cx="10363200" cy="116205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1422401" y="1981200"/>
            <a:ext cx="5050367" cy="413385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675967" y="1981200"/>
            <a:ext cx="5052484" cy="413385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a:xfrm>
            <a:off x="1422400" y="6324600"/>
            <a:ext cx="2540000" cy="457200"/>
          </a:xfrm>
          <a:prstGeom prst="rect">
            <a:avLst/>
          </a:prstGeom>
        </p:spPr>
        <p:txBody>
          <a:bodyPr/>
          <a:lstStyle>
            <a:lvl1pPr>
              <a:defRPr/>
            </a:lvl1pPr>
          </a:lstStyle>
          <a:p>
            <a:pPr>
              <a:defRPr/>
            </a:pPr>
            <a:endParaRPr lang="en-US" altLang="zh-CN"/>
          </a:p>
        </p:txBody>
      </p:sp>
      <p:sp>
        <p:nvSpPr>
          <p:cNvPr id="6" name="Rectangle 8"/>
          <p:cNvSpPr>
            <a:spLocks noGrp="1" noChangeArrowheads="1"/>
          </p:cNvSpPr>
          <p:nvPr>
            <p:ph type="ftr" sz="quarter" idx="11"/>
          </p:nvPr>
        </p:nvSpPr>
        <p:spPr>
          <a:xfrm>
            <a:off x="4673600" y="6324600"/>
            <a:ext cx="3860800" cy="457200"/>
          </a:xfrm>
          <a:prstGeom prst="rect">
            <a:avLst/>
          </a:prstGeom>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xfrm>
            <a:off x="9245600" y="6324600"/>
            <a:ext cx="2540000" cy="457200"/>
          </a:xfrm>
          <a:prstGeom prst="rect">
            <a:avLst/>
          </a:prstGeom>
        </p:spPr>
        <p:txBody>
          <a:bodyPr/>
          <a:lstStyle>
            <a:lvl1pPr>
              <a:defRPr/>
            </a:lvl1pPr>
          </a:lstStyle>
          <a:p>
            <a:pPr>
              <a:defRPr/>
            </a:pPr>
            <a:fld id="{3FE2AD5D-F230-49D2-ABD8-4DF0509EB00D}" type="slidenum">
              <a:rPr lang="en-US" altLang="zh-CN"/>
              <a:t>‹#›</a:t>
            </a:fld>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节标题">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405331"/>
            <a:ext cx="10566400" cy="0"/>
          </a:xfrm>
          <a:prstGeom prst="line">
            <a:avLst/>
          </a:prstGeom>
          <a:noFill/>
          <a:ln w="3175">
            <a:solidFill>
              <a:srgbClr val="FF0000"/>
            </a:solidFill>
            <a:round/>
          </a:ln>
        </p:spPr>
        <p:txBody>
          <a:bodyPr/>
          <a:lstStyle/>
          <a:p>
            <a:pPr eaLnBrk="0" hangingPunct="0">
              <a:defRPr/>
            </a:pPr>
            <a:endParaRPr lang="zh-CN" altLang="en-US"/>
          </a:p>
        </p:txBody>
      </p:sp>
      <p:grpSp>
        <p:nvGrpSpPr>
          <p:cNvPr id="5" name="Group 9"/>
          <p:cNvGrpSpPr/>
          <p:nvPr/>
        </p:nvGrpSpPr>
        <p:grpSpPr bwMode="auto">
          <a:xfrm>
            <a:off x="529167" y="1265767"/>
            <a:ext cx="11239500" cy="95251"/>
            <a:chOff x="385" y="617"/>
            <a:chExt cx="5080" cy="46"/>
          </a:xfrm>
          <a:solidFill>
            <a:srgbClr val="FF0000"/>
          </a:solidFill>
        </p:grpSpPr>
        <p:sp>
          <p:nvSpPr>
            <p:cNvPr id="6" name="Rectangle 10"/>
            <p:cNvSpPr>
              <a:spLocks noChangeArrowheads="1"/>
            </p:cNvSpPr>
            <p:nvPr/>
          </p:nvSpPr>
          <p:spPr bwMode="auto">
            <a:xfrm>
              <a:off x="385" y="617"/>
              <a:ext cx="2722" cy="46"/>
            </a:xfrm>
            <a:prstGeom prst="rect">
              <a:avLst/>
            </a:prstGeom>
            <a:grpFill/>
            <a:ln>
              <a:solidFill>
                <a:srgbClr val="FF0000"/>
              </a:solidFill>
            </a:ln>
            <a:effectLst>
              <a:outerShdw dist="45791" dir="3378596" algn="ctr" rotWithShape="0">
                <a:schemeClr val="bg2"/>
              </a:outerShdw>
            </a:effectLst>
          </p:spPr>
          <p:txBody>
            <a:bodyPr wrap="none"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defRPr/>
              </a:pPr>
              <a:endParaRPr lang="zh-CN" altLang="en-US"/>
            </a:p>
          </p:txBody>
        </p:sp>
        <p:sp>
          <p:nvSpPr>
            <p:cNvPr id="7" name="Line 11"/>
            <p:cNvSpPr>
              <a:spLocks noChangeShapeType="1"/>
            </p:cNvSpPr>
            <p:nvPr/>
          </p:nvSpPr>
          <p:spPr bwMode="auto">
            <a:xfrm>
              <a:off x="385" y="663"/>
              <a:ext cx="5080" cy="0"/>
            </a:xfrm>
            <a:prstGeom prst="line">
              <a:avLst/>
            </a:prstGeom>
            <a:grpFill/>
            <a:ln w="19050">
              <a:solidFill>
                <a:srgbClr val="FF0000"/>
              </a:solidFill>
              <a:round/>
            </a:ln>
            <a:effectLst>
              <a:outerShdw dist="45791" dir="3378596" algn="ctr" rotWithShape="0">
                <a:schemeClr val="bg2"/>
              </a:outerShdw>
            </a:effectLst>
          </p:spPr>
          <p:txBody>
            <a:bodyPr/>
            <a:lstStyle/>
            <a:p>
              <a:pPr eaLnBrk="0" hangingPunct="0">
                <a:defRPr/>
              </a:pPr>
              <a:endParaRPr lang="zh-CN" altLang="en-US"/>
            </a:p>
          </p:txBody>
        </p:sp>
      </p:grpSp>
      <p:sp>
        <p:nvSpPr>
          <p:cNvPr id="8" name="Rectangle 7"/>
          <p:cNvSpPr txBox="1">
            <a:spLocks noChangeArrowheads="1"/>
          </p:cNvSpPr>
          <p:nvPr userDrawn="1"/>
        </p:nvSpPr>
        <p:spPr>
          <a:xfrm>
            <a:off x="714501" y="6405331"/>
            <a:ext cx="11106151" cy="413759"/>
          </a:xfrm>
          <a:prstGeom prst="rect">
            <a:avLst/>
          </a:prstGeom>
        </p:spPr>
        <p:txBody>
          <a:bodyPr/>
          <a:lstStyle/>
          <a:p>
            <a:pPr>
              <a:spcBef>
                <a:spcPts val="1600"/>
              </a:spcBef>
              <a:defRPr/>
            </a:pP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2018-06-28 </a:t>
            </a:r>
            <a:r>
              <a:rPr lang="en-US" altLang="zh-CN" sz="2400" b="1" i="1" baseline="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i="1" dirty="0">
                <a:latin typeface="Times New Roman" panose="02020603050405020304" pitchFamily="18" charset="0"/>
                <a:ea typeface="黑体" panose="02010609060101010101" pitchFamily="49" charset="-122"/>
                <a:cs typeface="Times New Roman" panose="02020603050405020304" pitchFamily="18" charset="0"/>
              </a:rPr>
              <a:t>                                                   同济大学</a:t>
            </a:r>
            <a:r>
              <a:rPr lang="en-US" altLang="zh-CN" sz="2400" b="1" i="1" dirty="0">
                <a:latin typeface="Times New Roman" panose="02020603050405020304" pitchFamily="18" charset="0"/>
                <a:ea typeface="黑体" panose="02010609060101010101" pitchFamily="49" charset="-122"/>
                <a:cs typeface="Times New Roman" panose="02020603050405020304" pitchFamily="18" charset="0"/>
              </a:rPr>
              <a:t>1907</a:t>
            </a:r>
            <a:endParaRPr lang="zh-CN" altLang="en-US" sz="2400" b="1"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标题 1"/>
          <p:cNvSpPr>
            <a:spLocks noGrp="1"/>
          </p:cNvSpPr>
          <p:nvPr>
            <p:ph type="title"/>
          </p:nvPr>
        </p:nvSpPr>
        <p:spPr>
          <a:xfrm>
            <a:off x="1493723" y="255628"/>
            <a:ext cx="9150380" cy="820739"/>
          </a:xfrm>
          <a:prstGeom prst="rect">
            <a:avLst/>
          </a:prstGeom>
        </p:spPr>
        <p:txBody>
          <a:bodyPr/>
          <a:lstStyle>
            <a:lvl1pPr>
              <a:defRPr sz="4265" b="1">
                <a:solidFill>
                  <a:srgbClr val="0000FF"/>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10" name="内容占位符 2"/>
          <p:cNvSpPr>
            <a:spLocks noGrp="1"/>
          </p:cNvSpPr>
          <p:nvPr>
            <p:ph idx="1"/>
          </p:nvPr>
        </p:nvSpPr>
        <p:spPr>
          <a:xfrm>
            <a:off x="755651" y="1452218"/>
            <a:ext cx="10668000" cy="3760303"/>
          </a:xfrm>
          <a:prstGeom prst="rect">
            <a:avLst/>
          </a:prstGeom>
          <a:ln>
            <a:noFill/>
          </a:ln>
        </p:spPr>
        <p:txBody>
          <a:bodyPr/>
          <a:lstStyle>
            <a:lvl1pPr>
              <a:lnSpc>
                <a:spcPct val="130000"/>
              </a:lnSpc>
              <a:buClr>
                <a:srgbClr val="FF0000"/>
              </a:buClr>
              <a:buFont typeface="Wingdings" panose="05000000000000000000" pitchFamily="2" charset="2"/>
              <a:buChar char="Ü"/>
              <a:defRPr sz="3200" b="1">
                <a:latin typeface="黑体" panose="02010609060101010101" pitchFamily="49" charset="-122"/>
                <a:ea typeface="黑体" panose="02010609060101010101" pitchFamily="49" charset="-122"/>
              </a:defRPr>
            </a:lvl1pPr>
            <a:lvl2pPr>
              <a:buClr>
                <a:srgbClr val="FF0000"/>
              </a:buCl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2" name="图片 11" descr="同济原版.png"/>
          <p:cNvPicPr>
            <a:picLocks noChangeAspect="1"/>
          </p:cNvPicPr>
          <p:nvPr userDrawn="1"/>
        </p:nvPicPr>
        <p:blipFill>
          <a:blip r:embed="rId2" cstate="print"/>
          <a:stretch>
            <a:fillRect/>
          </a:stretch>
        </p:blipFill>
        <p:spPr>
          <a:xfrm>
            <a:off x="592406" y="266569"/>
            <a:ext cx="794908" cy="86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Default">
    <p:bg>
      <p:bgPr>
        <a:solidFill>
          <a:schemeClr val="bg1"/>
        </a:solidFill>
        <a:effectLst/>
      </p:bgPr>
    </p:bg>
    <p:spTree>
      <p:nvGrpSpPr>
        <p:cNvPr id="1" name=""/>
        <p:cNvGrpSpPr/>
        <p:nvPr/>
      </p:nvGrpSpPr>
      <p:grpSpPr>
        <a:xfrm>
          <a:off x="0" y="0"/>
          <a:ext cx="0" cy="0"/>
          <a:chOff x="0" y="0"/>
          <a:chExt cx="0" cy="0"/>
        </a:xfrm>
      </p:grpSpPr>
      <p:sp>
        <p:nvSpPr>
          <p:cNvPr id="7" name="矩形"/>
          <p:cNvSpPr>
            <a:spLocks noChangeArrowheads="1"/>
          </p:cNvSpPr>
          <p:nvPr/>
        </p:nvSpPr>
        <p:spPr bwMode="auto">
          <a:xfrm flipV="1">
            <a:off x="0" y="6435725"/>
            <a:ext cx="12192000" cy="449263"/>
          </a:xfrm>
          <a:prstGeom prst="rect">
            <a:avLst/>
          </a:prstGeom>
          <a:solidFill>
            <a:srgbClr val="CCCCC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05" rIns="45705" anchor="ctr"/>
          <a:lstStyle>
            <a:lvl1pPr defTabSz="1217295">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defTabSz="1217295">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defTabSz="1217295">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defTabSz="1217295">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defTabSz="1217295">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defTabSz="12172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12172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12172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121729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1217295" rtl="0" eaLnBrk="0" fontAlgn="base" latinLnBrk="0" hangingPunct="0">
              <a:lnSpc>
                <a:spcPct val="100000"/>
              </a:lnSpc>
              <a:spcBef>
                <a:spcPct val="0"/>
              </a:spcBef>
              <a:spcAft>
                <a:spcPct val="0"/>
              </a:spcAft>
              <a:buClrTx/>
              <a:buSzTx/>
              <a:buFontTx/>
              <a:buNone/>
              <a:defRPr/>
            </a:pPr>
            <a:endParaRPr kumimoji="0" lang="zh-CN" altLang="zh-CN" sz="1400" b="1" i="0" u="none" strike="noStrike" kern="1200" cap="none" spc="0" normalizeH="0" baseline="-25000" noProof="0">
              <a:ln>
                <a:noFill/>
              </a:ln>
              <a:solidFill>
                <a:srgbClr val="FFFFFF"/>
              </a:solidFill>
              <a:effectLst/>
              <a:uLnTx/>
              <a:uFillTx/>
              <a:latin typeface="黑体" panose="02010609060101010101" pitchFamily="49" charset="-122"/>
              <a:ea typeface="黑体" panose="02010609060101010101" pitchFamily="49" charset="-122"/>
              <a:cs typeface="+mn-cs"/>
              <a:sym typeface="黑体" panose="02010609060101010101" pitchFamily="49" charset="-122"/>
            </a:endParaRPr>
          </a:p>
        </p:txBody>
      </p:sp>
      <p:sp>
        <p:nvSpPr>
          <p:cNvPr id="8" name="幻灯片编号"/>
          <p:cNvSpPr txBox="1">
            <a:spLocks noGrp="1"/>
          </p:cNvSpPr>
          <p:nvPr>
            <p:ph type="sldNum" sz="quarter" idx="4"/>
          </p:nvPr>
        </p:nvSpPr>
        <p:spPr bwMode="auto">
          <a:xfrm>
            <a:off x="11820525" y="6516688"/>
            <a:ext cx="301625" cy="307975"/>
          </a:xfrm>
          <a:prstGeom prst="rect">
            <a:avLst/>
          </a:prstGeom>
          <a:ln>
            <a:miter lim="800000"/>
          </a:ln>
        </p:spPr>
        <p:txBody>
          <a:bodyPr vert="horz" wrap="square" lIns="91424" tIns="45712" rIns="91424" bIns="45712" numCol="1" anchor="t" anchorCtr="0" compatLnSpc="1"/>
          <a:lstStyle>
            <a:lvl1pPr>
              <a:defRPr/>
            </a:lvl1pPr>
          </a:lstStyle>
          <a:p>
            <a:pPr marL="0" marR="0" lvl="0" indent="0" algn="r" defTabSz="1218565" rtl="0" eaLnBrk="1" fontAlgn="base" latinLnBrk="0" hangingPunct="1">
              <a:lnSpc>
                <a:spcPct val="100000"/>
              </a:lnSpc>
              <a:spcBef>
                <a:spcPct val="0"/>
              </a:spcBef>
              <a:spcAft>
                <a:spcPct val="0"/>
              </a:spcAft>
              <a:buClrTx/>
              <a:buSzTx/>
              <a:buFont typeface="Arial" panose="020B0604020202020204" pitchFamily="34" charset="0"/>
              <a:buNone/>
              <a:defRPr/>
            </a:pPr>
            <a:fld id="{BDCFCF58-592E-49D8-9BAA-6B1AA567BDF6}" type="slidenum">
              <a:rPr kumimoji="0" lang="en-US" altLang="zh-CN" sz="186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rPr>
              <a:t>‹#›</a:t>
            </a:fld>
            <a:endParaRPr kumimoji="0" lang="zh-CN" altLang="en-US" sz="1865"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 name="日期占位符 1"/>
          <p:cNvSpPr>
            <a:spLocks noGrp="1"/>
          </p:cNvSpPr>
          <p:nvPr>
            <p:ph type="dt" sz="half" idx="10"/>
          </p:nvPr>
        </p:nvSpPr>
        <p:spPr>
          <a:xfrm>
            <a:off x="609600" y="6243638"/>
            <a:ext cx="2844800" cy="476250"/>
          </a:xfrm>
          <a:prstGeom prst="rect">
            <a:avLst/>
          </a:prstGeom>
        </p:spPr>
        <p:txBody>
          <a:bodyPr/>
          <a:lstStyle/>
          <a:p>
            <a:pPr marL="0" marR="0" lvl="0" indent="0" algn="l" defTabSz="121856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86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3638"/>
            <a:ext cx="3860800" cy="476250"/>
          </a:xfrm>
          <a:prstGeom prst="rect">
            <a:avLst/>
          </a:prstGeom>
        </p:spPr>
        <p:txBody>
          <a:bodyPr/>
          <a:lstStyle/>
          <a:p>
            <a:pPr marL="0" marR="0" lvl="0" indent="0" algn="ctr" defTabSz="1218565"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865"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タイトルとコンテンツ">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81" r:id="rId8"/>
    <p:sldLayoutId id="2147483680" r:id="rId9"/>
    <p:sldLayoutId id="2147483667" r:id="rId10"/>
    <p:sldLayoutId id="2147483675" r:id="rId11"/>
    <p:sldLayoutId id="2147483676" r:id="rId12"/>
    <p:sldLayoutId id="2147483677" r:id="rId13"/>
    <p:sldLayoutId id="2147483678" r:id="rId14"/>
    <p:sldLayoutId id="2147483679" r:id="rId15"/>
    <p:sldLayoutId id="2147483656" r:id="rId16"/>
    <p:sldLayoutId id="2147483657" r:id="rId17"/>
    <p:sldLayoutId id="2147483658" r:id="rId18"/>
    <p:sldLayoutId id="2147483659" r:id="rId19"/>
    <p:sldLayoutId id="2147483660" r:id="rId20"/>
    <p:sldLayoutId id="2147483661" r:id="rId21"/>
    <p:sldLayoutId id="2147483662" r:id="rId22"/>
    <p:sldLayoutId id="2147483663" r:id="rId23"/>
    <p:sldLayoutId id="2147483664" r:id="rId24"/>
    <p:sldLayoutId id="2147483665" r:id="rId25"/>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marL="914400" indent="-914400" algn="l" rtl="0" eaLnBrk="0" fontAlgn="base" hangingPunct="0">
        <a:lnSpc>
          <a:spcPct val="90000"/>
        </a:lnSpc>
        <a:spcBef>
          <a:spcPct val="0"/>
        </a:spcBef>
        <a:spcAft>
          <a:spcPct val="0"/>
        </a:spcAft>
        <a:defRPr sz="4400">
          <a:solidFill>
            <a:schemeClr val="tx1"/>
          </a:solidFill>
          <a:latin typeface="+mj-lt"/>
          <a:ea typeface="+mj-ea"/>
          <a:cs typeface="微软雅黑" panose="020B0503020204020204" pitchFamily="34" charset="-122"/>
          <a:sym typeface="Calibri Light" panose="020F0302020204030204" pitchFamily="34" charset="0"/>
        </a:defRPr>
      </a:lvl1pPr>
      <a:lvl2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cs typeface="微软雅黑" panose="020B0503020204020204" pitchFamily="34" charset="-122"/>
          <a:sym typeface="Calibri Light" panose="020F0302020204030204" pitchFamily="34" charset="0"/>
        </a:defRPr>
      </a:lvl2pPr>
      <a:lvl3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cs typeface="微软雅黑" panose="020B0503020204020204" pitchFamily="34" charset="-122"/>
          <a:sym typeface="Calibri Light" panose="020F0302020204030204" pitchFamily="34" charset="0"/>
        </a:defRPr>
      </a:lvl3pPr>
      <a:lvl4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cs typeface="微软雅黑" panose="020B0503020204020204" pitchFamily="34" charset="-122"/>
          <a:sym typeface="Calibri Light" panose="020F0302020204030204" pitchFamily="34" charset="0"/>
        </a:defRPr>
      </a:lvl4pPr>
      <a:lvl5pPr marL="914400" indent="-914400"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cs typeface="微软雅黑" panose="020B0503020204020204" pitchFamily="34" charset="-122"/>
          <a:sym typeface="Calibri Light" panose="020F0302020204030204" pitchFamily="34" charset="0"/>
        </a:defRPr>
      </a:lvl5pPr>
      <a:lvl6pPr marL="1371600" indent="-914400" algn="l" rtl="0" fontAlgn="base">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sym typeface="Calibri Light" panose="020F0302020204030204" pitchFamily="34" charset="0"/>
        </a:defRPr>
      </a:lvl6pPr>
      <a:lvl7pPr marL="1828800" indent="-914400" algn="l" rtl="0" fontAlgn="base">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sym typeface="Calibri Light" panose="020F0302020204030204" pitchFamily="34" charset="0"/>
        </a:defRPr>
      </a:lvl7pPr>
      <a:lvl8pPr marL="2286000" indent="-914400" algn="l" rtl="0" fontAlgn="base">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sym typeface="Calibri Light" panose="020F0302020204030204" pitchFamily="34" charset="0"/>
        </a:defRPr>
      </a:lvl8pPr>
      <a:lvl9pPr marL="2743200" indent="-914400" algn="l" rtl="0" fontAlgn="base">
        <a:lnSpc>
          <a:spcPct val="90000"/>
        </a:lnSpc>
        <a:spcBef>
          <a:spcPct val="0"/>
        </a:spcBef>
        <a:spcAft>
          <a:spcPct val="0"/>
        </a:spcAft>
        <a:defRPr sz="4400">
          <a:solidFill>
            <a:schemeClr val="tx1"/>
          </a:solidFill>
          <a:latin typeface="Calibri Light" panose="020F0302020204030204" pitchFamily="34" charset="0"/>
          <a:ea typeface="微软雅黑" panose="020B0503020204020204" pitchFamily="34" charset="-122"/>
          <a:sym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微软雅黑" panose="020B0503020204020204" pitchFamily="34" charset="-122"/>
          <a:sym typeface="Calibri" panose="020F050202020403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cs typeface="微软雅黑" panose="020B0503020204020204" pitchFamily="34" charset="-122"/>
          <a:sym typeface="Calibri" panose="020F050202020403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微软雅黑" panose="020B0503020204020204" pitchFamily="34" charset="-122"/>
          <a:sym typeface="Calibri" panose="020F050202020403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微软雅黑" panose="020B0503020204020204" pitchFamily="34" charset="-122"/>
          <a:sym typeface="Calibri" panose="020F050202020403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cs typeface="微软雅黑" panose="020B0503020204020204" pitchFamily="34" charset="-122"/>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图片 6" descr="模板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1.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1.xml"/><Relationship Id="rId1" Type="http://schemas.openxmlformats.org/officeDocument/2006/relationships/tags" Target="../tags/tag3.xml"/><Relationship Id="rId5" Type="http://schemas.openxmlformats.org/officeDocument/2006/relationships/image" Target="../media/image1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1.xml"/><Relationship Id="rId1" Type="http://schemas.openxmlformats.org/officeDocument/2006/relationships/tags" Target="../tags/tag4.xml"/><Relationship Id="rId5" Type="http://schemas.openxmlformats.org/officeDocument/2006/relationships/image" Target="../media/image20.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1.xml"/><Relationship Id="rId1" Type="http://schemas.openxmlformats.org/officeDocument/2006/relationships/tags" Target="../tags/tag5.xml"/><Relationship Id="rId5" Type="http://schemas.openxmlformats.org/officeDocument/2006/relationships/image" Target="../media/image20.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notesSlide" Target="../notesSlides/notesSlide9.xml"/><Relationship Id="rId7" Type="http://schemas.openxmlformats.org/officeDocument/2006/relationships/image" Target="../media/image22.gif"/><Relationship Id="rId2" Type="http://schemas.openxmlformats.org/officeDocument/2006/relationships/slideLayout" Target="../slideLayouts/slideLayout21.xml"/><Relationship Id="rId1" Type="http://schemas.openxmlformats.org/officeDocument/2006/relationships/tags" Target="../tags/tag6.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10.png"/><Relationship Id="rId10" Type="http://schemas.openxmlformats.org/officeDocument/2006/relationships/image" Target="../media/image25.png"/><Relationship Id="rId4" Type="http://schemas.openxmlformats.org/officeDocument/2006/relationships/image" Target="../media/image6.png"/><Relationship Id="rId9" Type="http://schemas.openxmlformats.org/officeDocument/2006/relationships/image" Target="../media/image24.gi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1.xml"/><Relationship Id="rId1" Type="http://schemas.openxmlformats.org/officeDocument/2006/relationships/tags" Target="../tags/tag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1.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14" name="Picture 2"/>
          <p:cNvPicPr>
            <a:picLocks noChangeAspect="1" noChangeArrowheads="1"/>
          </p:cNvPicPr>
          <p:nvPr/>
        </p:nvPicPr>
        <p:blipFill rotWithShape="1">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l="16550"/>
          <a:stretch>
            <a:fillRect/>
          </a:stretch>
        </p:blipFill>
        <p:spPr bwMode="auto">
          <a:xfrm>
            <a:off x="0" y="-14989"/>
            <a:ext cx="4429699" cy="68729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9">
            <a:extLst>
              <a:ext uri="{FF2B5EF4-FFF2-40B4-BE49-F238E27FC236}">
                <a16:creationId xmlns:a16="http://schemas.microsoft.com/office/drawing/2014/main" id="{AE4056BB-93E4-4A57-A40B-4793960A4F96}"/>
              </a:ext>
            </a:extLst>
          </p:cNvPr>
          <p:cNvSpPr txBox="1"/>
          <p:nvPr/>
        </p:nvSpPr>
        <p:spPr>
          <a:xfrm>
            <a:off x="3794221" y="2073191"/>
            <a:ext cx="8000544" cy="1697709"/>
          </a:xfrm>
          <a:prstGeom prst="rect">
            <a:avLst/>
          </a:prstGeom>
          <a:noFill/>
        </p:spPr>
        <p:txBody>
          <a:bodyPr wrap="square" lIns="0" tIns="0" rIns="0" bIns="0" rtlCol="0">
            <a:spAutoFit/>
          </a:bodyPr>
          <a:lstStyle/>
          <a:p>
            <a:pPr algn="r">
              <a:lnSpc>
                <a:spcPct val="120000"/>
              </a:lnSpc>
              <a:spcBef>
                <a:spcPts val="1800"/>
              </a:spcBef>
            </a:pPr>
            <a:r>
              <a:rPr lang="zh-CN" altLang="en-US" sz="4800" b="1" dirty="0">
                <a:solidFill>
                  <a:srgbClr val="C00000"/>
                </a:solidFill>
                <a:latin typeface="微软雅黑" panose="020B0503020204020204" pitchFamily="34" charset="-122"/>
                <a:ea typeface="微软雅黑" panose="020B0503020204020204" pitchFamily="34" charset="-122"/>
              </a:rPr>
              <a:t>基于时变侧滑补偿的振动碾压机器人自适应纠偏控制研究</a:t>
            </a:r>
            <a:endParaRPr lang="en-US" altLang="zh-CN" sz="4800" b="1" dirty="0">
              <a:solidFill>
                <a:srgbClr val="C00000"/>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7DA80114-6204-4BB4-960B-FFAC60AC8433}"/>
              </a:ext>
            </a:extLst>
          </p:cNvPr>
          <p:cNvSpPr/>
          <p:nvPr/>
        </p:nvSpPr>
        <p:spPr>
          <a:xfrm>
            <a:off x="3794221" y="4065473"/>
            <a:ext cx="8000543" cy="102911"/>
          </a:xfrm>
          <a:prstGeom prst="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6" name="副标题 2">
            <a:extLst>
              <a:ext uri="{FF2B5EF4-FFF2-40B4-BE49-F238E27FC236}">
                <a16:creationId xmlns:a16="http://schemas.microsoft.com/office/drawing/2014/main" id="{47634DCB-BB12-4669-8B01-A52A8578DC71}"/>
              </a:ext>
            </a:extLst>
          </p:cNvPr>
          <p:cNvSpPr txBox="1">
            <a:spLocks/>
          </p:cNvSpPr>
          <p:nvPr/>
        </p:nvSpPr>
        <p:spPr bwMode="auto">
          <a:xfrm>
            <a:off x="5235606" y="4682523"/>
            <a:ext cx="5117772" cy="1365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20000"/>
              </a:spcBef>
              <a:buFont typeface="Arial" panose="020B0604020202020204" pitchFamily="34" charset="0"/>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答辩人：郑祺耀</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eaLnBrk="1" hangingPunct="1">
              <a:lnSpc>
                <a:spcPct val="100000"/>
              </a:lnSpc>
              <a:spcBef>
                <a:spcPct val="20000"/>
              </a:spcBef>
              <a:buFont typeface="Arial" panose="020B0604020202020204" pitchFamily="34" charset="0"/>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指导老师：杨濛 助理教授</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eaLnBrk="1" hangingPunct="1">
              <a:lnSpc>
                <a:spcPct val="100000"/>
              </a:lnSpc>
              <a:spcBef>
                <a:spcPct val="20000"/>
              </a:spcBef>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日期：</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2025.10.14</a:t>
            </a:r>
          </a:p>
          <a:p>
            <a:pPr algn="r" eaLnBrk="1" hangingPunct="1">
              <a:lnSpc>
                <a:spcPct val="100000"/>
              </a:lnSpc>
              <a:spcBef>
                <a:spcPct val="20000"/>
              </a:spcBef>
              <a:buNone/>
            </a:pP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endParaRPr>
          </a:p>
          <a:p>
            <a:pPr algn="r" eaLnBrk="1" hangingPunct="1">
              <a:lnSpc>
                <a:spcPct val="100000"/>
              </a:lnSpc>
              <a:spcBef>
                <a:spcPct val="20000"/>
              </a:spcBef>
              <a:buFont typeface="Arial" panose="020B0604020202020204" pitchFamily="34" charset="0"/>
              <a:buNone/>
            </a:pP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5" name="图片 14">
            <a:extLst>
              <a:ext uri="{FF2B5EF4-FFF2-40B4-BE49-F238E27FC236}">
                <a16:creationId xmlns:a16="http://schemas.microsoft.com/office/drawing/2014/main" id="{FACE95DB-F140-4486-9083-F275E465D4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8414" y="165595"/>
            <a:ext cx="2860809" cy="9929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a:extLst>
              <a:ext uri="{FF2B5EF4-FFF2-40B4-BE49-F238E27FC236}">
                <a16:creationId xmlns:a16="http://schemas.microsoft.com/office/drawing/2014/main" id="{8FB22C95-6C8F-4510-B4CA-A90DD81073BF}"/>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l="16550"/>
          <a:stretch>
            <a:fillRect/>
          </a:stretch>
        </p:blipFill>
        <p:spPr bwMode="auto">
          <a:xfrm>
            <a:off x="-3416" y="0"/>
            <a:ext cx="4429699" cy="687298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3450" y="37519"/>
            <a:ext cx="2860809" cy="992964"/>
          </a:xfrm>
          <a:prstGeom prst="rect">
            <a:avLst/>
          </a:prstGeom>
        </p:spPr>
      </p:pic>
      <p:sp>
        <p:nvSpPr>
          <p:cNvPr id="93" name="标题 1">
            <a:extLst>
              <a:ext uri="{FF2B5EF4-FFF2-40B4-BE49-F238E27FC236}">
                <a16:creationId xmlns:a16="http://schemas.microsoft.com/office/drawing/2014/main" id="{D3326511-A930-4D57-B61D-ADDA2CAECF05}"/>
              </a:ext>
            </a:extLst>
          </p:cNvPr>
          <p:cNvSpPr txBox="1"/>
          <p:nvPr/>
        </p:nvSpPr>
        <p:spPr>
          <a:xfrm>
            <a:off x="3914105" y="1393795"/>
            <a:ext cx="3497092" cy="1682259"/>
          </a:xfrm>
          <a:prstGeom prst="rect">
            <a:avLst/>
          </a:prstGeom>
        </p:spPr>
        <p:txBody>
          <a:bodyPr>
            <a:noAutofit/>
          </a:bodyPr>
          <a:lstStyle>
            <a:lvl1pPr algn="ctr" rtl="0" fontAlgn="base">
              <a:spcBef>
                <a:spcPct val="0"/>
              </a:spcBef>
              <a:spcAft>
                <a:spcPct val="0"/>
              </a:spcAft>
              <a:defRPr sz="44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8800" b="1" spc="-300" dirty="0">
                <a:solidFill>
                  <a:srgbClr val="C00000"/>
                </a:solidFill>
                <a:latin typeface="Arial" panose="020B0604020202020204" pitchFamily="34" charset="0"/>
                <a:ea typeface="微软雅黑 Light" panose="020B0502040204020203" pitchFamily="34" charset="-122"/>
                <a:cs typeface="Arial" panose="020B0604020202020204" pitchFamily="34" charset="0"/>
              </a:rPr>
              <a:t>目录</a:t>
            </a:r>
          </a:p>
        </p:txBody>
      </p:sp>
      <p:sp>
        <p:nvSpPr>
          <p:cNvPr id="94" name="矩形 93">
            <a:extLst>
              <a:ext uri="{FF2B5EF4-FFF2-40B4-BE49-F238E27FC236}">
                <a16:creationId xmlns:a16="http://schemas.microsoft.com/office/drawing/2014/main" id="{F92D34E1-8A47-48B3-B8EB-5218E67441B3}"/>
              </a:ext>
            </a:extLst>
          </p:cNvPr>
          <p:cNvSpPr/>
          <p:nvPr/>
        </p:nvSpPr>
        <p:spPr>
          <a:xfrm>
            <a:off x="4687801" y="2757044"/>
            <a:ext cx="2265611" cy="452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spc="600" dirty="0">
                <a:solidFill>
                  <a:schemeClr val="bg1">
                    <a:lumMod val="50000"/>
                  </a:schemeClr>
                </a:solidFill>
                <a:latin typeface="Arial" panose="020B0604020202020204" pitchFamily="34" charset="0"/>
                <a:ea typeface="微软雅黑 Light" panose="020B0502040204020203" pitchFamily="34" charset="-122"/>
                <a:cs typeface="Arial" panose="020B0604020202020204" pitchFamily="34" charset="0"/>
              </a:rPr>
              <a:t>Catalogue</a:t>
            </a:r>
          </a:p>
        </p:txBody>
      </p:sp>
      <p:grpSp>
        <p:nvGrpSpPr>
          <p:cNvPr id="45" name="组合 44">
            <a:extLst>
              <a:ext uri="{FF2B5EF4-FFF2-40B4-BE49-F238E27FC236}">
                <a16:creationId xmlns:a16="http://schemas.microsoft.com/office/drawing/2014/main" id="{71E1A929-9930-41D8-83F1-140AD6EDDDCF}"/>
              </a:ext>
            </a:extLst>
          </p:cNvPr>
          <p:cNvGrpSpPr/>
          <p:nvPr/>
        </p:nvGrpSpPr>
        <p:grpSpPr>
          <a:xfrm>
            <a:off x="4687801" y="3436494"/>
            <a:ext cx="5764462" cy="3131756"/>
            <a:chOff x="6037098" y="2485399"/>
            <a:chExt cx="5764462" cy="3131756"/>
          </a:xfrm>
        </p:grpSpPr>
        <p:sp>
          <p:nvSpPr>
            <p:cNvPr id="47" name="矩形 2">
              <a:extLst>
                <a:ext uri="{FF2B5EF4-FFF2-40B4-BE49-F238E27FC236}">
                  <a16:creationId xmlns:a16="http://schemas.microsoft.com/office/drawing/2014/main" id="{9069AB21-B4CB-4927-8D79-3E488EBD71C7}"/>
                </a:ext>
              </a:extLst>
            </p:cNvPr>
            <p:cNvSpPr/>
            <p:nvPr/>
          </p:nvSpPr>
          <p:spPr>
            <a:xfrm>
              <a:off x="6971417" y="3263102"/>
              <a:ext cx="4830143"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ea typeface="微软雅黑" panose="020B0503020204020204" pitchFamily="34" charset="-122"/>
                </a:rPr>
                <a:t>研究内容及技术路线</a:t>
              </a:r>
            </a:p>
          </p:txBody>
        </p:sp>
        <p:sp>
          <p:nvSpPr>
            <p:cNvPr id="48" name="矩形 3">
              <a:extLst>
                <a:ext uri="{FF2B5EF4-FFF2-40B4-BE49-F238E27FC236}">
                  <a16:creationId xmlns:a16="http://schemas.microsoft.com/office/drawing/2014/main" id="{EF1D3378-B172-4D52-8F20-3DADA54A29C8}"/>
                </a:ext>
              </a:extLst>
            </p:cNvPr>
            <p:cNvSpPr/>
            <p:nvPr/>
          </p:nvSpPr>
          <p:spPr>
            <a:xfrm>
              <a:off x="7011948" y="4837693"/>
              <a:ext cx="4695316"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ea typeface="微软雅黑" panose="020B0503020204020204" pitchFamily="34" charset="-122"/>
                </a:rPr>
                <a:t>前期工作与进度安排</a:t>
              </a:r>
              <a:endParaRPr lang="en-US" altLang="zh-CN"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矩形 4">
              <a:extLst>
                <a:ext uri="{FF2B5EF4-FFF2-40B4-BE49-F238E27FC236}">
                  <a16:creationId xmlns:a16="http://schemas.microsoft.com/office/drawing/2014/main" id="{3AF8A5C9-84F9-49C7-86C0-EC7D13F7B22C}"/>
                </a:ext>
              </a:extLst>
            </p:cNvPr>
            <p:cNvSpPr/>
            <p:nvPr/>
          </p:nvSpPr>
          <p:spPr>
            <a:xfrm>
              <a:off x="6990975" y="4050011"/>
              <a:ext cx="4695315"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ea typeface="微软雅黑" panose="020B0503020204020204" pitchFamily="34" charset="-122"/>
                </a:rPr>
                <a:t>预期成果与关键创新点</a:t>
              </a:r>
            </a:p>
          </p:txBody>
        </p:sp>
        <p:grpSp>
          <p:nvGrpSpPr>
            <p:cNvPr id="50" name="组合 5">
              <a:extLst>
                <a:ext uri="{FF2B5EF4-FFF2-40B4-BE49-F238E27FC236}">
                  <a16:creationId xmlns:a16="http://schemas.microsoft.com/office/drawing/2014/main" id="{46060ACB-B96E-4AF2-8B44-A3DEA8A40998}"/>
                </a:ext>
              </a:extLst>
            </p:cNvPr>
            <p:cNvGrpSpPr>
              <a:grpSpLocks noChangeAspect="1"/>
            </p:cNvGrpSpPr>
            <p:nvPr/>
          </p:nvGrpSpPr>
          <p:grpSpPr bwMode="auto">
            <a:xfrm>
              <a:off x="6075027" y="3904176"/>
              <a:ext cx="540000" cy="827924"/>
              <a:chOff x="643156" y="2010395"/>
              <a:chExt cx="1512386" cy="2317499"/>
            </a:xfrm>
          </p:grpSpPr>
          <p:sp>
            <p:nvSpPr>
              <p:cNvPr id="69" name="椭圆 6">
                <a:extLst>
                  <a:ext uri="{FF2B5EF4-FFF2-40B4-BE49-F238E27FC236}">
                    <a16:creationId xmlns:a16="http://schemas.microsoft.com/office/drawing/2014/main" id="{A64EA57C-6EEC-4732-BFA4-68B810BD7C55}"/>
                  </a:ext>
                </a:extLst>
              </p:cNvPr>
              <p:cNvSpPr>
                <a:spLocks noChangeAspect="1"/>
              </p:cNvSpPr>
              <p:nvPr/>
            </p:nvSpPr>
            <p:spPr bwMode="auto">
              <a:xfrm>
                <a:off x="643156" y="2815456"/>
                <a:ext cx="1512386" cy="1512438"/>
              </a:xfrm>
              <a:prstGeom prst="ellipse">
                <a:avLst/>
              </a:prstGeom>
              <a:solidFill>
                <a:schemeClr val="accent5">
                  <a:lumMod val="50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prstClr val="white"/>
                  </a:solidFill>
                </a:endParaRPr>
              </a:p>
            </p:txBody>
          </p:sp>
          <p:grpSp>
            <p:nvGrpSpPr>
              <p:cNvPr id="70" name="组合 7">
                <a:extLst>
                  <a:ext uri="{FF2B5EF4-FFF2-40B4-BE49-F238E27FC236}">
                    <a16:creationId xmlns:a16="http://schemas.microsoft.com/office/drawing/2014/main" id="{F4AA9687-D9C1-4BEC-84D7-9571DBF097F6}"/>
                  </a:ext>
                </a:extLst>
              </p:cNvPr>
              <p:cNvGrpSpPr>
                <a:grpSpLocks/>
              </p:cNvGrpSpPr>
              <p:nvPr/>
            </p:nvGrpSpPr>
            <p:grpSpPr bwMode="auto">
              <a:xfrm>
                <a:off x="934864" y="2010395"/>
                <a:ext cx="905340" cy="2016784"/>
                <a:chOff x="4134094" y="3113088"/>
                <a:chExt cx="779219" cy="1653137"/>
              </a:xfrm>
            </p:grpSpPr>
            <p:sp>
              <p:nvSpPr>
                <p:cNvPr id="72" name="Freeform 5">
                  <a:extLst>
                    <a:ext uri="{FF2B5EF4-FFF2-40B4-BE49-F238E27FC236}">
                      <a16:creationId xmlns:a16="http://schemas.microsoft.com/office/drawing/2014/main" id="{EE82E770-8B3E-4AD8-8956-0ADEB15B51AA}"/>
                    </a:ext>
                  </a:extLst>
                </p:cNvPr>
                <p:cNvSpPr>
                  <a:spLocks/>
                </p:cNvSpPr>
                <p:nvPr/>
              </p:nvSpPr>
              <p:spPr bwMode="auto">
                <a:xfrm>
                  <a:off x="4656138" y="3113088"/>
                  <a:ext cx="257175" cy="255588"/>
                </a:xfrm>
                <a:custGeom>
                  <a:avLst/>
                  <a:gdLst>
                    <a:gd name="T0" fmla="*/ 174625 w 162"/>
                    <a:gd name="T1" fmla="*/ 125413 h 161"/>
                    <a:gd name="T2" fmla="*/ 220663 w 162"/>
                    <a:gd name="T3" fmla="*/ 106363 h 161"/>
                    <a:gd name="T4" fmla="*/ 257175 w 162"/>
                    <a:gd name="T5" fmla="*/ 53975 h 161"/>
                    <a:gd name="T6" fmla="*/ 204788 w 162"/>
                    <a:gd name="T7" fmla="*/ 0 h 161"/>
                    <a:gd name="T8" fmla="*/ 150813 w 162"/>
                    <a:gd name="T9" fmla="*/ 42863 h 161"/>
                    <a:gd name="T10" fmla="*/ 131763 w 162"/>
                    <a:gd name="T11" fmla="*/ 84138 h 161"/>
                    <a:gd name="T12" fmla="*/ 0 w 162"/>
                    <a:gd name="T13" fmla="*/ 217488 h 161"/>
                    <a:gd name="T14" fmla="*/ 44450 w 162"/>
                    <a:gd name="T15" fmla="*/ 255588 h 161"/>
                    <a:gd name="T16" fmla="*/ 174625 w 162"/>
                    <a:gd name="T17" fmla="*/ 125413 h 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161">
                      <a:moveTo>
                        <a:pt x="110" y="79"/>
                      </a:moveTo>
                      <a:lnTo>
                        <a:pt x="139" y="67"/>
                      </a:lnTo>
                      <a:lnTo>
                        <a:pt x="162" y="34"/>
                      </a:lnTo>
                      <a:lnTo>
                        <a:pt x="129" y="0"/>
                      </a:lnTo>
                      <a:lnTo>
                        <a:pt x="95" y="27"/>
                      </a:lnTo>
                      <a:lnTo>
                        <a:pt x="83" y="53"/>
                      </a:lnTo>
                      <a:lnTo>
                        <a:pt x="0" y="137"/>
                      </a:lnTo>
                      <a:lnTo>
                        <a:pt x="28" y="161"/>
                      </a:lnTo>
                      <a:lnTo>
                        <a:pt x="110" y="7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3" name="Freeform 6">
                  <a:extLst>
                    <a:ext uri="{FF2B5EF4-FFF2-40B4-BE49-F238E27FC236}">
                      <a16:creationId xmlns:a16="http://schemas.microsoft.com/office/drawing/2014/main" id="{C688DDFC-F7E2-4AF6-BF36-4E53A9718687}"/>
                    </a:ext>
                  </a:extLst>
                </p:cNvPr>
                <p:cNvSpPr>
                  <a:spLocks noEditPoints="1"/>
                </p:cNvSpPr>
                <p:nvPr/>
              </p:nvSpPr>
              <p:spPr bwMode="auto">
                <a:xfrm>
                  <a:off x="4134094" y="4016926"/>
                  <a:ext cx="771525" cy="749299"/>
                </a:xfrm>
                <a:custGeom>
                  <a:avLst/>
                  <a:gdLst>
                    <a:gd name="T0" fmla="*/ 725918 w 203"/>
                    <a:gd name="T1" fmla="*/ 547712 h 197"/>
                    <a:gd name="T2" fmla="*/ 482678 w 203"/>
                    <a:gd name="T3" fmla="*/ 338516 h 197"/>
                    <a:gd name="T4" fmla="*/ 475077 w 203"/>
                    <a:gd name="T5" fmla="*/ 330909 h 197"/>
                    <a:gd name="T6" fmla="*/ 406666 w 203"/>
                    <a:gd name="T7" fmla="*/ 270052 h 197"/>
                    <a:gd name="T8" fmla="*/ 368660 w 203"/>
                    <a:gd name="T9" fmla="*/ 60857 h 197"/>
                    <a:gd name="T10" fmla="*/ 220436 w 203"/>
                    <a:gd name="T11" fmla="*/ 0 h 197"/>
                    <a:gd name="T12" fmla="*/ 178629 w 203"/>
                    <a:gd name="T13" fmla="*/ 3804 h 197"/>
                    <a:gd name="T14" fmla="*/ 171028 w 203"/>
                    <a:gd name="T15" fmla="*/ 11411 h 197"/>
                    <a:gd name="T16" fmla="*/ 174828 w 203"/>
                    <a:gd name="T17" fmla="*/ 19018 h 197"/>
                    <a:gd name="T18" fmla="*/ 262242 w 203"/>
                    <a:gd name="T19" fmla="*/ 110303 h 197"/>
                    <a:gd name="T20" fmla="*/ 281246 w 203"/>
                    <a:gd name="T21" fmla="*/ 197785 h 197"/>
                    <a:gd name="T22" fmla="*/ 209034 w 203"/>
                    <a:gd name="T23" fmla="*/ 273856 h 197"/>
                    <a:gd name="T24" fmla="*/ 121620 w 203"/>
                    <a:gd name="T25" fmla="*/ 254838 h 197"/>
                    <a:gd name="T26" fmla="*/ 30405 w 203"/>
                    <a:gd name="T27" fmla="*/ 163553 h 197"/>
                    <a:gd name="T28" fmla="*/ 19003 w 203"/>
                    <a:gd name="T29" fmla="*/ 163553 h 197"/>
                    <a:gd name="T30" fmla="*/ 11402 w 203"/>
                    <a:gd name="T31" fmla="*/ 171160 h 197"/>
                    <a:gd name="T32" fmla="*/ 68411 w 203"/>
                    <a:gd name="T33" fmla="*/ 361338 h 197"/>
                    <a:gd name="T34" fmla="*/ 205233 w 203"/>
                    <a:gd name="T35" fmla="*/ 406980 h 197"/>
                    <a:gd name="T36" fmla="*/ 205233 w 203"/>
                    <a:gd name="T37" fmla="*/ 406980 h 197"/>
                    <a:gd name="T38" fmla="*/ 281246 w 203"/>
                    <a:gd name="T39" fmla="*/ 399373 h 197"/>
                    <a:gd name="T40" fmla="*/ 558691 w 203"/>
                    <a:gd name="T41" fmla="*/ 715068 h 197"/>
                    <a:gd name="T42" fmla="*/ 642304 w 203"/>
                    <a:gd name="T43" fmla="*/ 749300 h 197"/>
                    <a:gd name="T44" fmla="*/ 725918 w 203"/>
                    <a:gd name="T45" fmla="*/ 715068 h 197"/>
                    <a:gd name="T46" fmla="*/ 725918 w 203"/>
                    <a:gd name="T47" fmla="*/ 547712 h 197"/>
                    <a:gd name="T48" fmla="*/ 661307 w 203"/>
                    <a:gd name="T49" fmla="*/ 654211 h 197"/>
                    <a:gd name="T50" fmla="*/ 619500 w 203"/>
                    <a:gd name="T51" fmla="*/ 654211 h 197"/>
                    <a:gd name="T52" fmla="*/ 619500 w 203"/>
                    <a:gd name="T53" fmla="*/ 654211 h 197"/>
                    <a:gd name="T54" fmla="*/ 619500 w 203"/>
                    <a:gd name="T55" fmla="*/ 612372 h 197"/>
                    <a:gd name="T56" fmla="*/ 661307 w 203"/>
                    <a:gd name="T57" fmla="*/ 612372 h 197"/>
                    <a:gd name="T58" fmla="*/ 661307 w 203"/>
                    <a:gd name="T59" fmla="*/ 612372 h 197"/>
                    <a:gd name="T60" fmla="*/ 661307 w 203"/>
                    <a:gd name="T61" fmla="*/ 654211 h 19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03" h="197">
                      <a:moveTo>
                        <a:pt x="191" y="144"/>
                      </a:moveTo>
                      <a:cubicBezTo>
                        <a:pt x="127" y="89"/>
                        <a:pt x="127" y="89"/>
                        <a:pt x="127" y="89"/>
                      </a:cubicBezTo>
                      <a:cubicBezTo>
                        <a:pt x="125" y="87"/>
                        <a:pt x="125" y="87"/>
                        <a:pt x="125" y="87"/>
                      </a:cubicBezTo>
                      <a:cubicBezTo>
                        <a:pt x="107" y="71"/>
                        <a:pt x="107" y="71"/>
                        <a:pt x="107" y="71"/>
                      </a:cubicBezTo>
                      <a:cubicBezTo>
                        <a:pt x="109" y="61"/>
                        <a:pt x="113" y="32"/>
                        <a:pt x="97" y="16"/>
                      </a:cubicBezTo>
                      <a:cubicBezTo>
                        <a:pt x="87" y="6"/>
                        <a:pt x="73" y="0"/>
                        <a:pt x="58" y="0"/>
                      </a:cubicBezTo>
                      <a:cubicBezTo>
                        <a:pt x="54" y="0"/>
                        <a:pt x="51" y="0"/>
                        <a:pt x="47" y="1"/>
                      </a:cubicBezTo>
                      <a:cubicBezTo>
                        <a:pt x="46" y="1"/>
                        <a:pt x="45" y="2"/>
                        <a:pt x="45" y="3"/>
                      </a:cubicBezTo>
                      <a:cubicBezTo>
                        <a:pt x="45" y="4"/>
                        <a:pt x="45" y="5"/>
                        <a:pt x="46" y="5"/>
                      </a:cubicBezTo>
                      <a:cubicBezTo>
                        <a:pt x="69" y="29"/>
                        <a:pt x="69" y="29"/>
                        <a:pt x="69" y="29"/>
                      </a:cubicBezTo>
                      <a:cubicBezTo>
                        <a:pt x="74" y="52"/>
                        <a:pt x="74" y="52"/>
                        <a:pt x="74" y="52"/>
                      </a:cubicBezTo>
                      <a:cubicBezTo>
                        <a:pt x="55" y="72"/>
                        <a:pt x="55" y="72"/>
                        <a:pt x="55" y="72"/>
                      </a:cubicBezTo>
                      <a:cubicBezTo>
                        <a:pt x="32" y="67"/>
                        <a:pt x="32" y="67"/>
                        <a:pt x="32" y="67"/>
                      </a:cubicBezTo>
                      <a:cubicBezTo>
                        <a:pt x="8" y="43"/>
                        <a:pt x="8" y="43"/>
                        <a:pt x="8" y="43"/>
                      </a:cubicBezTo>
                      <a:cubicBezTo>
                        <a:pt x="7" y="42"/>
                        <a:pt x="6" y="42"/>
                        <a:pt x="5" y="43"/>
                      </a:cubicBezTo>
                      <a:cubicBezTo>
                        <a:pt x="4" y="43"/>
                        <a:pt x="3" y="44"/>
                        <a:pt x="3" y="45"/>
                      </a:cubicBezTo>
                      <a:cubicBezTo>
                        <a:pt x="0" y="63"/>
                        <a:pt x="5" y="82"/>
                        <a:pt x="18" y="95"/>
                      </a:cubicBezTo>
                      <a:cubicBezTo>
                        <a:pt x="26" y="103"/>
                        <a:pt x="38" y="107"/>
                        <a:pt x="54" y="107"/>
                      </a:cubicBezTo>
                      <a:cubicBezTo>
                        <a:pt x="54" y="107"/>
                        <a:pt x="54" y="107"/>
                        <a:pt x="54" y="107"/>
                      </a:cubicBezTo>
                      <a:cubicBezTo>
                        <a:pt x="60" y="107"/>
                        <a:pt x="67" y="106"/>
                        <a:pt x="74" y="105"/>
                      </a:cubicBezTo>
                      <a:cubicBezTo>
                        <a:pt x="147" y="188"/>
                        <a:pt x="147" y="188"/>
                        <a:pt x="147" y="188"/>
                      </a:cubicBezTo>
                      <a:cubicBezTo>
                        <a:pt x="153" y="194"/>
                        <a:pt x="160" y="197"/>
                        <a:pt x="169" y="197"/>
                      </a:cubicBezTo>
                      <a:cubicBezTo>
                        <a:pt x="177" y="197"/>
                        <a:pt x="185" y="194"/>
                        <a:pt x="191" y="188"/>
                      </a:cubicBezTo>
                      <a:cubicBezTo>
                        <a:pt x="203" y="176"/>
                        <a:pt x="203" y="156"/>
                        <a:pt x="191" y="144"/>
                      </a:cubicBezTo>
                      <a:close/>
                      <a:moveTo>
                        <a:pt x="174" y="172"/>
                      </a:moveTo>
                      <a:cubicBezTo>
                        <a:pt x="171" y="175"/>
                        <a:pt x="166" y="175"/>
                        <a:pt x="163" y="172"/>
                      </a:cubicBezTo>
                      <a:cubicBezTo>
                        <a:pt x="163" y="172"/>
                        <a:pt x="163" y="172"/>
                        <a:pt x="163" y="172"/>
                      </a:cubicBezTo>
                      <a:cubicBezTo>
                        <a:pt x="160" y="169"/>
                        <a:pt x="160" y="164"/>
                        <a:pt x="163" y="161"/>
                      </a:cubicBezTo>
                      <a:cubicBezTo>
                        <a:pt x="166" y="158"/>
                        <a:pt x="171" y="158"/>
                        <a:pt x="174" y="161"/>
                      </a:cubicBezTo>
                      <a:cubicBezTo>
                        <a:pt x="174" y="161"/>
                        <a:pt x="174" y="161"/>
                        <a:pt x="174" y="161"/>
                      </a:cubicBezTo>
                      <a:cubicBezTo>
                        <a:pt x="177" y="164"/>
                        <a:pt x="177" y="169"/>
                        <a:pt x="174" y="17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51" name="组合 12">
              <a:extLst>
                <a:ext uri="{FF2B5EF4-FFF2-40B4-BE49-F238E27FC236}">
                  <a16:creationId xmlns:a16="http://schemas.microsoft.com/office/drawing/2014/main" id="{F089221E-A063-4A9A-B7F3-41B3384A55D3}"/>
                </a:ext>
              </a:extLst>
            </p:cNvPr>
            <p:cNvGrpSpPr>
              <a:grpSpLocks noChangeAspect="1"/>
            </p:cNvGrpSpPr>
            <p:nvPr/>
          </p:nvGrpSpPr>
          <p:grpSpPr bwMode="auto">
            <a:xfrm>
              <a:off x="6107234" y="4968553"/>
              <a:ext cx="540000" cy="539902"/>
              <a:chOff x="6949537" y="1639202"/>
              <a:chExt cx="1478339" cy="1512438"/>
            </a:xfrm>
          </p:grpSpPr>
          <p:sp>
            <p:nvSpPr>
              <p:cNvPr id="60" name="椭圆 13">
                <a:extLst>
                  <a:ext uri="{FF2B5EF4-FFF2-40B4-BE49-F238E27FC236}">
                    <a16:creationId xmlns:a16="http://schemas.microsoft.com/office/drawing/2014/main" id="{ADAF7B55-A9B4-46B7-A1B2-949B1B68ED9D}"/>
                  </a:ext>
                </a:extLst>
              </p:cNvPr>
              <p:cNvSpPr/>
              <p:nvPr/>
            </p:nvSpPr>
            <p:spPr bwMode="auto">
              <a:xfrm>
                <a:off x="6949537" y="1639202"/>
                <a:ext cx="1478339" cy="1512438"/>
              </a:xfrm>
              <a:prstGeom prst="ellipse">
                <a:avLst/>
              </a:prstGeom>
              <a:solidFill>
                <a:schemeClr val="accent5">
                  <a:lumMod val="50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prstClr val="white"/>
                  </a:solidFill>
                </a:endParaRPr>
              </a:p>
            </p:txBody>
          </p:sp>
          <p:grpSp>
            <p:nvGrpSpPr>
              <p:cNvPr id="61" name="Group 22">
                <a:extLst>
                  <a:ext uri="{FF2B5EF4-FFF2-40B4-BE49-F238E27FC236}">
                    <a16:creationId xmlns:a16="http://schemas.microsoft.com/office/drawing/2014/main" id="{2AACEE05-9D21-4D54-8E27-2FF9F33AA979}"/>
                  </a:ext>
                </a:extLst>
              </p:cNvPr>
              <p:cNvGrpSpPr>
                <a:grpSpLocks/>
              </p:cNvGrpSpPr>
              <p:nvPr/>
            </p:nvGrpSpPr>
            <p:grpSpPr bwMode="auto">
              <a:xfrm>
                <a:off x="7326000" y="1936800"/>
                <a:ext cx="896400" cy="918000"/>
                <a:chOff x="2653" y="1923"/>
                <a:chExt cx="454" cy="474"/>
              </a:xfrm>
            </p:grpSpPr>
            <p:sp>
              <p:nvSpPr>
                <p:cNvPr id="62" name="AutoShape 21">
                  <a:extLst>
                    <a:ext uri="{FF2B5EF4-FFF2-40B4-BE49-F238E27FC236}">
                      <a16:creationId xmlns:a16="http://schemas.microsoft.com/office/drawing/2014/main" id="{07D0FB4D-AD09-4CE5-8A1F-49AF695CBA50}"/>
                    </a:ext>
                  </a:extLst>
                </p:cNvPr>
                <p:cNvSpPr>
                  <a:spLocks noChangeAspect="1" noChangeArrowheads="1" noTextEdit="1"/>
                </p:cNvSpPr>
                <p:nvPr/>
              </p:nvSpPr>
              <p:spPr bwMode="auto">
                <a:xfrm>
                  <a:off x="2653" y="1923"/>
                  <a:ext cx="45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3" name="Freeform 23">
                  <a:extLst>
                    <a:ext uri="{FF2B5EF4-FFF2-40B4-BE49-F238E27FC236}">
                      <a16:creationId xmlns:a16="http://schemas.microsoft.com/office/drawing/2014/main" id="{FF7DD6E4-BCC0-4762-9D92-64EDEA94836C}"/>
                    </a:ext>
                  </a:extLst>
                </p:cNvPr>
                <p:cNvSpPr>
                  <a:spLocks/>
                </p:cNvSpPr>
                <p:nvPr/>
              </p:nvSpPr>
              <p:spPr bwMode="auto">
                <a:xfrm>
                  <a:off x="2730" y="2220"/>
                  <a:ext cx="139" cy="12"/>
                </a:xfrm>
                <a:custGeom>
                  <a:avLst/>
                  <a:gdLst>
                    <a:gd name="T0" fmla="*/ 134 w 58"/>
                    <a:gd name="T1" fmla="*/ 0 h 5"/>
                    <a:gd name="T2" fmla="*/ 7 w 58"/>
                    <a:gd name="T3" fmla="*/ 0 h 5"/>
                    <a:gd name="T4" fmla="*/ 0 w 58"/>
                    <a:gd name="T5" fmla="*/ 5 h 5"/>
                    <a:gd name="T6" fmla="*/ 7 w 58"/>
                    <a:gd name="T7" fmla="*/ 12 h 5"/>
                    <a:gd name="T8" fmla="*/ 134 w 58"/>
                    <a:gd name="T9" fmla="*/ 12 h 5"/>
                    <a:gd name="T10" fmla="*/ 139 w 58"/>
                    <a:gd name="T11" fmla="*/ 5 h 5"/>
                    <a:gd name="T12" fmla="*/ 134 w 58"/>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5">
                      <a:moveTo>
                        <a:pt x="56" y="0"/>
                      </a:moveTo>
                      <a:cubicBezTo>
                        <a:pt x="3" y="0"/>
                        <a:pt x="3" y="0"/>
                        <a:pt x="3" y="0"/>
                      </a:cubicBezTo>
                      <a:cubicBezTo>
                        <a:pt x="2" y="0"/>
                        <a:pt x="0" y="1"/>
                        <a:pt x="0" y="2"/>
                      </a:cubicBezTo>
                      <a:cubicBezTo>
                        <a:pt x="0" y="4"/>
                        <a:pt x="2" y="5"/>
                        <a:pt x="3" y="5"/>
                      </a:cubicBezTo>
                      <a:cubicBezTo>
                        <a:pt x="56" y="5"/>
                        <a:pt x="56" y="5"/>
                        <a:pt x="56" y="5"/>
                      </a:cubicBezTo>
                      <a:cubicBezTo>
                        <a:pt x="57" y="5"/>
                        <a:pt x="58" y="4"/>
                        <a:pt x="58" y="2"/>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4" name="Freeform 24">
                  <a:extLst>
                    <a:ext uri="{FF2B5EF4-FFF2-40B4-BE49-F238E27FC236}">
                      <a16:creationId xmlns:a16="http://schemas.microsoft.com/office/drawing/2014/main" id="{1BC00CF6-D391-4384-98A5-2C2182A027B2}"/>
                    </a:ext>
                  </a:extLst>
                </p:cNvPr>
                <p:cNvSpPr>
                  <a:spLocks/>
                </p:cNvSpPr>
                <p:nvPr/>
              </p:nvSpPr>
              <p:spPr bwMode="auto">
                <a:xfrm>
                  <a:off x="2730" y="2160"/>
                  <a:ext cx="139" cy="12"/>
                </a:xfrm>
                <a:custGeom>
                  <a:avLst/>
                  <a:gdLst>
                    <a:gd name="T0" fmla="*/ 134 w 58"/>
                    <a:gd name="T1" fmla="*/ 0 h 5"/>
                    <a:gd name="T2" fmla="*/ 7 w 58"/>
                    <a:gd name="T3" fmla="*/ 0 h 5"/>
                    <a:gd name="T4" fmla="*/ 0 w 58"/>
                    <a:gd name="T5" fmla="*/ 7 h 5"/>
                    <a:gd name="T6" fmla="*/ 7 w 58"/>
                    <a:gd name="T7" fmla="*/ 12 h 5"/>
                    <a:gd name="T8" fmla="*/ 134 w 58"/>
                    <a:gd name="T9" fmla="*/ 12 h 5"/>
                    <a:gd name="T10" fmla="*/ 139 w 58"/>
                    <a:gd name="T11" fmla="*/ 7 h 5"/>
                    <a:gd name="T12" fmla="*/ 134 w 58"/>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5">
                      <a:moveTo>
                        <a:pt x="56" y="0"/>
                      </a:moveTo>
                      <a:cubicBezTo>
                        <a:pt x="3" y="0"/>
                        <a:pt x="3" y="0"/>
                        <a:pt x="3" y="0"/>
                      </a:cubicBezTo>
                      <a:cubicBezTo>
                        <a:pt x="2" y="0"/>
                        <a:pt x="0" y="1"/>
                        <a:pt x="0" y="3"/>
                      </a:cubicBezTo>
                      <a:cubicBezTo>
                        <a:pt x="0" y="4"/>
                        <a:pt x="2" y="5"/>
                        <a:pt x="3" y="5"/>
                      </a:cubicBezTo>
                      <a:cubicBezTo>
                        <a:pt x="56" y="5"/>
                        <a:pt x="56" y="5"/>
                        <a:pt x="56" y="5"/>
                      </a:cubicBezTo>
                      <a:cubicBezTo>
                        <a:pt x="57" y="5"/>
                        <a:pt x="58" y="4"/>
                        <a:pt x="58" y="3"/>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5" name="Freeform 25">
                  <a:extLst>
                    <a:ext uri="{FF2B5EF4-FFF2-40B4-BE49-F238E27FC236}">
                      <a16:creationId xmlns:a16="http://schemas.microsoft.com/office/drawing/2014/main" id="{D8EF86D8-1D84-4743-A713-CCE76C71AE48}"/>
                    </a:ext>
                  </a:extLst>
                </p:cNvPr>
                <p:cNvSpPr>
                  <a:spLocks/>
                </p:cNvSpPr>
                <p:nvPr/>
              </p:nvSpPr>
              <p:spPr bwMode="auto">
                <a:xfrm>
                  <a:off x="2730" y="2100"/>
                  <a:ext cx="139" cy="14"/>
                </a:xfrm>
                <a:custGeom>
                  <a:avLst/>
                  <a:gdLst>
                    <a:gd name="T0" fmla="*/ 134 w 58"/>
                    <a:gd name="T1" fmla="*/ 0 h 6"/>
                    <a:gd name="T2" fmla="*/ 7 w 58"/>
                    <a:gd name="T3" fmla="*/ 0 h 6"/>
                    <a:gd name="T4" fmla="*/ 0 w 58"/>
                    <a:gd name="T5" fmla="*/ 7 h 6"/>
                    <a:gd name="T6" fmla="*/ 7 w 58"/>
                    <a:gd name="T7" fmla="*/ 14 h 6"/>
                    <a:gd name="T8" fmla="*/ 134 w 58"/>
                    <a:gd name="T9" fmla="*/ 14 h 6"/>
                    <a:gd name="T10" fmla="*/ 139 w 58"/>
                    <a:gd name="T11" fmla="*/ 7 h 6"/>
                    <a:gd name="T12" fmla="*/ 134 w 58"/>
                    <a:gd name="T13" fmla="*/ 0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
                      <a:moveTo>
                        <a:pt x="56" y="0"/>
                      </a:moveTo>
                      <a:cubicBezTo>
                        <a:pt x="3" y="0"/>
                        <a:pt x="3" y="0"/>
                        <a:pt x="3" y="0"/>
                      </a:cubicBezTo>
                      <a:cubicBezTo>
                        <a:pt x="2" y="0"/>
                        <a:pt x="0" y="1"/>
                        <a:pt x="0" y="3"/>
                      </a:cubicBezTo>
                      <a:cubicBezTo>
                        <a:pt x="0" y="5"/>
                        <a:pt x="2" y="6"/>
                        <a:pt x="3" y="6"/>
                      </a:cubicBezTo>
                      <a:cubicBezTo>
                        <a:pt x="56" y="6"/>
                        <a:pt x="56" y="6"/>
                        <a:pt x="56" y="6"/>
                      </a:cubicBezTo>
                      <a:cubicBezTo>
                        <a:pt x="57" y="6"/>
                        <a:pt x="58" y="5"/>
                        <a:pt x="58" y="3"/>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6" name="Freeform 26">
                  <a:extLst>
                    <a:ext uri="{FF2B5EF4-FFF2-40B4-BE49-F238E27FC236}">
                      <a16:creationId xmlns:a16="http://schemas.microsoft.com/office/drawing/2014/main" id="{DABBB32C-439E-4C66-B2D6-81B5F6F8912F}"/>
                    </a:ext>
                  </a:extLst>
                </p:cNvPr>
                <p:cNvSpPr>
                  <a:spLocks noChangeAspect="1"/>
                </p:cNvSpPr>
                <p:nvPr/>
              </p:nvSpPr>
              <p:spPr bwMode="auto">
                <a:xfrm>
                  <a:off x="2845" y="2246"/>
                  <a:ext cx="262" cy="77"/>
                </a:xfrm>
                <a:custGeom>
                  <a:avLst/>
                  <a:gdLst>
                    <a:gd name="T0" fmla="*/ 260 w 109"/>
                    <a:gd name="T1" fmla="*/ 48 h 32"/>
                    <a:gd name="T2" fmla="*/ 175 w 109"/>
                    <a:gd name="T3" fmla="*/ 0 h 32"/>
                    <a:gd name="T4" fmla="*/ 173 w 109"/>
                    <a:gd name="T5" fmla="*/ 0 h 32"/>
                    <a:gd name="T6" fmla="*/ 171 w 109"/>
                    <a:gd name="T7" fmla="*/ 0 h 32"/>
                    <a:gd name="T8" fmla="*/ 166 w 109"/>
                    <a:gd name="T9" fmla="*/ 0 h 32"/>
                    <a:gd name="T10" fmla="*/ 161 w 109"/>
                    <a:gd name="T11" fmla="*/ 2 h 32"/>
                    <a:gd name="T12" fmla="*/ 161 w 109"/>
                    <a:gd name="T13" fmla="*/ 2 h 32"/>
                    <a:gd name="T14" fmla="*/ 156 w 109"/>
                    <a:gd name="T15" fmla="*/ 5 h 32"/>
                    <a:gd name="T16" fmla="*/ 154 w 109"/>
                    <a:gd name="T17" fmla="*/ 5 h 32"/>
                    <a:gd name="T18" fmla="*/ 149 w 109"/>
                    <a:gd name="T19" fmla="*/ 7 h 32"/>
                    <a:gd name="T20" fmla="*/ 144 w 109"/>
                    <a:gd name="T21" fmla="*/ 7 h 32"/>
                    <a:gd name="T22" fmla="*/ 139 w 109"/>
                    <a:gd name="T23" fmla="*/ 7 h 32"/>
                    <a:gd name="T24" fmla="*/ 132 w 109"/>
                    <a:gd name="T25" fmla="*/ 10 h 32"/>
                    <a:gd name="T26" fmla="*/ 127 w 109"/>
                    <a:gd name="T27" fmla="*/ 7 h 32"/>
                    <a:gd name="T28" fmla="*/ 127 w 109"/>
                    <a:gd name="T29" fmla="*/ 7 h 32"/>
                    <a:gd name="T30" fmla="*/ 96 w 109"/>
                    <a:gd name="T31" fmla="*/ 0 h 32"/>
                    <a:gd name="T32" fmla="*/ 91 w 109"/>
                    <a:gd name="T33" fmla="*/ 0 h 32"/>
                    <a:gd name="T34" fmla="*/ 91 w 109"/>
                    <a:gd name="T35" fmla="*/ 0 h 32"/>
                    <a:gd name="T36" fmla="*/ 89 w 109"/>
                    <a:gd name="T37" fmla="*/ 0 h 32"/>
                    <a:gd name="T38" fmla="*/ 2 w 109"/>
                    <a:gd name="T39" fmla="*/ 48 h 32"/>
                    <a:gd name="T40" fmla="*/ 0 w 109"/>
                    <a:gd name="T41" fmla="*/ 53 h 32"/>
                    <a:gd name="T42" fmla="*/ 0 w 109"/>
                    <a:gd name="T43" fmla="*/ 72 h 32"/>
                    <a:gd name="T44" fmla="*/ 5 w 109"/>
                    <a:gd name="T45" fmla="*/ 77 h 32"/>
                    <a:gd name="T46" fmla="*/ 127 w 109"/>
                    <a:gd name="T47" fmla="*/ 77 h 32"/>
                    <a:gd name="T48" fmla="*/ 161 w 109"/>
                    <a:gd name="T49" fmla="*/ 77 h 32"/>
                    <a:gd name="T50" fmla="*/ 257 w 109"/>
                    <a:gd name="T51" fmla="*/ 77 h 32"/>
                    <a:gd name="T52" fmla="*/ 262 w 109"/>
                    <a:gd name="T53" fmla="*/ 72 h 32"/>
                    <a:gd name="T54" fmla="*/ 262 w 109"/>
                    <a:gd name="T55" fmla="*/ 53 h 32"/>
                    <a:gd name="T56" fmla="*/ 260 w 109"/>
                    <a:gd name="T57" fmla="*/ 48 h 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09" h="32">
                      <a:moveTo>
                        <a:pt x="108" y="20"/>
                      </a:moveTo>
                      <a:cubicBezTo>
                        <a:pt x="98" y="10"/>
                        <a:pt x="86" y="4"/>
                        <a:pt x="73" y="0"/>
                      </a:cubicBezTo>
                      <a:cubicBezTo>
                        <a:pt x="73" y="0"/>
                        <a:pt x="72" y="0"/>
                        <a:pt x="72" y="0"/>
                      </a:cubicBezTo>
                      <a:cubicBezTo>
                        <a:pt x="71" y="0"/>
                        <a:pt x="71" y="0"/>
                        <a:pt x="71" y="0"/>
                      </a:cubicBezTo>
                      <a:cubicBezTo>
                        <a:pt x="70" y="0"/>
                        <a:pt x="70" y="0"/>
                        <a:pt x="69" y="0"/>
                      </a:cubicBezTo>
                      <a:cubicBezTo>
                        <a:pt x="69" y="1"/>
                        <a:pt x="68" y="1"/>
                        <a:pt x="67" y="1"/>
                      </a:cubicBezTo>
                      <a:cubicBezTo>
                        <a:pt x="67" y="1"/>
                        <a:pt x="67" y="1"/>
                        <a:pt x="67" y="1"/>
                      </a:cubicBezTo>
                      <a:cubicBezTo>
                        <a:pt x="66" y="2"/>
                        <a:pt x="65" y="2"/>
                        <a:pt x="65" y="2"/>
                      </a:cubicBezTo>
                      <a:cubicBezTo>
                        <a:pt x="64" y="2"/>
                        <a:pt x="64" y="2"/>
                        <a:pt x="64" y="2"/>
                      </a:cubicBezTo>
                      <a:cubicBezTo>
                        <a:pt x="63" y="3"/>
                        <a:pt x="62" y="3"/>
                        <a:pt x="62" y="3"/>
                      </a:cubicBezTo>
                      <a:cubicBezTo>
                        <a:pt x="61" y="3"/>
                        <a:pt x="60" y="3"/>
                        <a:pt x="60" y="3"/>
                      </a:cubicBezTo>
                      <a:cubicBezTo>
                        <a:pt x="59" y="3"/>
                        <a:pt x="59" y="3"/>
                        <a:pt x="58" y="3"/>
                      </a:cubicBezTo>
                      <a:cubicBezTo>
                        <a:pt x="57" y="3"/>
                        <a:pt x="56" y="4"/>
                        <a:pt x="55" y="4"/>
                      </a:cubicBezTo>
                      <a:cubicBezTo>
                        <a:pt x="54" y="4"/>
                        <a:pt x="54" y="4"/>
                        <a:pt x="53" y="3"/>
                      </a:cubicBezTo>
                      <a:cubicBezTo>
                        <a:pt x="53" y="3"/>
                        <a:pt x="53" y="3"/>
                        <a:pt x="53" y="3"/>
                      </a:cubicBezTo>
                      <a:cubicBezTo>
                        <a:pt x="48" y="3"/>
                        <a:pt x="43" y="2"/>
                        <a:pt x="40" y="0"/>
                      </a:cubicBezTo>
                      <a:cubicBezTo>
                        <a:pt x="39" y="0"/>
                        <a:pt x="39" y="0"/>
                        <a:pt x="38" y="0"/>
                      </a:cubicBezTo>
                      <a:cubicBezTo>
                        <a:pt x="38" y="0"/>
                        <a:pt x="38" y="0"/>
                        <a:pt x="38" y="0"/>
                      </a:cubicBezTo>
                      <a:cubicBezTo>
                        <a:pt x="37" y="0"/>
                        <a:pt x="37" y="0"/>
                        <a:pt x="37" y="0"/>
                      </a:cubicBezTo>
                      <a:cubicBezTo>
                        <a:pt x="23" y="3"/>
                        <a:pt x="11" y="10"/>
                        <a:pt x="1" y="20"/>
                      </a:cubicBezTo>
                      <a:cubicBezTo>
                        <a:pt x="0" y="21"/>
                        <a:pt x="0" y="21"/>
                        <a:pt x="0" y="22"/>
                      </a:cubicBezTo>
                      <a:cubicBezTo>
                        <a:pt x="0" y="30"/>
                        <a:pt x="0" y="30"/>
                        <a:pt x="0" y="30"/>
                      </a:cubicBezTo>
                      <a:cubicBezTo>
                        <a:pt x="0" y="31"/>
                        <a:pt x="1" y="32"/>
                        <a:pt x="2" y="32"/>
                      </a:cubicBezTo>
                      <a:cubicBezTo>
                        <a:pt x="53" y="32"/>
                        <a:pt x="53" y="32"/>
                        <a:pt x="53" y="32"/>
                      </a:cubicBezTo>
                      <a:cubicBezTo>
                        <a:pt x="67" y="32"/>
                        <a:pt x="67" y="32"/>
                        <a:pt x="67" y="32"/>
                      </a:cubicBezTo>
                      <a:cubicBezTo>
                        <a:pt x="107" y="32"/>
                        <a:pt x="107" y="32"/>
                        <a:pt x="107" y="32"/>
                      </a:cubicBezTo>
                      <a:cubicBezTo>
                        <a:pt x="108" y="32"/>
                        <a:pt x="109" y="31"/>
                        <a:pt x="109" y="30"/>
                      </a:cubicBezTo>
                      <a:cubicBezTo>
                        <a:pt x="109" y="22"/>
                        <a:pt x="109" y="22"/>
                        <a:pt x="109" y="22"/>
                      </a:cubicBezTo>
                      <a:cubicBezTo>
                        <a:pt x="109" y="21"/>
                        <a:pt x="109" y="21"/>
                        <a:pt x="108" y="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7" name="Freeform 27">
                  <a:extLst>
                    <a:ext uri="{FF2B5EF4-FFF2-40B4-BE49-F238E27FC236}">
                      <a16:creationId xmlns:a16="http://schemas.microsoft.com/office/drawing/2014/main" id="{BEFA41D1-5351-4949-A06A-3034DEEC6E19}"/>
                    </a:ext>
                  </a:extLst>
                </p:cNvPr>
                <p:cNvSpPr>
                  <a:spLocks/>
                </p:cNvSpPr>
                <p:nvPr/>
              </p:nvSpPr>
              <p:spPr bwMode="auto">
                <a:xfrm>
                  <a:off x="2915" y="2067"/>
                  <a:ext cx="122" cy="160"/>
                </a:xfrm>
                <a:custGeom>
                  <a:avLst/>
                  <a:gdLst>
                    <a:gd name="T0" fmla="*/ 77 w 51"/>
                    <a:gd name="T1" fmla="*/ 2 h 67"/>
                    <a:gd name="T2" fmla="*/ 69 w 51"/>
                    <a:gd name="T3" fmla="*/ 0 h 67"/>
                    <a:gd name="T4" fmla="*/ 69 w 51"/>
                    <a:gd name="T5" fmla="*/ 0 h 67"/>
                    <a:gd name="T6" fmla="*/ 62 w 51"/>
                    <a:gd name="T7" fmla="*/ 0 h 67"/>
                    <a:gd name="T8" fmla="*/ 2 w 51"/>
                    <a:gd name="T9" fmla="*/ 62 h 67"/>
                    <a:gd name="T10" fmla="*/ 5 w 51"/>
                    <a:gd name="T11" fmla="*/ 84 h 67"/>
                    <a:gd name="T12" fmla="*/ 0 w 51"/>
                    <a:gd name="T13" fmla="*/ 93 h 67"/>
                    <a:gd name="T14" fmla="*/ 10 w 51"/>
                    <a:gd name="T15" fmla="*/ 103 h 67"/>
                    <a:gd name="T16" fmla="*/ 10 w 51"/>
                    <a:gd name="T17" fmla="*/ 103 h 67"/>
                    <a:gd name="T18" fmla="*/ 62 w 51"/>
                    <a:gd name="T19" fmla="*/ 160 h 67"/>
                    <a:gd name="T20" fmla="*/ 65 w 51"/>
                    <a:gd name="T21" fmla="*/ 160 h 67"/>
                    <a:gd name="T22" fmla="*/ 67 w 51"/>
                    <a:gd name="T23" fmla="*/ 158 h 67"/>
                    <a:gd name="T24" fmla="*/ 69 w 51"/>
                    <a:gd name="T25" fmla="*/ 158 h 67"/>
                    <a:gd name="T26" fmla="*/ 72 w 51"/>
                    <a:gd name="T27" fmla="*/ 158 h 67"/>
                    <a:gd name="T28" fmla="*/ 74 w 51"/>
                    <a:gd name="T29" fmla="*/ 158 h 67"/>
                    <a:gd name="T30" fmla="*/ 77 w 51"/>
                    <a:gd name="T31" fmla="*/ 155 h 67"/>
                    <a:gd name="T32" fmla="*/ 79 w 51"/>
                    <a:gd name="T33" fmla="*/ 155 h 67"/>
                    <a:gd name="T34" fmla="*/ 112 w 51"/>
                    <a:gd name="T35" fmla="*/ 103 h 67"/>
                    <a:gd name="T36" fmla="*/ 112 w 51"/>
                    <a:gd name="T37" fmla="*/ 103 h 67"/>
                    <a:gd name="T38" fmla="*/ 122 w 51"/>
                    <a:gd name="T39" fmla="*/ 93 h 67"/>
                    <a:gd name="T40" fmla="*/ 117 w 51"/>
                    <a:gd name="T41" fmla="*/ 84 h 67"/>
                    <a:gd name="T42" fmla="*/ 120 w 51"/>
                    <a:gd name="T43" fmla="*/ 62 h 67"/>
                    <a:gd name="T44" fmla="*/ 77 w 51"/>
                    <a:gd name="T45" fmla="*/ 2 h 67"/>
                    <a:gd name="T46" fmla="*/ 77 w 51"/>
                    <a:gd name="T47" fmla="*/ 2 h 6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 h="67">
                      <a:moveTo>
                        <a:pt x="32" y="1"/>
                      </a:moveTo>
                      <a:cubicBezTo>
                        <a:pt x="31" y="1"/>
                        <a:pt x="30" y="0"/>
                        <a:pt x="29" y="0"/>
                      </a:cubicBezTo>
                      <a:cubicBezTo>
                        <a:pt x="29" y="0"/>
                        <a:pt x="29" y="0"/>
                        <a:pt x="29" y="0"/>
                      </a:cubicBezTo>
                      <a:cubicBezTo>
                        <a:pt x="28" y="0"/>
                        <a:pt x="27" y="0"/>
                        <a:pt x="26" y="0"/>
                      </a:cubicBezTo>
                      <a:cubicBezTo>
                        <a:pt x="12" y="0"/>
                        <a:pt x="1" y="12"/>
                        <a:pt x="1" y="26"/>
                      </a:cubicBezTo>
                      <a:cubicBezTo>
                        <a:pt x="1" y="29"/>
                        <a:pt x="1" y="32"/>
                        <a:pt x="2" y="35"/>
                      </a:cubicBezTo>
                      <a:cubicBezTo>
                        <a:pt x="1" y="35"/>
                        <a:pt x="0" y="37"/>
                        <a:pt x="0" y="39"/>
                      </a:cubicBezTo>
                      <a:cubicBezTo>
                        <a:pt x="0" y="41"/>
                        <a:pt x="2" y="43"/>
                        <a:pt x="4" y="43"/>
                      </a:cubicBezTo>
                      <a:cubicBezTo>
                        <a:pt x="4" y="43"/>
                        <a:pt x="4" y="43"/>
                        <a:pt x="4" y="43"/>
                      </a:cubicBezTo>
                      <a:cubicBezTo>
                        <a:pt x="5" y="55"/>
                        <a:pt x="14" y="67"/>
                        <a:pt x="26" y="67"/>
                      </a:cubicBezTo>
                      <a:cubicBezTo>
                        <a:pt x="26" y="67"/>
                        <a:pt x="27" y="67"/>
                        <a:pt x="27" y="67"/>
                      </a:cubicBezTo>
                      <a:cubicBezTo>
                        <a:pt x="28" y="67"/>
                        <a:pt x="28" y="66"/>
                        <a:pt x="28" y="66"/>
                      </a:cubicBezTo>
                      <a:cubicBezTo>
                        <a:pt x="28" y="66"/>
                        <a:pt x="29" y="66"/>
                        <a:pt x="29" y="66"/>
                      </a:cubicBezTo>
                      <a:cubicBezTo>
                        <a:pt x="30" y="66"/>
                        <a:pt x="30" y="66"/>
                        <a:pt x="30" y="66"/>
                      </a:cubicBezTo>
                      <a:cubicBezTo>
                        <a:pt x="30" y="66"/>
                        <a:pt x="31" y="66"/>
                        <a:pt x="31" y="66"/>
                      </a:cubicBezTo>
                      <a:cubicBezTo>
                        <a:pt x="31" y="66"/>
                        <a:pt x="32" y="65"/>
                        <a:pt x="32" y="65"/>
                      </a:cubicBezTo>
                      <a:cubicBezTo>
                        <a:pt x="32" y="65"/>
                        <a:pt x="32" y="65"/>
                        <a:pt x="33" y="65"/>
                      </a:cubicBezTo>
                      <a:cubicBezTo>
                        <a:pt x="40" y="62"/>
                        <a:pt x="46" y="52"/>
                        <a:pt x="47" y="43"/>
                      </a:cubicBezTo>
                      <a:cubicBezTo>
                        <a:pt x="47" y="43"/>
                        <a:pt x="47" y="43"/>
                        <a:pt x="47" y="43"/>
                      </a:cubicBezTo>
                      <a:cubicBezTo>
                        <a:pt x="49" y="43"/>
                        <a:pt x="51" y="41"/>
                        <a:pt x="51" y="39"/>
                      </a:cubicBezTo>
                      <a:cubicBezTo>
                        <a:pt x="51" y="37"/>
                        <a:pt x="50" y="35"/>
                        <a:pt x="49" y="35"/>
                      </a:cubicBezTo>
                      <a:cubicBezTo>
                        <a:pt x="50" y="32"/>
                        <a:pt x="50" y="29"/>
                        <a:pt x="50" y="26"/>
                      </a:cubicBezTo>
                      <a:cubicBezTo>
                        <a:pt x="50" y="14"/>
                        <a:pt x="43" y="4"/>
                        <a:pt x="32" y="1"/>
                      </a:cubicBezTo>
                      <a:cubicBezTo>
                        <a:pt x="32" y="1"/>
                        <a:pt x="32" y="1"/>
                        <a:pt x="32" y="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8" name="Freeform 28">
                  <a:extLst>
                    <a:ext uri="{FF2B5EF4-FFF2-40B4-BE49-F238E27FC236}">
                      <a16:creationId xmlns:a16="http://schemas.microsoft.com/office/drawing/2014/main" id="{D3475BBF-4D81-4F7A-88D5-19185C7EA4CE}"/>
                    </a:ext>
                  </a:extLst>
                </p:cNvPr>
                <p:cNvSpPr>
                  <a:spLocks/>
                </p:cNvSpPr>
                <p:nvPr/>
              </p:nvSpPr>
              <p:spPr bwMode="auto">
                <a:xfrm>
                  <a:off x="2655" y="1925"/>
                  <a:ext cx="351" cy="472"/>
                </a:xfrm>
                <a:custGeom>
                  <a:avLst/>
                  <a:gdLst>
                    <a:gd name="T0" fmla="*/ 317 w 146"/>
                    <a:gd name="T1" fmla="*/ 438 h 197"/>
                    <a:gd name="T2" fmla="*/ 34 w 146"/>
                    <a:gd name="T3" fmla="*/ 438 h 197"/>
                    <a:gd name="T4" fmla="*/ 34 w 146"/>
                    <a:gd name="T5" fmla="*/ 34 h 197"/>
                    <a:gd name="T6" fmla="*/ 252 w 146"/>
                    <a:gd name="T7" fmla="*/ 34 h 197"/>
                    <a:gd name="T8" fmla="*/ 252 w 146"/>
                    <a:gd name="T9" fmla="*/ 86 h 197"/>
                    <a:gd name="T10" fmla="*/ 262 w 146"/>
                    <a:gd name="T11" fmla="*/ 96 h 197"/>
                    <a:gd name="T12" fmla="*/ 317 w 146"/>
                    <a:gd name="T13" fmla="*/ 96 h 197"/>
                    <a:gd name="T14" fmla="*/ 317 w 146"/>
                    <a:gd name="T15" fmla="*/ 117 h 197"/>
                    <a:gd name="T16" fmla="*/ 322 w 146"/>
                    <a:gd name="T17" fmla="*/ 117 h 197"/>
                    <a:gd name="T18" fmla="*/ 351 w 146"/>
                    <a:gd name="T19" fmla="*/ 125 h 197"/>
                    <a:gd name="T20" fmla="*/ 351 w 146"/>
                    <a:gd name="T21" fmla="*/ 79 h 197"/>
                    <a:gd name="T22" fmla="*/ 346 w 146"/>
                    <a:gd name="T23" fmla="*/ 67 h 197"/>
                    <a:gd name="T24" fmla="*/ 281 w 146"/>
                    <a:gd name="T25" fmla="*/ 5 h 197"/>
                    <a:gd name="T26" fmla="*/ 269 w 146"/>
                    <a:gd name="T27" fmla="*/ 0 h 197"/>
                    <a:gd name="T28" fmla="*/ 17 w 146"/>
                    <a:gd name="T29" fmla="*/ 0 h 197"/>
                    <a:gd name="T30" fmla="*/ 0 w 146"/>
                    <a:gd name="T31" fmla="*/ 17 h 197"/>
                    <a:gd name="T32" fmla="*/ 0 w 146"/>
                    <a:gd name="T33" fmla="*/ 455 h 197"/>
                    <a:gd name="T34" fmla="*/ 17 w 146"/>
                    <a:gd name="T35" fmla="*/ 472 h 197"/>
                    <a:gd name="T36" fmla="*/ 334 w 146"/>
                    <a:gd name="T37" fmla="*/ 472 h 197"/>
                    <a:gd name="T38" fmla="*/ 351 w 146"/>
                    <a:gd name="T39" fmla="*/ 455 h 197"/>
                    <a:gd name="T40" fmla="*/ 351 w 146"/>
                    <a:gd name="T41" fmla="*/ 422 h 197"/>
                    <a:gd name="T42" fmla="*/ 317 w 146"/>
                    <a:gd name="T43" fmla="*/ 422 h 197"/>
                    <a:gd name="T44" fmla="*/ 317 w 146"/>
                    <a:gd name="T45" fmla="*/ 438 h 19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46" h="197">
                      <a:moveTo>
                        <a:pt x="132" y="183"/>
                      </a:moveTo>
                      <a:cubicBezTo>
                        <a:pt x="14" y="183"/>
                        <a:pt x="14" y="183"/>
                        <a:pt x="14" y="183"/>
                      </a:cubicBezTo>
                      <a:cubicBezTo>
                        <a:pt x="14" y="14"/>
                        <a:pt x="14" y="14"/>
                        <a:pt x="14" y="14"/>
                      </a:cubicBezTo>
                      <a:cubicBezTo>
                        <a:pt x="105" y="14"/>
                        <a:pt x="105" y="14"/>
                        <a:pt x="105" y="14"/>
                      </a:cubicBezTo>
                      <a:cubicBezTo>
                        <a:pt x="105" y="36"/>
                        <a:pt x="105" y="36"/>
                        <a:pt x="105" y="36"/>
                      </a:cubicBezTo>
                      <a:cubicBezTo>
                        <a:pt x="105" y="38"/>
                        <a:pt x="107" y="40"/>
                        <a:pt x="109" y="40"/>
                      </a:cubicBezTo>
                      <a:cubicBezTo>
                        <a:pt x="132" y="40"/>
                        <a:pt x="132" y="40"/>
                        <a:pt x="132" y="40"/>
                      </a:cubicBezTo>
                      <a:cubicBezTo>
                        <a:pt x="132" y="49"/>
                        <a:pt x="132" y="49"/>
                        <a:pt x="132" y="49"/>
                      </a:cubicBezTo>
                      <a:cubicBezTo>
                        <a:pt x="133" y="49"/>
                        <a:pt x="133" y="49"/>
                        <a:pt x="134" y="49"/>
                      </a:cubicBezTo>
                      <a:cubicBezTo>
                        <a:pt x="138" y="49"/>
                        <a:pt x="142" y="50"/>
                        <a:pt x="146" y="52"/>
                      </a:cubicBezTo>
                      <a:cubicBezTo>
                        <a:pt x="146" y="33"/>
                        <a:pt x="146" y="33"/>
                        <a:pt x="146" y="33"/>
                      </a:cubicBezTo>
                      <a:cubicBezTo>
                        <a:pt x="146" y="31"/>
                        <a:pt x="145" y="29"/>
                        <a:pt x="144" y="28"/>
                      </a:cubicBezTo>
                      <a:cubicBezTo>
                        <a:pt x="117" y="2"/>
                        <a:pt x="117" y="2"/>
                        <a:pt x="117" y="2"/>
                      </a:cubicBezTo>
                      <a:cubicBezTo>
                        <a:pt x="116" y="1"/>
                        <a:pt x="114" y="0"/>
                        <a:pt x="112" y="0"/>
                      </a:cubicBezTo>
                      <a:cubicBezTo>
                        <a:pt x="7" y="0"/>
                        <a:pt x="7" y="0"/>
                        <a:pt x="7" y="0"/>
                      </a:cubicBezTo>
                      <a:cubicBezTo>
                        <a:pt x="3" y="0"/>
                        <a:pt x="0" y="3"/>
                        <a:pt x="0" y="7"/>
                      </a:cubicBezTo>
                      <a:cubicBezTo>
                        <a:pt x="0" y="190"/>
                        <a:pt x="0" y="190"/>
                        <a:pt x="0" y="190"/>
                      </a:cubicBezTo>
                      <a:cubicBezTo>
                        <a:pt x="0" y="194"/>
                        <a:pt x="3" y="197"/>
                        <a:pt x="7" y="197"/>
                      </a:cubicBezTo>
                      <a:cubicBezTo>
                        <a:pt x="139" y="197"/>
                        <a:pt x="139" y="197"/>
                        <a:pt x="139" y="197"/>
                      </a:cubicBezTo>
                      <a:cubicBezTo>
                        <a:pt x="143" y="197"/>
                        <a:pt x="146" y="194"/>
                        <a:pt x="146" y="190"/>
                      </a:cubicBezTo>
                      <a:cubicBezTo>
                        <a:pt x="146" y="176"/>
                        <a:pt x="146" y="176"/>
                        <a:pt x="146" y="176"/>
                      </a:cubicBezTo>
                      <a:cubicBezTo>
                        <a:pt x="132" y="176"/>
                        <a:pt x="132" y="176"/>
                        <a:pt x="132" y="176"/>
                      </a:cubicBezTo>
                      <a:lnTo>
                        <a:pt x="132" y="18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52" name="组合 26">
              <a:extLst>
                <a:ext uri="{FF2B5EF4-FFF2-40B4-BE49-F238E27FC236}">
                  <a16:creationId xmlns:a16="http://schemas.microsoft.com/office/drawing/2014/main" id="{8B516B5B-4555-489A-BFA9-00172EB23C3D}"/>
                </a:ext>
              </a:extLst>
            </p:cNvPr>
            <p:cNvGrpSpPr/>
            <p:nvPr/>
          </p:nvGrpSpPr>
          <p:grpSpPr>
            <a:xfrm>
              <a:off x="6066824" y="3396461"/>
              <a:ext cx="540000" cy="540000"/>
              <a:chOff x="2131965" y="2258677"/>
              <a:chExt cx="578416" cy="577684"/>
            </a:xfrm>
          </p:grpSpPr>
          <p:sp>
            <p:nvSpPr>
              <p:cNvPr id="56" name="椭圆 27">
                <a:extLst>
                  <a:ext uri="{FF2B5EF4-FFF2-40B4-BE49-F238E27FC236}">
                    <a16:creationId xmlns:a16="http://schemas.microsoft.com/office/drawing/2014/main" id="{BF845C99-AEC3-4D34-BC4B-FE6F2A663340}"/>
                  </a:ext>
                </a:extLst>
              </p:cNvPr>
              <p:cNvSpPr/>
              <p:nvPr/>
            </p:nvSpPr>
            <p:spPr bwMode="auto">
              <a:xfrm>
                <a:off x="2131965" y="2258677"/>
                <a:ext cx="578416" cy="577684"/>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grpSp>
            <p:nvGrpSpPr>
              <p:cNvPr id="57" name="Group 10">
                <a:extLst>
                  <a:ext uri="{FF2B5EF4-FFF2-40B4-BE49-F238E27FC236}">
                    <a16:creationId xmlns:a16="http://schemas.microsoft.com/office/drawing/2014/main" id="{230FB310-02CD-4C62-B7D8-31DB3D21A24D}"/>
                  </a:ext>
                </a:extLst>
              </p:cNvPr>
              <p:cNvGrpSpPr>
                <a:grpSpLocks noChangeAspect="1"/>
              </p:cNvGrpSpPr>
              <p:nvPr/>
            </p:nvGrpSpPr>
            <p:grpSpPr bwMode="auto">
              <a:xfrm rot="18900000">
                <a:off x="2197092" y="2391514"/>
                <a:ext cx="319026" cy="317569"/>
                <a:chOff x="1669" y="2874"/>
                <a:chExt cx="473" cy="477"/>
              </a:xfrm>
            </p:grpSpPr>
            <p:sp>
              <p:nvSpPr>
                <p:cNvPr id="58" name="Freeform 11">
                  <a:extLst>
                    <a:ext uri="{FF2B5EF4-FFF2-40B4-BE49-F238E27FC236}">
                      <a16:creationId xmlns:a16="http://schemas.microsoft.com/office/drawing/2014/main" id="{707739BB-FDD0-4F75-9A5E-4E5F49F5C8D3}"/>
                    </a:ext>
                  </a:extLst>
                </p:cNvPr>
                <p:cNvSpPr>
                  <a:spLocks noEditPoints="1"/>
                </p:cNvSpPr>
                <p:nvPr/>
              </p:nvSpPr>
              <p:spPr bwMode="auto">
                <a:xfrm>
                  <a:off x="1669" y="2874"/>
                  <a:ext cx="473" cy="477"/>
                </a:xfrm>
                <a:custGeom>
                  <a:avLst/>
                  <a:gdLst>
                    <a:gd name="T0" fmla="*/ 463 w 197"/>
                    <a:gd name="T1" fmla="*/ 2 h 199"/>
                    <a:gd name="T2" fmla="*/ 449 w 197"/>
                    <a:gd name="T3" fmla="*/ 7 h 199"/>
                    <a:gd name="T4" fmla="*/ 5 w 197"/>
                    <a:gd name="T5" fmla="*/ 451 h 199"/>
                    <a:gd name="T6" fmla="*/ 2 w 197"/>
                    <a:gd name="T7" fmla="*/ 467 h 199"/>
                    <a:gd name="T8" fmla="*/ 17 w 197"/>
                    <a:gd name="T9" fmla="*/ 477 h 199"/>
                    <a:gd name="T10" fmla="*/ 459 w 197"/>
                    <a:gd name="T11" fmla="*/ 477 h 199"/>
                    <a:gd name="T12" fmla="*/ 473 w 197"/>
                    <a:gd name="T13" fmla="*/ 463 h 199"/>
                    <a:gd name="T14" fmla="*/ 473 w 197"/>
                    <a:gd name="T15" fmla="*/ 17 h 199"/>
                    <a:gd name="T16" fmla="*/ 463 w 197"/>
                    <a:gd name="T17" fmla="*/ 2 h 199"/>
                    <a:gd name="T18" fmla="*/ 444 w 197"/>
                    <a:gd name="T19" fmla="*/ 446 h 199"/>
                    <a:gd name="T20" fmla="*/ 53 w 197"/>
                    <a:gd name="T21" fmla="*/ 446 h 199"/>
                    <a:gd name="T22" fmla="*/ 134 w 197"/>
                    <a:gd name="T23" fmla="*/ 364 h 199"/>
                    <a:gd name="T24" fmla="*/ 173 w 197"/>
                    <a:gd name="T25" fmla="*/ 405 h 199"/>
                    <a:gd name="T26" fmla="*/ 178 w 197"/>
                    <a:gd name="T27" fmla="*/ 407 h 199"/>
                    <a:gd name="T28" fmla="*/ 182 w 197"/>
                    <a:gd name="T29" fmla="*/ 405 h 199"/>
                    <a:gd name="T30" fmla="*/ 182 w 197"/>
                    <a:gd name="T31" fmla="*/ 396 h 199"/>
                    <a:gd name="T32" fmla="*/ 144 w 197"/>
                    <a:gd name="T33" fmla="*/ 357 h 199"/>
                    <a:gd name="T34" fmla="*/ 170 w 197"/>
                    <a:gd name="T35" fmla="*/ 328 h 199"/>
                    <a:gd name="T36" fmla="*/ 199 w 197"/>
                    <a:gd name="T37" fmla="*/ 357 h 199"/>
                    <a:gd name="T38" fmla="*/ 204 w 197"/>
                    <a:gd name="T39" fmla="*/ 360 h 199"/>
                    <a:gd name="T40" fmla="*/ 209 w 197"/>
                    <a:gd name="T41" fmla="*/ 357 h 199"/>
                    <a:gd name="T42" fmla="*/ 209 w 197"/>
                    <a:gd name="T43" fmla="*/ 350 h 199"/>
                    <a:gd name="T44" fmla="*/ 180 w 197"/>
                    <a:gd name="T45" fmla="*/ 319 h 199"/>
                    <a:gd name="T46" fmla="*/ 206 w 197"/>
                    <a:gd name="T47" fmla="*/ 292 h 199"/>
                    <a:gd name="T48" fmla="*/ 247 w 197"/>
                    <a:gd name="T49" fmla="*/ 331 h 199"/>
                    <a:gd name="T50" fmla="*/ 252 w 197"/>
                    <a:gd name="T51" fmla="*/ 333 h 199"/>
                    <a:gd name="T52" fmla="*/ 255 w 197"/>
                    <a:gd name="T53" fmla="*/ 331 h 199"/>
                    <a:gd name="T54" fmla="*/ 255 w 197"/>
                    <a:gd name="T55" fmla="*/ 324 h 199"/>
                    <a:gd name="T56" fmla="*/ 216 w 197"/>
                    <a:gd name="T57" fmla="*/ 283 h 199"/>
                    <a:gd name="T58" fmla="*/ 243 w 197"/>
                    <a:gd name="T59" fmla="*/ 256 h 199"/>
                    <a:gd name="T60" fmla="*/ 274 w 197"/>
                    <a:gd name="T61" fmla="*/ 285 h 199"/>
                    <a:gd name="T62" fmla="*/ 279 w 197"/>
                    <a:gd name="T63" fmla="*/ 288 h 199"/>
                    <a:gd name="T64" fmla="*/ 281 w 197"/>
                    <a:gd name="T65" fmla="*/ 285 h 199"/>
                    <a:gd name="T66" fmla="*/ 281 w 197"/>
                    <a:gd name="T67" fmla="*/ 276 h 199"/>
                    <a:gd name="T68" fmla="*/ 252 w 197"/>
                    <a:gd name="T69" fmla="*/ 247 h 199"/>
                    <a:gd name="T70" fmla="*/ 279 w 197"/>
                    <a:gd name="T71" fmla="*/ 218 h 199"/>
                    <a:gd name="T72" fmla="*/ 319 w 197"/>
                    <a:gd name="T73" fmla="*/ 259 h 199"/>
                    <a:gd name="T74" fmla="*/ 324 w 197"/>
                    <a:gd name="T75" fmla="*/ 261 h 199"/>
                    <a:gd name="T76" fmla="*/ 329 w 197"/>
                    <a:gd name="T77" fmla="*/ 259 h 199"/>
                    <a:gd name="T78" fmla="*/ 329 w 197"/>
                    <a:gd name="T79" fmla="*/ 249 h 199"/>
                    <a:gd name="T80" fmla="*/ 288 w 197"/>
                    <a:gd name="T81" fmla="*/ 211 h 199"/>
                    <a:gd name="T82" fmla="*/ 317 w 197"/>
                    <a:gd name="T83" fmla="*/ 182 h 199"/>
                    <a:gd name="T84" fmla="*/ 346 w 197"/>
                    <a:gd name="T85" fmla="*/ 213 h 199"/>
                    <a:gd name="T86" fmla="*/ 351 w 197"/>
                    <a:gd name="T87" fmla="*/ 213 h 199"/>
                    <a:gd name="T88" fmla="*/ 355 w 197"/>
                    <a:gd name="T89" fmla="*/ 213 h 199"/>
                    <a:gd name="T90" fmla="*/ 355 w 197"/>
                    <a:gd name="T91" fmla="*/ 204 h 199"/>
                    <a:gd name="T92" fmla="*/ 324 w 197"/>
                    <a:gd name="T93" fmla="*/ 173 h 199"/>
                    <a:gd name="T94" fmla="*/ 353 w 197"/>
                    <a:gd name="T95" fmla="*/ 146 h 199"/>
                    <a:gd name="T96" fmla="*/ 353 w 197"/>
                    <a:gd name="T97" fmla="*/ 146 h 199"/>
                    <a:gd name="T98" fmla="*/ 394 w 197"/>
                    <a:gd name="T99" fmla="*/ 187 h 199"/>
                    <a:gd name="T100" fmla="*/ 396 w 197"/>
                    <a:gd name="T101" fmla="*/ 187 h 199"/>
                    <a:gd name="T102" fmla="*/ 401 w 197"/>
                    <a:gd name="T103" fmla="*/ 187 h 199"/>
                    <a:gd name="T104" fmla="*/ 401 w 197"/>
                    <a:gd name="T105" fmla="*/ 177 h 199"/>
                    <a:gd name="T106" fmla="*/ 360 w 197"/>
                    <a:gd name="T107" fmla="*/ 137 h 199"/>
                    <a:gd name="T108" fmla="*/ 360 w 197"/>
                    <a:gd name="T109" fmla="*/ 137 h 199"/>
                    <a:gd name="T110" fmla="*/ 444 w 197"/>
                    <a:gd name="T111" fmla="*/ 55 h 199"/>
                    <a:gd name="T112" fmla="*/ 444 w 197"/>
                    <a:gd name="T113" fmla="*/ 446 h 1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7" h="199">
                      <a:moveTo>
                        <a:pt x="193" y="1"/>
                      </a:moveTo>
                      <a:cubicBezTo>
                        <a:pt x="191" y="0"/>
                        <a:pt x="188" y="1"/>
                        <a:pt x="187" y="3"/>
                      </a:cubicBezTo>
                      <a:cubicBezTo>
                        <a:pt x="2" y="188"/>
                        <a:pt x="2" y="188"/>
                        <a:pt x="2" y="188"/>
                      </a:cubicBezTo>
                      <a:cubicBezTo>
                        <a:pt x="1" y="190"/>
                        <a:pt x="0" y="193"/>
                        <a:pt x="1" y="195"/>
                      </a:cubicBezTo>
                      <a:cubicBezTo>
                        <a:pt x="2" y="197"/>
                        <a:pt x="4" y="199"/>
                        <a:pt x="7" y="199"/>
                      </a:cubicBezTo>
                      <a:cubicBezTo>
                        <a:pt x="191" y="199"/>
                        <a:pt x="191" y="199"/>
                        <a:pt x="191" y="199"/>
                      </a:cubicBezTo>
                      <a:cubicBezTo>
                        <a:pt x="195" y="199"/>
                        <a:pt x="197" y="196"/>
                        <a:pt x="197" y="193"/>
                      </a:cubicBezTo>
                      <a:cubicBezTo>
                        <a:pt x="197" y="7"/>
                        <a:pt x="197" y="7"/>
                        <a:pt x="197" y="7"/>
                      </a:cubicBezTo>
                      <a:cubicBezTo>
                        <a:pt x="197" y="5"/>
                        <a:pt x="196" y="2"/>
                        <a:pt x="193" y="1"/>
                      </a:cubicBezTo>
                      <a:close/>
                      <a:moveTo>
                        <a:pt x="185" y="186"/>
                      </a:moveTo>
                      <a:cubicBezTo>
                        <a:pt x="22" y="186"/>
                        <a:pt x="22" y="186"/>
                        <a:pt x="22" y="186"/>
                      </a:cubicBezTo>
                      <a:cubicBezTo>
                        <a:pt x="56" y="152"/>
                        <a:pt x="56" y="152"/>
                        <a:pt x="56" y="152"/>
                      </a:cubicBezTo>
                      <a:cubicBezTo>
                        <a:pt x="72" y="169"/>
                        <a:pt x="72" y="169"/>
                        <a:pt x="72" y="169"/>
                      </a:cubicBezTo>
                      <a:cubicBezTo>
                        <a:pt x="73" y="169"/>
                        <a:pt x="74" y="170"/>
                        <a:pt x="74" y="170"/>
                      </a:cubicBezTo>
                      <a:cubicBezTo>
                        <a:pt x="75" y="170"/>
                        <a:pt x="76" y="169"/>
                        <a:pt x="76" y="169"/>
                      </a:cubicBezTo>
                      <a:cubicBezTo>
                        <a:pt x="77" y="168"/>
                        <a:pt x="77" y="166"/>
                        <a:pt x="76" y="165"/>
                      </a:cubicBezTo>
                      <a:cubicBezTo>
                        <a:pt x="60" y="149"/>
                        <a:pt x="60" y="149"/>
                        <a:pt x="60" y="149"/>
                      </a:cubicBezTo>
                      <a:cubicBezTo>
                        <a:pt x="71" y="137"/>
                        <a:pt x="71" y="137"/>
                        <a:pt x="71" y="137"/>
                      </a:cubicBezTo>
                      <a:cubicBezTo>
                        <a:pt x="83" y="149"/>
                        <a:pt x="83" y="149"/>
                        <a:pt x="83" y="149"/>
                      </a:cubicBezTo>
                      <a:cubicBezTo>
                        <a:pt x="84" y="150"/>
                        <a:pt x="85" y="150"/>
                        <a:pt x="85" y="150"/>
                      </a:cubicBezTo>
                      <a:cubicBezTo>
                        <a:pt x="86" y="150"/>
                        <a:pt x="87" y="150"/>
                        <a:pt x="87" y="149"/>
                      </a:cubicBezTo>
                      <a:cubicBezTo>
                        <a:pt x="88" y="148"/>
                        <a:pt x="88" y="147"/>
                        <a:pt x="87" y="146"/>
                      </a:cubicBezTo>
                      <a:cubicBezTo>
                        <a:pt x="75" y="133"/>
                        <a:pt x="75" y="133"/>
                        <a:pt x="75" y="133"/>
                      </a:cubicBezTo>
                      <a:cubicBezTo>
                        <a:pt x="86" y="122"/>
                        <a:pt x="86" y="122"/>
                        <a:pt x="86" y="122"/>
                      </a:cubicBezTo>
                      <a:cubicBezTo>
                        <a:pt x="103" y="138"/>
                        <a:pt x="103" y="138"/>
                        <a:pt x="103" y="138"/>
                      </a:cubicBezTo>
                      <a:cubicBezTo>
                        <a:pt x="103" y="139"/>
                        <a:pt x="104" y="139"/>
                        <a:pt x="105" y="139"/>
                      </a:cubicBezTo>
                      <a:cubicBezTo>
                        <a:pt x="105" y="139"/>
                        <a:pt x="106" y="139"/>
                        <a:pt x="106" y="138"/>
                      </a:cubicBezTo>
                      <a:cubicBezTo>
                        <a:pt x="107" y="137"/>
                        <a:pt x="107" y="136"/>
                        <a:pt x="106" y="135"/>
                      </a:cubicBezTo>
                      <a:cubicBezTo>
                        <a:pt x="90" y="118"/>
                        <a:pt x="90" y="118"/>
                        <a:pt x="90" y="118"/>
                      </a:cubicBezTo>
                      <a:cubicBezTo>
                        <a:pt x="101" y="107"/>
                        <a:pt x="101" y="107"/>
                        <a:pt x="101" y="107"/>
                      </a:cubicBezTo>
                      <a:cubicBezTo>
                        <a:pt x="114" y="119"/>
                        <a:pt x="114" y="119"/>
                        <a:pt x="114" y="119"/>
                      </a:cubicBezTo>
                      <a:cubicBezTo>
                        <a:pt x="114" y="120"/>
                        <a:pt x="115" y="120"/>
                        <a:pt x="116" y="120"/>
                      </a:cubicBezTo>
                      <a:cubicBezTo>
                        <a:pt x="116" y="120"/>
                        <a:pt x="117" y="120"/>
                        <a:pt x="117" y="119"/>
                      </a:cubicBezTo>
                      <a:cubicBezTo>
                        <a:pt x="118" y="118"/>
                        <a:pt x="118" y="116"/>
                        <a:pt x="117" y="115"/>
                      </a:cubicBezTo>
                      <a:cubicBezTo>
                        <a:pt x="105" y="103"/>
                        <a:pt x="105" y="103"/>
                        <a:pt x="105" y="103"/>
                      </a:cubicBezTo>
                      <a:cubicBezTo>
                        <a:pt x="116" y="91"/>
                        <a:pt x="116" y="91"/>
                        <a:pt x="116" y="91"/>
                      </a:cubicBezTo>
                      <a:cubicBezTo>
                        <a:pt x="133" y="108"/>
                        <a:pt x="133" y="108"/>
                        <a:pt x="133" y="108"/>
                      </a:cubicBezTo>
                      <a:cubicBezTo>
                        <a:pt x="134" y="109"/>
                        <a:pt x="134" y="109"/>
                        <a:pt x="135" y="109"/>
                      </a:cubicBezTo>
                      <a:cubicBezTo>
                        <a:pt x="136" y="109"/>
                        <a:pt x="136" y="109"/>
                        <a:pt x="137" y="108"/>
                      </a:cubicBezTo>
                      <a:cubicBezTo>
                        <a:pt x="138" y="107"/>
                        <a:pt x="138" y="105"/>
                        <a:pt x="137" y="104"/>
                      </a:cubicBezTo>
                      <a:cubicBezTo>
                        <a:pt x="120" y="88"/>
                        <a:pt x="120" y="88"/>
                        <a:pt x="120" y="88"/>
                      </a:cubicBezTo>
                      <a:cubicBezTo>
                        <a:pt x="132" y="76"/>
                        <a:pt x="132" y="76"/>
                        <a:pt x="132" y="76"/>
                      </a:cubicBezTo>
                      <a:cubicBezTo>
                        <a:pt x="144" y="89"/>
                        <a:pt x="144" y="89"/>
                        <a:pt x="144" y="89"/>
                      </a:cubicBezTo>
                      <a:cubicBezTo>
                        <a:pt x="145" y="89"/>
                        <a:pt x="145" y="89"/>
                        <a:pt x="146" y="89"/>
                      </a:cubicBezTo>
                      <a:cubicBezTo>
                        <a:pt x="147" y="89"/>
                        <a:pt x="147" y="89"/>
                        <a:pt x="148" y="89"/>
                      </a:cubicBezTo>
                      <a:cubicBezTo>
                        <a:pt x="149" y="88"/>
                        <a:pt x="149" y="86"/>
                        <a:pt x="148" y="85"/>
                      </a:cubicBezTo>
                      <a:cubicBezTo>
                        <a:pt x="135" y="72"/>
                        <a:pt x="135" y="72"/>
                        <a:pt x="135" y="72"/>
                      </a:cubicBezTo>
                      <a:cubicBezTo>
                        <a:pt x="147" y="61"/>
                        <a:pt x="147" y="61"/>
                        <a:pt x="147" y="61"/>
                      </a:cubicBezTo>
                      <a:cubicBezTo>
                        <a:pt x="147" y="61"/>
                        <a:pt x="147" y="61"/>
                        <a:pt x="147" y="61"/>
                      </a:cubicBezTo>
                      <a:cubicBezTo>
                        <a:pt x="164" y="78"/>
                        <a:pt x="164" y="78"/>
                        <a:pt x="164" y="78"/>
                      </a:cubicBezTo>
                      <a:cubicBezTo>
                        <a:pt x="164" y="78"/>
                        <a:pt x="165" y="78"/>
                        <a:pt x="165" y="78"/>
                      </a:cubicBezTo>
                      <a:cubicBezTo>
                        <a:pt x="166" y="78"/>
                        <a:pt x="167" y="78"/>
                        <a:pt x="167" y="78"/>
                      </a:cubicBezTo>
                      <a:cubicBezTo>
                        <a:pt x="168" y="77"/>
                        <a:pt x="168" y="75"/>
                        <a:pt x="167" y="74"/>
                      </a:cubicBezTo>
                      <a:cubicBezTo>
                        <a:pt x="150" y="57"/>
                        <a:pt x="150" y="57"/>
                        <a:pt x="150" y="57"/>
                      </a:cubicBezTo>
                      <a:cubicBezTo>
                        <a:pt x="150" y="57"/>
                        <a:pt x="150" y="57"/>
                        <a:pt x="150" y="57"/>
                      </a:cubicBezTo>
                      <a:cubicBezTo>
                        <a:pt x="185" y="23"/>
                        <a:pt x="185" y="23"/>
                        <a:pt x="185" y="23"/>
                      </a:cubicBezTo>
                      <a:lnTo>
                        <a:pt x="185" y="18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2">
                  <a:extLst>
                    <a:ext uri="{FF2B5EF4-FFF2-40B4-BE49-F238E27FC236}">
                      <a16:creationId xmlns:a16="http://schemas.microsoft.com/office/drawing/2014/main" id="{5E764BB6-BA8D-4C4D-8895-38003604A82D}"/>
                    </a:ext>
                  </a:extLst>
                </p:cNvPr>
                <p:cNvSpPr>
                  <a:spLocks noEditPoints="1"/>
                </p:cNvSpPr>
                <p:nvPr/>
              </p:nvSpPr>
              <p:spPr bwMode="auto">
                <a:xfrm>
                  <a:off x="1901" y="3082"/>
                  <a:ext cx="171" cy="170"/>
                </a:xfrm>
                <a:custGeom>
                  <a:avLst/>
                  <a:gdLst>
                    <a:gd name="T0" fmla="*/ 164 w 71"/>
                    <a:gd name="T1" fmla="*/ 0 h 71"/>
                    <a:gd name="T2" fmla="*/ 154 w 71"/>
                    <a:gd name="T3" fmla="*/ 2 h 71"/>
                    <a:gd name="T4" fmla="*/ 2 w 71"/>
                    <a:gd name="T5" fmla="*/ 156 h 71"/>
                    <a:gd name="T6" fmla="*/ 0 w 71"/>
                    <a:gd name="T7" fmla="*/ 165 h 71"/>
                    <a:gd name="T8" fmla="*/ 10 w 71"/>
                    <a:gd name="T9" fmla="*/ 170 h 71"/>
                    <a:gd name="T10" fmla="*/ 161 w 71"/>
                    <a:gd name="T11" fmla="*/ 170 h 71"/>
                    <a:gd name="T12" fmla="*/ 171 w 71"/>
                    <a:gd name="T13" fmla="*/ 160 h 71"/>
                    <a:gd name="T14" fmla="*/ 171 w 71"/>
                    <a:gd name="T15" fmla="*/ 10 h 71"/>
                    <a:gd name="T16" fmla="*/ 164 w 71"/>
                    <a:gd name="T17" fmla="*/ 0 h 71"/>
                    <a:gd name="T18" fmla="*/ 152 w 71"/>
                    <a:gd name="T19" fmla="*/ 151 h 71"/>
                    <a:gd name="T20" fmla="*/ 31 w 71"/>
                    <a:gd name="T21" fmla="*/ 151 h 71"/>
                    <a:gd name="T22" fmla="*/ 152 w 71"/>
                    <a:gd name="T23" fmla="*/ 31 h 71"/>
                    <a:gd name="T24" fmla="*/ 152 w 71"/>
                    <a:gd name="T25" fmla="*/ 151 h 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 h="71">
                      <a:moveTo>
                        <a:pt x="68" y="0"/>
                      </a:moveTo>
                      <a:cubicBezTo>
                        <a:pt x="67" y="0"/>
                        <a:pt x="65" y="0"/>
                        <a:pt x="64" y="1"/>
                      </a:cubicBezTo>
                      <a:cubicBezTo>
                        <a:pt x="1" y="65"/>
                        <a:pt x="1" y="65"/>
                        <a:pt x="1" y="65"/>
                      </a:cubicBezTo>
                      <a:cubicBezTo>
                        <a:pt x="0" y="66"/>
                        <a:pt x="0" y="67"/>
                        <a:pt x="0" y="69"/>
                      </a:cubicBezTo>
                      <a:cubicBezTo>
                        <a:pt x="1" y="70"/>
                        <a:pt x="2" y="71"/>
                        <a:pt x="4" y="71"/>
                      </a:cubicBezTo>
                      <a:cubicBezTo>
                        <a:pt x="67" y="71"/>
                        <a:pt x="67" y="71"/>
                        <a:pt x="67" y="71"/>
                      </a:cubicBezTo>
                      <a:cubicBezTo>
                        <a:pt x="69" y="71"/>
                        <a:pt x="71" y="69"/>
                        <a:pt x="71" y="67"/>
                      </a:cubicBezTo>
                      <a:cubicBezTo>
                        <a:pt x="71" y="4"/>
                        <a:pt x="71" y="4"/>
                        <a:pt x="71" y="4"/>
                      </a:cubicBezTo>
                      <a:cubicBezTo>
                        <a:pt x="71" y="2"/>
                        <a:pt x="70" y="1"/>
                        <a:pt x="68" y="0"/>
                      </a:cubicBezTo>
                      <a:close/>
                      <a:moveTo>
                        <a:pt x="63" y="63"/>
                      </a:moveTo>
                      <a:cubicBezTo>
                        <a:pt x="13" y="63"/>
                        <a:pt x="13" y="63"/>
                        <a:pt x="13" y="63"/>
                      </a:cubicBezTo>
                      <a:cubicBezTo>
                        <a:pt x="63" y="13"/>
                        <a:pt x="63" y="13"/>
                        <a:pt x="63" y="13"/>
                      </a:cubicBezTo>
                      <a:lnTo>
                        <a:pt x="63"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53" name="矩形 34">
              <a:extLst>
                <a:ext uri="{FF2B5EF4-FFF2-40B4-BE49-F238E27FC236}">
                  <a16:creationId xmlns:a16="http://schemas.microsoft.com/office/drawing/2014/main" id="{332456B9-C5D5-4E8E-A8A7-7CAF4D51FEC9}"/>
                </a:ext>
              </a:extLst>
            </p:cNvPr>
            <p:cNvSpPr/>
            <p:nvPr/>
          </p:nvSpPr>
          <p:spPr>
            <a:xfrm>
              <a:off x="6990975" y="2485399"/>
              <a:ext cx="4474428"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ea typeface="微软雅黑" panose="020B0503020204020204" pitchFamily="34" charset="-122"/>
                </a:rPr>
                <a:t>研究背景及意义和研究现状</a:t>
              </a:r>
            </a:p>
          </p:txBody>
        </p:sp>
        <p:sp>
          <p:nvSpPr>
            <p:cNvPr id="54" name="椭圆 35">
              <a:extLst>
                <a:ext uri="{FF2B5EF4-FFF2-40B4-BE49-F238E27FC236}">
                  <a16:creationId xmlns:a16="http://schemas.microsoft.com/office/drawing/2014/main" id="{36BAF895-DA98-4986-BF86-8FD31D1C8ED5}"/>
                </a:ext>
              </a:extLst>
            </p:cNvPr>
            <p:cNvSpPr/>
            <p:nvPr/>
          </p:nvSpPr>
          <p:spPr bwMode="auto">
            <a:xfrm>
              <a:off x="6076726" y="2605130"/>
              <a:ext cx="540000" cy="5400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5" name="文本框 36">
              <a:extLst>
                <a:ext uri="{FF2B5EF4-FFF2-40B4-BE49-F238E27FC236}">
                  <a16:creationId xmlns:a16="http://schemas.microsoft.com/office/drawing/2014/main" id="{FBD3C13A-FDBA-42AC-AD50-C568A882A8E1}"/>
                </a:ext>
              </a:extLst>
            </p:cNvPr>
            <p:cNvSpPr txBox="1"/>
            <p:nvPr/>
          </p:nvSpPr>
          <p:spPr>
            <a:xfrm>
              <a:off x="6037098" y="2613520"/>
              <a:ext cx="496484" cy="523220"/>
            </a:xfrm>
            <a:prstGeom prst="rect">
              <a:avLst/>
            </a:prstGeom>
            <a:noFill/>
          </p:spPr>
          <p:txBody>
            <a:bodyPr wrap="square" rtlCol="0">
              <a:spAutoFit/>
            </a:bodyPr>
            <a:lstStyle/>
            <a:p>
              <a:r>
                <a:rPr lang="zh-CN" altLang="en-US" sz="2800" dirty="0">
                  <a:solidFill>
                    <a:schemeClr val="bg1"/>
                  </a:solidFill>
                  <a:sym typeface="Wingdings" panose="05000000000000000000" pitchFamily="2" charset="2"/>
                </a:rPr>
                <a:t></a:t>
              </a:r>
              <a:endParaRPr lang="zh-CN" altLang="en-US" sz="3600" dirty="0">
                <a:solidFill>
                  <a:schemeClr val="bg1"/>
                </a:solidFill>
              </a:endParaRPr>
            </a:p>
          </p:txBody>
        </p:sp>
      </p:grpSp>
    </p:spTree>
    <p:custDataLst>
      <p:tags r:id="rId1"/>
    </p:custDataLst>
    <p:extLst>
      <p:ext uri="{BB962C8B-B14F-4D97-AF65-F5344CB8AC3E}">
        <p14:creationId xmlns:p14="http://schemas.microsoft.com/office/powerpoint/2010/main" val="38265405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a:extLst>
              <a:ext uri="{FF2B5EF4-FFF2-40B4-BE49-F238E27FC236}">
                <a16:creationId xmlns:a16="http://schemas.microsoft.com/office/drawing/2014/main" id="{0885C86B-AA1B-4195-BD5D-417DFE27BC98}"/>
              </a:ext>
            </a:extLst>
          </p:cNvPr>
          <p:cNvSpPr>
            <a:spLocks noChangeArrowheads="1"/>
          </p:cNvSpPr>
          <p:nvPr/>
        </p:nvSpPr>
        <p:spPr bwMode="auto">
          <a:xfrm>
            <a:off x="1054746" y="100957"/>
            <a:ext cx="9148034" cy="646331"/>
          </a:xfrm>
          <a:prstGeom prst="rect">
            <a:avLst/>
          </a:prstGeom>
          <a:noFill/>
          <a:ln w="9525">
            <a:noFill/>
            <a:miter lim="800000"/>
          </a:ln>
        </p:spPr>
        <p:txBody>
          <a:bodyPr wrap="square">
            <a:spAutoFit/>
          </a:bodyPr>
          <a:lstStyle/>
          <a:p>
            <a:r>
              <a:rPr lang="zh-CN" altLang="en-US" sz="3600" b="1" dirty="0">
                <a:solidFill>
                  <a:srgbClr val="4B4B4B"/>
                </a:solidFill>
                <a:latin typeface="+mn-ea"/>
                <a:ea typeface="+mn-ea"/>
              </a:rPr>
              <a:t>研究背景以及意义和研究现状</a:t>
            </a:r>
          </a:p>
        </p:txBody>
      </p:sp>
      <p:sp>
        <p:nvSpPr>
          <p:cNvPr id="21" name="矩形 20">
            <a:extLst>
              <a:ext uri="{FF2B5EF4-FFF2-40B4-BE49-F238E27FC236}">
                <a16:creationId xmlns:a16="http://schemas.microsoft.com/office/drawing/2014/main" id="{A99F63D4-5ACE-467D-B0E1-D03B1F382FDF}"/>
              </a:ext>
            </a:extLst>
          </p:cNvPr>
          <p:cNvSpPr/>
          <p:nvPr/>
        </p:nvSpPr>
        <p:spPr>
          <a:xfrm>
            <a:off x="569681" y="1238138"/>
            <a:ext cx="3252437" cy="584775"/>
          </a:xfrm>
          <a:prstGeom prst="rect">
            <a:avLst/>
          </a:prstGeom>
          <a:solidFill>
            <a:schemeClr val="accent1">
              <a:lumMod val="20000"/>
              <a:lumOff val="80000"/>
            </a:schemeClr>
          </a:solidFill>
          <a:ln w="19050" cap="flat" cmpd="sng" algn="ctr">
            <a:solidFill>
              <a:srgbClr val="005DA2"/>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dirty="0">
                <a:latin typeface="微软雅黑" panose="020B0503020204020204" pitchFamily="34" charset="-122"/>
                <a:ea typeface="微软雅黑" panose="020B0503020204020204" pitchFamily="34" charset="-122"/>
              </a:rPr>
              <a:t>国家背景</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战略需求与行业现状</a:t>
            </a:r>
            <a:endPar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B53FA4B7-E8E3-44AD-8A43-0B9DEC07596F}"/>
              </a:ext>
            </a:extLst>
          </p:cNvPr>
          <p:cNvSpPr/>
          <p:nvPr/>
        </p:nvSpPr>
        <p:spPr>
          <a:xfrm>
            <a:off x="4123619" y="1238138"/>
            <a:ext cx="3500761" cy="584775"/>
          </a:xfrm>
          <a:prstGeom prst="rect">
            <a:avLst/>
          </a:prstGeom>
          <a:solidFill>
            <a:schemeClr val="accent1">
              <a:lumMod val="20000"/>
              <a:lumOff val="80000"/>
            </a:schemeClr>
          </a:solidFill>
          <a:ln w="19050" cap="flat" cmpd="sng" algn="ctr">
            <a:solidFill>
              <a:srgbClr val="005DA2"/>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传统振动碾压机器的局限</a:t>
            </a:r>
          </a:p>
        </p:txBody>
      </p:sp>
      <p:sp>
        <p:nvSpPr>
          <p:cNvPr id="23" name="矩形 22">
            <a:extLst>
              <a:ext uri="{FF2B5EF4-FFF2-40B4-BE49-F238E27FC236}">
                <a16:creationId xmlns:a16="http://schemas.microsoft.com/office/drawing/2014/main" id="{ED15E199-0621-4C50-9569-00A81ABAA7C2}"/>
              </a:ext>
            </a:extLst>
          </p:cNvPr>
          <p:cNvSpPr/>
          <p:nvPr/>
        </p:nvSpPr>
        <p:spPr>
          <a:xfrm>
            <a:off x="7907027" y="1238138"/>
            <a:ext cx="3737676" cy="584775"/>
          </a:xfrm>
          <a:prstGeom prst="rect">
            <a:avLst/>
          </a:prstGeom>
          <a:solidFill>
            <a:schemeClr val="accent1">
              <a:lumMod val="20000"/>
              <a:lumOff val="80000"/>
            </a:schemeClr>
          </a:solidFill>
          <a:ln w="19050" cap="flat" cmpd="sng" algn="ctr">
            <a:solidFill>
              <a:srgbClr val="005DA2"/>
            </a:solidFill>
            <a:prstDash val="solid"/>
            <a:round/>
            <a:headEnd type="none" w="med" len="med"/>
            <a:tailEnd type="none" w="med" len="med"/>
          </a:ln>
        </p:spPr>
        <p:txBody>
          <a:bodyPr vert="horz" wrap="square" lIns="91440" tIns="45720" rIns="91440" bIns="4572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有关振动碾压机器人研究的不足</a:t>
            </a:r>
          </a:p>
        </p:txBody>
      </p:sp>
      <p:sp>
        <p:nvSpPr>
          <p:cNvPr id="24" name="矩形 23">
            <a:extLst>
              <a:ext uri="{FF2B5EF4-FFF2-40B4-BE49-F238E27FC236}">
                <a16:creationId xmlns:a16="http://schemas.microsoft.com/office/drawing/2014/main" id="{8B91FB59-24CF-4066-B5AC-4AA39C6A7F54}"/>
              </a:ext>
            </a:extLst>
          </p:cNvPr>
          <p:cNvSpPr/>
          <p:nvPr/>
        </p:nvSpPr>
        <p:spPr>
          <a:xfrm>
            <a:off x="4123619" y="1993915"/>
            <a:ext cx="1663100" cy="1435085"/>
          </a:xfrm>
          <a:prstGeom prst="rect">
            <a:avLst/>
          </a:prstGeom>
          <a:solidFill>
            <a:srgbClr val="FBFAD7">
              <a:alpha val="98824"/>
            </a:srgbClr>
          </a:solidFill>
          <a:ln w="19050" cap="flat" cmpd="sng" algn="ctr">
            <a:solidFill>
              <a:srgbClr val="E5AA05"/>
            </a:solidFill>
            <a:prstDash val="solid"/>
            <a:round/>
            <a:headEnd type="none" w="med" len="med"/>
            <a:tailEnd type="none" w="med" len="med"/>
          </a:ln>
        </p:spPr>
        <p:txBody>
          <a:bodyPr vert="horz" wrap="square" lIns="91440" tIns="45720" rIns="91440" bIns="45720" numCol="1" rtlCol="0" anchor="ctr" anchorCtr="1" compatLnSpc="1"/>
          <a:lstStyle/>
          <a:p>
            <a:pPr algn="ctr" eaLnBrk="1" hangingPunct="1"/>
            <a:r>
              <a:rPr lang="zh-CN" altLang="en-US" dirty="0">
                <a:latin typeface="微软雅黑" panose="020B0503020204020204" pitchFamily="34" charset="-122"/>
                <a:ea typeface="微软雅黑" panose="020B0503020204020204" pitchFamily="34" charset="-122"/>
              </a:rPr>
              <a:t>施工质量十分依赖操作人员的专业性、熟练度等</a:t>
            </a:r>
          </a:p>
        </p:txBody>
      </p:sp>
      <p:sp>
        <p:nvSpPr>
          <p:cNvPr id="28" name="矩形 27">
            <a:extLst>
              <a:ext uri="{FF2B5EF4-FFF2-40B4-BE49-F238E27FC236}">
                <a16:creationId xmlns:a16="http://schemas.microsoft.com/office/drawing/2014/main" id="{4C3F2788-6993-4AAF-9E8F-5AFA1DA8E729}"/>
              </a:ext>
            </a:extLst>
          </p:cNvPr>
          <p:cNvSpPr/>
          <p:nvPr/>
        </p:nvSpPr>
        <p:spPr>
          <a:xfrm>
            <a:off x="5932509" y="1993914"/>
            <a:ext cx="1691871" cy="1435085"/>
          </a:xfrm>
          <a:prstGeom prst="rect">
            <a:avLst/>
          </a:prstGeom>
          <a:solidFill>
            <a:srgbClr val="FBFAD7">
              <a:alpha val="98824"/>
            </a:srgbClr>
          </a:solidFill>
          <a:ln w="19050" cap="flat" cmpd="sng" algn="ctr">
            <a:solidFill>
              <a:srgbClr val="E5AA05"/>
            </a:solidFill>
            <a:prstDash val="solid"/>
            <a:round/>
            <a:headEnd type="none" w="med" len="med"/>
            <a:tailEnd type="none" w="med" len="med"/>
          </a:ln>
        </p:spPr>
        <p:txBody>
          <a:bodyPr vert="horz" wrap="square" lIns="91440" tIns="45720" rIns="91440" bIns="45720" numCol="1" rtlCol="0" anchor="ctr" anchorCtr="1" compatLnSpc="1"/>
          <a:lstStyle/>
          <a:p>
            <a:pPr algn="ctr" eaLnBrk="1" hangingPunct="1"/>
            <a:r>
              <a:rPr lang="zh-CN" altLang="en-US" dirty="0">
                <a:latin typeface="微软雅黑" panose="020B0503020204020204" pitchFamily="34" charset="-122"/>
                <a:ea typeface="微软雅黑" panose="020B0503020204020204" pitchFamily="34" charset="-122"/>
              </a:rPr>
              <a:t>工作人员安全隐患大</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劳动强度高</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且人员数量不足</a:t>
            </a:r>
          </a:p>
        </p:txBody>
      </p:sp>
      <p:sp>
        <p:nvSpPr>
          <p:cNvPr id="29" name="矩形 28">
            <a:extLst>
              <a:ext uri="{FF2B5EF4-FFF2-40B4-BE49-F238E27FC236}">
                <a16:creationId xmlns:a16="http://schemas.microsoft.com/office/drawing/2014/main" id="{5CCA5A02-E4CD-4444-AF1C-6F83C8F5CA4A}"/>
              </a:ext>
            </a:extLst>
          </p:cNvPr>
          <p:cNvSpPr/>
          <p:nvPr/>
        </p:nvSpPr>
        <p:spPr>
          <a:xfrm>
            <a:off x="7907027" y="1993914"/>
            <a:ext cx="3737676" cy="1435085"/>
          </a:xfrm>
          <a:prstGeom prst="rect">
            <a:avLst/>
          </a:prstGeom>
          <a:solidFill>
            <a:srgbClr val="FBFAD7">
              <a:alpha val="98824"/>
            </a:srgbClr>
          </a:solidFill>
          <a:ln w="19050" cap="flat" cmpd="sng" algn="ctr">
            <a:solidFill>
              <a:srgbClr val="E5AA05"/>
            </a:solidFill>
            <a:prstDash val="solid"/>
            <a:round/>
            <a:headEnd type="none" w="med" len="med"/>
            <a:tailEnd type="none" w="med" len="med"/>
          </a:ln>
        </p:spPr>
        <p:txBody>
          <a:bodyPr vert="horz" wrap="square" lIns="91440" tIns="45720" rIns="91440" bIns="45720" numCol="1" rtlCol="0" anchor="ctr" anchorCtr="1" compatLnSpc="1"/>
          <a:lstStyle/>
          <a:p>
            <a:pPr eaLnBrk="1" hangingPunct="1"/>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、运动学模型不匹配，对非结构化施工场景的适应能力不够</a:t>
            </a:r>
            <a:endParaRPr lang="en-US" altLang="zh-CN" dirty="0">
              <a:latin typeface="微软雅黑" panose="020B0503020204020204" pitchFamily="34" charset="-122"/>
              <a:ea typeface="微软雅黑" panose="020B0503020204020204" pitchFamily="34" charset="-122"/>
            </a:endParaRPr>
          </a:p>
          <a:p>
            <a:pPr eaLnBrk="1" hangingPunct="1"/>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、侧滑角难以直接测量</a:t>
            </a:r>
            <a:endParaRPr lang="en-US" altLang="zh-CN" dirty="0">
              <a:latin typeface="微软雅黑" panose="020B0503020204020204" pitchFamily="34" charset="-122"/>
              <a:ea typeface="微软雅黑" panose="020B0503020204020204" pitchFamily="34" charset="-122"/>
            </a:endParaRPr>
          </a:p>
          <a:p>
            <a:pPr eaLnBrk="1" hangingPunct="1"/>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、工况参数时变，鲁棒性不高</a:t>
            </a:r>
            <a:endParaRPr lang="en-US" altLang="zh-CN" dirty="0">
              <a:latin typeface="微软雅黑" panose="020B0503020204020204" pitchFamily="34" charset="-122"/>
              <a:ea typeface="微软雅黑" panose="020B0503020204020204" pitchFamily="34" charset="-122"/>
            </a:endParaRPr>
          </a:p>
          <a:p>
            <a:pPr eaLnBrk="1" hangingPunct="1"/>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、缺乏系统补偿侧滑角策略</a:t>
            </a:r>
          </a:p>
        </p:txBody>
      </p:sp>
      <p:sp>
        <p:nvSpPr>
          <p:cNvPr id="31" name="矩形: 圆角 30">
            <a:extLst>
              <a:ext uri="{FF2B5EF4-FFF2-40B4-BE49-F238E27FC236}">
                <a16:creationId xmlns:a16="http://schemas.microsoft.com/office/drawing/2014/main" id="{31BFB230-0D50-46DE-A1B4-DA3D25FC70C1}"/>
              </a:ext>
            </a:extLst>
          </p:cNvPr>
          <p:cNvSpPr/>
          <p:nvPr/>
        </p:nvSpPr>
        <p:spPr>
          <a:xfrm>
            <a:off x="460129" y="1157443"/>
            <a:ext cx="3465686" cy="2387861"/>
          </a:xfrm>
          <a:prstGeom prst="roundRect">
            <a:avLst>
              <a:gd name="adj" fmla="val 3586"/>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32" name="矩形: 圆角 31">
            <a:extLst>
              <a:ext uri="{FF2B5EF4-FFF2-40B4-BE49-F238E27FC236}">
                <a16:creationId xmlns:a16="http://schemas.microsoft.com/office/drawing/2014/main" id="{466323E0-7958-4F14-9DE7-C53CCE52638F}"/>
              </a:ext>
            </a:extLst>
          </p:cNvPr>
          <p:cNvSpPr/>
          <p:nvPr/>
        </p:nvSpPr>
        <p:spPr>
          <a:xfrm>
            <a:off x="4043593" y="1157444"/>
            <a:ext cx="3654765" cy="2387860"/>
          </a:xfrm>
          <a:prstGeom prst="roundRect">
            <a:avLst>
              <a:gd name="adj" fmla="val 3586"/>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33" name="矩形: 圆角 32">
            <a:extLst>
              <a:ext uri="{FF2B5EF4-FFF2-40B4-BE49-F238E27FC236}">
                <a16:creationId xmlns:a16="http://schemas.microsoft.com/office/drawing/2014/main" id="{36979F8A-C634-4216-B51F-BC9BC8DB50F0}"/>
              </a:ext>
            </a:extLst>
          </p:cNvPr>
          <p:cNvSpPr/>
          <p:nvPr/>
        </p:nvSpPr>
        <p:spPr>
          <a:xfrm>
            <a:off x="7844148" y="1157443"/>
            <a:ext cx="3887723" cy="2387859"/>
          </a:xfrm>
          <a:prstGeom prst="roundRect">
            <a:avLst>
              <a:gd name="adj" fmla="val 3586"/>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34" name="矩形 33">
            <a:extLst>
              <a:ext uri="{FF2B5EF4-FFF2-40B4-BE49-F238E27FC236}">
                <a16:creationId xmlns:a16="http://schemas.microsoft.com/office/drawing/2014/main" id="{5D60188E-84E7-4DFC-9C55-A0422C4EFEFF}"/>
              </a:ext>
            </a:extLst>
          </p:cNvPr>
          <p:cNvSpPr/>
          <p:nvPr/>
        </p:nvSpPr>
        <p:spPr>
          <a:xfrm>
            <a:off x="460129" y="3881715"/>
            <a:ext cx="11271742" cy="662479"/>
          </a:xfrm>
          <a:prstGeom prst="rect">
            <a:avLst/>
          </a:prstGeom>
          <a:solidFill>
            <a:schemeClr val="accent2">
              <a:lumMod val="20000"/>
              <a:lumOff val="80000"/>
            </a:schemeClr>
          </a:solidFill>
          <a:ln w="19050" cap="flat" cmpd="sng" algn="ctr">
            <a:solidFill>
              <a:schemeClr val="accent2">
                <a:lumMod val="75000"/>
              </a:schemeClr>
            </a:solidFill>
            <a:prstDash val="solid"/>
            <a:round/>
            <a:headEnd type="none" w="med" len="med"/>
            <a:tailEnd type="none" w="med" len="med"/>
          </a:ln>
        </p:spPr>
        <p:txBody>
          <a:bodyPr vert="horz" wrap="square" lIns="91440" tIns="45720" rIns="91440" bIns="45720" numCol="1" rtlCol="0" anchor="ctr" anchorCtr="1" compatLnSpc="1"/>
          <a:lstStyle/>
          <a:p>
            <a:pPr algn="ctr" eaLnBrk="1" hangingPunct="1"/>
            <a:r>
              <a:rPr lang="zh-CN" altLang="en-US" dirty="0">
                <a:latin typeface="微软雅黑" panose="020B0503020204020204" pitchFamily="34" charset="-122"/>
                <a:ea typeface="微软雅黑" panose="020B0503020204020204" pitchFamily="34" charset="-122"/>
              </a:rPr>
              <a:t>构建考虑侧滑效应的行驶运动学模型，实现侧滑角在线准确估计，设计强自适应运动纠偏算法，解决侧滑导致的路径偏差、压实不均问题</a:t>
            </a:r>
            <a:r>
              <a:rPr lang="zh-CN" altLang="en-US" sz="1800" kern="0" dirty="0">
                <a:effectLst/>
                <a:latin typeface="微软雅黑" panose="020B0503020204020204" pitchFamily="34" charset="-122"/>
                <a:ea typeface="微软雅黑" panose="020B0503020204020204" pitchFamily="34" charset="-122"/>
                <a:cs typeface="宋体" panose="02010600030101010101" pitchFamily="2" charset="-122"/>
              </a:rPr>
              <a:t>）</a:t>
            </a:r>
            <a:endParaRPr lang="zh-CN" altLang="en-US" dirty="0">
              <a:latin typeface="微软雅黑" panose="020B0503020204020204" pitchFamily="34" charset="-122"/>
              <a:ea typeface="微软雅黑" panose="020B0503020204020204" pitchFamily="34" charset="-122"/>
            </a:endParaRPr>
          </a:p>
        </p:txBody>
      </p:sp>
      <p:sp>
        <p:nvSpPr>
          <p:cNvPr id="35" name="箭头: 下 34">
            <a:extLst>
              <a:ext uri="{FF2B5EF4-FFF2-40B4-BE49-F238E27FC236}">
                <a16:creationId xmlns:a16="http://schemas.microsoft.com/office/drawing/2014/main" id="{24B64E1C-999A-4E4E-88A8-F73FBC512B59}"/>
              </a:ext>
            </a:extLst>
          </p:cNvPr>
          <p:cNvSpPr/>
          <p:nvPr/>
        </p:nvSpPr>
        <p:spPr>
          <a:xfrm>
            <a:off x="2091633" y="3636986"/>
            <a:ext cx="209378" cy="195364"/>
          </a:xfrm>
          <a:prstGeom prst="downArrow">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6" name="箭头: 下 35">
            <a:extLst>
              <a:ext uri="{FF2B5EF4-FFF2-40B4-BE49-F238E27FC236}">
                <a16:creationId xmlns:a16="http://schemas.microsoft.com/office/drawing/2014/main" id="{328D9BE8-9343-4FA0-A44E-240516AB15F1}"/>
              </a:ext>
            </a:extLst>
          </p:cNvPr>
          <p:cNvSpPr/>
          <p:nvPr/>
        </p:nvSpPr>
        <p:spPr>
          <a:xfrm>
            <a:off x="5729832" y="3625999"/>
            <a:ext cx="209378" cy="206349"/>
          </a:xfrm>
          <a:prstGeom prst="downArrow">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7" name="箭头: 下 36">
            <a:extLst>
              <a:ext uri="{FF2B5EF4-FFF2-40B4-BE49-F238E27FC236}">
                <a16:creationId xmlns:a16="http://schemas.microsoft.com/office/drawing/2014/main" id="{DB43AEF2-3D1A-4726-836D-44703DF4D540}"/>
              </a:ext>
            </a:extLst>
          </p:cNvPr>
          <p:cNvSpPr/>
          <p:nvPr/>
        </p:nvSpPr>
        <p:spPr>
          <a:xfrm>
            <a:off x="9688312" y="3652908"/>
            <a:ext cx="209378" cy="179440"/>
          </a:xfrm>
          <a:prstGeom prst="downArrow">
            <a:avLst/>
          </a:prstGeom>
          <a:noFill/>
          <a:ln w="19050"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ADD210B4-C73B-49E3-9D44-7C583BDD5CC4}"/>
              </a:ext>
            </a:extLst>
          </p:cNvPr>
          <p:cNvSpPr txBox="1"/>
          <p:nvPr/>
        </p:nvSpPr>
        <p:spPr>
          <a:xfrm>
            <a:off x="486086" y="1871673"/>
            <a:ext cx="3476718" cy="1754326"/>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“交通强国”“制造强国” 推动基建向智能化、绿色化、高质量化升级，而振动碾压机器人是路基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路面压实关键装备，其质量直接决定工程承载能力、稳定性、耐久性</a:t>
            </a:r>
          </a:p>
        </p:txBody>
      </p:sp>
      <p:pic>
        <p:nvPicPr>
          <p:cNvPr id="41" name="Picture 6" descr="滚筒, 滚轮火车, 卷板机, 压路机, 车辆, 建筑机械, 道路建设, 压缩">
            <a:extLst>
              <a:ext uri="{FF2B5EF4-FFF2-40B4-BE49-F238E27FC236}">
                <a16:creationId xmlns:a16="http://schemas.microsoft.com/office/drawing/2014/main" id="{1CF12DB0-1F9E-4CDC-A25C-F1E877DE2C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129" y="4588818"/>
            <a:ext cx="2586076" cy="1725383"/>
          </a:xfrm>
          <a:prstGeom prst="rect">
            <a:avLst/>
          </a:prstGeom>
          <a:noFill/>
          <a:extLst>
            <a:ext uri="{909E8E84-426E-40DD-AFC4-6F175D3DCCD1}">
              <a14:hiddenFill xmlns:a14="http://schemas.microsoft.com/office/drawing/2010/main">
                <a:solidFill>
                  <a:srgbClr val="FFFFFF"/>
                </a:solidFill>
              </a14:hiddenFill>
            </a:ext>
          </a:extLst>
        </p:spPr>
      </p:pic>
      <p:pic>
        <p:nvPicPr>
          <p:cNvPr id="42" name="图片 41">
            <a:extLst>
              <a:ext uri="{FF2B5EF4-FFF2-40B4-BE49-F238E27FC236}">
                <a16:creationId xmlns:a16="http://schemas.microsoft.com/office/drawing/2014/main" id="{467A74F4-CE09-4923-8CA5-C68029C70AB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9536" y="4588818"/>
            <a:ext cx="3006971" cy="1725383"/>
          </a:xfrm>
          <a:prstGeom prst="rect">
            <a:avLst/>
          </a:prstGeom>
          <a:noFill/>
          <a:ln>
            <a:noFill/>
          </a:ln>
        </p:spPr>
      </p:pic>
      <p:pic>
        <p:nvPicPr>
          <p:cNvPr id="25" name="图片 24">
            <a:extLst>
              <a:ext uri="{FF2B5EF4-FFF2-40B4-BE49-F238E27FC236}">
                <a16:creationId xmlns:a16="http://schemas.microsoft.com/office/drawing/2014/main" id="{ED1ECBF9-F1BB-43AB-80E5-B64008ECA8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54615" y="4599861"/>
            <a:ext cx="3277256" cy="1714340"/>
          </a:xfrm>
          <a:prstGeom prst="rect">
            <a:avLst/>
          </a:prstGeom>
        </p:spPr>
      </p:pic>
      <p:pic>
        <p:nvPicPr>
          <p:cNvPr id="26" name="图片 25" descr="屏幕截图 2025-09-27 174813">
            <a:extLst>
              <a:ext uri="{FF2B5EF4-FFF2-40B4-BE49-F238E27FC236}">
                <a16:creationId xmlns:a16="http://schemas.microsoft.com/office/drawing/2014/main" id="{AC30A127-B5FC-463E-A78C-6B3F6BD3440C}"/>
              </a:ext>
            </a:extLst>
          </p:cNvPr>
          <p:cNvPicPr/>
          <p:nvPr/>
        </p:nvPicPr>
        <p:blipFill>
          <a:blip r:embed="rId6"/>
          <a:srcRect/>
          <a:stretch>
            <a:fillRect/>
          </a:stretch>
        </p:blipFill>
        <p:spPr>
          <a:xfrm>
            <a:off x="6419838" y="4599860"/>
            <a:ext cx="1864911" cy="1714341"/>
          </a:xfrm>
          <a:prstGeom prst="rect">
            <a:avLst/>
          </a:prstGeom>
        </p:spPr>
      </p:pic>
      <p:sp>
        <p:nvSpPr>
          <p:cNvPr id="4" name="文本框 3">
            <a:extLst>
              <a:ext uri="{FF2B5EF4-FFF2-40B4-BE49-F238E27FC236}">
                <a16:creationId xmlns:a16="http://schemas.microsoft.com/office/drawing/2014/main" id="{4B794F96-F5EC-4F2C-9F4F-4C0DDB243DC4}"/>
              </a:ext>
            </a:extLst>
          </p:cNvPr>
          <p:cNvSpPr txBox="1"/>
          <p:nvPr/>
        </p:nvSpPr>
        <p:spPr>
          <a:xfrm>
            <a:off x="0" y="6488668"/>
            <a:ext cx="633507" cy="369332"/>
          </a:xfrm>
          <a:prstGeom prst="rect">
            <a:avLst/>
          </a:prstGeom>
          <a:noFill/>
        </p:spPr>
        <p:txBody>
          <a:bodyPr wrap="none" rtlCol="0">
            <a:spAutoFit/>
          </a:bodyPr>
          <a:lstStyle/>
          <a:p>
            <a:r>
              <a:rPr lang="en-US" altLang="zh-CN" dirty="0"/>
              <a:t>1/10</a:t>
            </a:r>
            <a:endParaRPr lang="zh-CN" altLang="en-US" dirty="0"/>
          </a:p>
        </p:txBody>
      </p:sp>
    </p:spTree>
    <p:extLst>
      <p:ext uri="{BB962C8B-B14F-4D97-AF65-F5344CB8AC3E}">
        <p14:creationId xmlns:p14="http://schemas.microsoft.com/office/powerpoint/2010/main" val="84615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589" y="91260"/>
            <a:ext cx="2860809" cy="992964"/>
          </a:xfrm>
          <a:prstGeom prst="rect">
            <a:avLst/>
          </a:prstGeom>
        </p:spPr>
      </p:pic>
      <p:sp>
        <p:nvSpPr>
          <p:cNvPr id="93" name="标题 1">
            <a:extLst>
              <a:ext uri="{FF2B5EF4-FFF2-40B4-BE49-F238E27FC236}">
                <a16:creationId xmlns:a16="http://schemas.microsoft.com/office/drawing/2014/main" id="{D3326511-A930-4D57-B61D-ADDA2CAECF05}"/>
              </a:ext>
            </a:extLst>
          </p:cNvPr>
          <p:cNvSpPr txBox="1"/>
          <p:nvPr/>
        </p:nvSpPr>
        <p:spPr>
          <a:xfrm>
            <a:off x="96589" y="1303416"/>
            <a:ext cx="5528658" cy="933868"/>
          </a:xfrm>
          <a:prstGeom prst="rect">
            <a:avLst/>
          </a:prstGeom>
        </p:spPr>
        <p:txBody>
          <a:bodyPr>
            <a:noAutofit/>
          </a:bodyPr>
          <a:lstStyle>
            <a:lvl1pPr algn="ctr" rtl="0" fontAlgn="base">
              <a:spcBef>
                <a:spcPct val="0"/>
              </a:spcBef>
              <a:spcAft>
                <a:spcPct val="0"/>
              </a:spcAft>
              <a:defRPr sz="44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4800" b="1" spc="-300" dirty="0">
                <a:solidFill>
                  <a:srgbClr val="C00000"/>
                </a:solidFill>
                <a:latin typeface="Arial" panose="020B0604020202020204" pitchFamily="34" charset="0"/>
                <a:ea typeface="微软雅黑 Light" panose="020B0502040204020203" pitchFamily="34" charset="-122"/>
                <a:cs typeface="Arial" panose="020B0604020202020204" pitchFamily="34" charset="0"/>
              </a:rPr>
              <a:t>研究内容及技术路线</a:t>
            </a:r>
          </a:p>
        </p:txBody>
      </p:sp>
      <p:sp>
        <p:nvSpPr>
          <p:cNvPr id="94" name="矩形 93">
            <a:extLst>
              <a:ext uri="{FF2B5EF4-FFF2-40B4-BE49-F238E27FC236}">
                <a16:creationId xmlns:a16="http://schemas.microsoft.com/office/drawing/2014/main" id="{F92D34E1-8A47-48B3-B8EB-5218E67441B3}"/>
              </a:ext>
            </a:extLst>
          </p:cNvPr>
          <p:cNvSpPr/>
          <p:nvPr/>
        </p:nvSpPr>
        <p:spPr>
          <a:xfrm>
            <a:off x="202558" y="2126998"/>
            <a:ext cx="5316720" cy="452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spc="600" dirty="0">
                <a:solidFill>
                  <a:schemeClr val="bg1">
                    <a:lumMod val="50000"/>
                  </a:schemeClr>
                </a:solidFill>
                <a:latin typeface="Arial" panose="020B0604020202020204" pitchFamily="34" charset="0"/>
                <a:ea typeface="微软雅黑 Light" panose="020B0502040204020203" pitchFamily="34" charset="-122"/>
                <a:cs typeface="Arial" panose="020B0604020202020204" pitchFamily="34" charset="0"/>
              </a:rPr>
              <a:t>Research content and technical route</a:t>
            </a:r>
          </a:p>
        </p:txBody>
      </p:sp>
      <p:grpSp>
        <p:nvGrpSpPr>
          <p:cNvPr id="42" name="组合 41">
            <a:extLst>
              <a:ext uri="{FF2B5EF4-FFF2-40B4-BE49-F238E27FC236}">
                <a16:creationId xmlns:a16="http://schemas.microsoft.com/office/drawing/2014/main" id="{E71B3C0D-2F8D-4B8A-BBA9-C022AFBA331F}"/>
              </a:ext>
            </a:extLst>
          </p:cNvPr>
          <p:cNvGrpSpPr/>
          <p:nvPr/>
        </p:nvGrpSpPr>
        <p:grpSpPr>
          <a:xfrm>
            <a:off x="141413" y="2684177"/>
            <a:ext cx="5734857" cy="3873079"/>
            <a:chOff x="6087676" y="2416572"/>
            <a:chExt cx="5734857" cy="3873079"/>
          </a:xfrm>
        </p:grpSpPr>
        <p:sp>
          <p:nvSpPr>
            <p:cNvPr id="43" name="矩形 1">
              <a:extLst>
                <a:ext uri="{FF2B5EF4-FFF2-40B4-BE49-F238E27FC236}">
                  <a16:creationId xmlns:a16="http://schemas.microsoft.com/office/drawing/2014/main" id="{3B1B703B-FAD8-4243-A7B6-6C278885D48A}"/>
                </a:ext>
              </a:extLst>
            </p:cNvPr>
            <p:cNvSpPr/>
            <p:nvPr/>
          </p:nvSpPr>
          <p:spPr>
            <a:xfrm>
              <a:off x="7000714" y="5510189"/>
              <a:ext cx="4648281"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lnSpc>
                  <a:spcPct val="110000"/>
                </a:lnSpc>
                <a:spcBef>
                  <a:spcPts val="0"/>
                </a:spcBef>
                <a:spcAft>
                  <a:spcPts val="0"/>
                </a:spcAft>
                <a:defRPr/>
              </a:pPr>
              <a:r>
                <a:rPr lang="zh-CN" altLang="en-US"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rPr>
                <a:t>基于多物理场联合仿真的模型与算法验证</a:t>
              </a:r>
              <a:endParaRPr lang="en-US" altLang="zh-CN"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矩形 2">
              <a:extLst>
                <a:ext uri="{FF2B5EF4-FFF2-40B4-BE49-F238E27FC236}">
                  <a16:creationId xmlns:a16="http://schemas.microsoft.com/office/drawing/2014/main" id="{06CE2BDB-F123-4511-AB32-918FD58C5B84}"/>
                </a:ext>
              </a:extLst>
            </p:cNvPr>
            <p:cNvSpPr/>
            <p:nvPr/>
          </p:nvSpPr>
          <p:spPr>
            <a:xfrm>
              <a:off x="6992390" y="2416572"/>
              <a:ext cx="4830143"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rPr>
                <a:t>考虑侧滑角的行驶运动学建模</a:t>
              </a:r>
              <a:endParaRPr lang="zh-CN" altLang="en-US" sz="1200"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5" name="矩形 3">
              <a:extLst>
                <a:ext uri="{FF2B5EF4-FFF2-40B4-BE49-F238E27FC236}">
                  <a16:creationId xmlns:a16="http://schemas.microsoft.com/office/drawing/2014/main" id="{C6FF19AC-EC77-4841-B5AA-FBDF898E7033}"/>
                </a:ext>
              </a:extLst>
            </p:cNvPr>
            <p:cNvSpPr/>
            <p:nvPr/>
          </p:nvSpPr>
          <p:spPr>
            <a:xfrm>
              <a:off x="7003625" y="4479924"/>
              <a:ext cx="4599650"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lnSpc>
                  <a:spcPct val="110000"/>
                </a:lnSpc>
                <a:spcBef>
                  <a:spcPts val="0"/>
                </a:spcBef>
                <a:spcAft>
                  <a:spcPts val="0"/>
                </a:spcAft>
                <a:defRPr/>
              </a:pPr>
              <a:r>
                <a:rPr lang="zh-CN" altLang="en-US"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rPr>
                <a:t>融合侧滑前馈的自适应模型预测纠偏控制</a:t>
              </a:r>
              <a:endParaRPr lang="en-US" altLang="zh-CN"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矩形 4">
              <a:extLst>
                <a:ext uri="{FF2B5EF4-FFF2-40B4-BE49-F238E27FC236}">
                  <a16:creationId xmlns:a16="http://schemas.microsoft.com/office/drawing/2014/main" id="{81F21D75-2D6C-4DD5-ABAC-B064EE9BF60A}"/>
                </a:ext>
              </a:extLst>
            </p:cNvPr>
            <p:cNvSpPr/>
            <p:nvPr/>
          </p:nvSpPr>
          <p:spPr>
            <a:xfrm>
              <a:off x="7003625" y="3449659"/>
              <a:ext cx="4474428" cy="779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eaLnBrk="1" fontAlgn="auto" hangingPunct="1">
                <a:spcBef>
                  <a:spcPts val="0"/>
                </a:spcBef>
                <a:spcAft>
                  <a:spcPts val="0"/>
                </a:spcAft>
                <a:defRPr/>
              </a:pPr>
              <a:r>
                <a:rPr lang="zh-CN" altLang="en-US"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rPr>
                <a:t>基于支持向量回归的侧滑角在线预测</a:t>
              </a:r>
              <a:endParaRPr lang="en-US" altLang="zh-CN" sz="2400" b="1" dirty="0">
                <a:solidFill>
                  <a:schemeClr val="accent5">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8" name="组合 5">
              <a:extLst>
                <a:ext uri="{FF2B5EF4-FFF2-40B4-BE49-F238E27FC236}">
                  <a16:creationId xmlns:a16="http://schemas.microsoft.com/office/drawing/2014/main" id="{582A9C79-200A-409F-AD56-B40B0FCCB743}"/>
                </a:ext>
              </a:extLst>
            </p:cNvPr>
            <p:cNvGrpSpPr>
              <a:grpSpLocks noChangeAspect="1"/>
            </p:cNvGrpSpPr>
            <p:nvPr/>
          </p:nvGrpSpPr>
          <p:grpSpPr bwMode="auto">
            <a:xfrm>
              <a:off x="6087676" y="3591431"/>
              <a:ext cx="540000" cy="540317"/>
              <a:chOff x="701895" y="1639201"/>
              <a:chExt cx="1512386" cy="1512437"/>
            </a:xfrm>
          </p:grpSpPr>
          <p:sp>
            <p:nvSpPr>
              <p:cNvPr id="67" name="椭圆 6">
                <a:extLst>
                  <a:ext uri="{FF2B5EF4-FFF2-40B4-BE49-F238E27FC236}">
                    <a16:creationId xmlns:a16="http://schemas.microsoft.com/office/drawing/2014/main" id="{DE525A81-E5C7-4E66-BCB0-8FAFC9E5F305}"/>
                  </a:ext>
                </a:extLst>
              </p:cNvPr>
              <p:cNvSpPr>
                <a:spLocks noChangeAspect="1"/>
              </p:cNvSpPr>
              <p:nvPr/>
            </p:nvSpPr>
            <p:spPr bwMode="auto">
              <a:xfrm>
                <a:off x="701895" y="1639201"/>
                <a:ext cx="1512386" cy="1512437"/>
              </a:xfrm>
              <a:prstGeom prst="ellipse">
                <a:avLst/>
              </a:prstGeom>
              <a:solidFill>
                <a:schemeClr val="accent5">
                  <a:lumMod val="50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prstClr val="white"/>
                  </a:solidFill>
                </a:endParaRPr>
              </a:p>
            </p:txBody>
          </p:sp>
          <p:grpSp>
            <p:nvGrpSpPr>
              <p:cNvPr id="68" name="组合 7">
                <a:extLst>
                  <a:ext uri="{FF2B5EF4-FFF2-40B4-BE49-F238E27FC236}">
                    <a16:creationId xmlns:a16="http://schemas.microsoft.com/office/drawing/2014/main" id="{CC025668-95EE-495E-8B97-EA436DA094A9}"/>
                  </a:ext>
                </a:extLst>
              </p:cNvPr>
              <p:cNvGrpSpPr>
                <a:grpSpLocks/>
              </p:cNvGrpSpPr>
              <p:nvPr/>
            </p:nvGrpSpPr>
            <p:grpSpPr bwMode="auto">
              <a:xfrm>
                <a:off x="993600" y="1936800"/>
                <a:ext cx="896400" cy="918000"/>
                <a:chOff x="4184651" y="3052763"/>
                <a:chExt cx="771525" cy="752475"/>
              </a:xfrm>
            </p:grpSpPr>
            <p:sp>
              <p:nvSpPr>
                <p:cNvPr id="69" name="AutoShape 3">
                  <a:extLst>
                    <a:ext uri="{FF2B5EF4-FFF2-40B4-BE49-F238E27FC236}">
                      <a16:creationId xmlns:a16="http://schemas.microsoft.com/office/drawing/2014/main" id="{956D9FD1-A310-4F22-BC15-0128C604284E}"/>
                    </a:ext>
                  </a:extLst>
                </p:cNvPr>
                <p:cNvSpPr>
                  <a:spLocks noChangeAspect="1" noChangeArrowheads="1" noTextEdit="1"/>
                </p:cNvSpPr>
                <p:nvPr/>
              </p:nvSpPr>
              <p:spPr bwMode="auto">
                <a:xfrm>
                  <a:off x="4195763" y="3052763"/>
                  <a:ext cx="752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0" name="Freeform 5">
                  <a:extLst>
                    <a:ext uri="{FF2B5EF4-FFF2-40B4-BE49-F238E27FC236}">
                      <a16:creationId xmlns:a16="http://schemas.microsoft.com/office/drawing/2014/main" id="{26940D53-DCC8-4384-9F16-59CC2008C5FE}"/>
                    </a:ext>
                  </a:extLst>
                </p:cNvPr>
                <p:cNvSpPr>
                  <a:spLocks/>
                </p:cNvSpPr>
                <p:nvPr/>
              </p:nvSpPr>
              <p:spPr bwMode="auto">
                <a:xfrm>
                  <a:off x="4656138" y="3113088"/>
                  <a:ext cx="257175" cy="255588"/>
                </a:xfrm>
                <a:custGeom>
                  <a:avLst/>
                  <a:gdLst>
                    <a:gd name="T0" fmla="*/ 174625 w 162"/>
                    <a:gd name="T1" fmla="*/ 125413 h 161"/>
                    <a:gd name="T2" fmla="*/ 220663 w 162"/>
                    <a:gd name="T3" fmla="*/ 106363 h 161"/>
                    <a:gd name="T4" fmla="*/ 257175 w 162"/>
                    <a:gd name="T5" fmla="*/ 53975 h 161"/>
                    <a:gd name="T6" fmla="*/ 204788 w 162"/>
                    <a:gd name="T7" fmla="*/ 0 h 161"/>
                    <a:gd name="T8" fmla="*/ 150813 w 162"/>
                    <a:gd name="T9" fmla="*/ 42863 h 161"/>
                    <a:gd name="T10" fmla="*/ 131763 w 162"/>
                    <a:gd name="T11" fmla="*/ 84138 h 161"/>
                    <a:gd name="T12" fmla="*/ 0 w 162"/>
                    <a:gd name="T13" fmla="*/ 217488 h 161"/>
                    <a:gd name="T14" fmla="*/ 44450 w 162"/>
                    <a:gd name="T15" fmla="*/ 255588 h 161"/>
                    <a:gd name="T16" fmla="*/ 174625 w 162"/>
                    <a:gd name="T17" fmla="*/ 125413 h 1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2" h="161">
                      <a:moveTo>
                        <a:pt x="110" y="79"/>
                      </a:moveTo>
                      <a:lnTo>
                        <a:pt x="139" y="67"/>
                      </a:lnTo>
                      <a:lnTo>
                        <a:pt x="162" y="34"/>
                      </a:lnTo>
                      <a:lnTo>
                        <a:pt x="129" y="0"/>
                      </a:lnTo>
                      <a:lnTo>
                        <a:pt x="95" y="27"/>
                      </a:lnTo>
                      <a:lnTo>
                        <a:pt x="83" y="53"/>
                      </a:lnTo>
                      <a:lnTo>
                        <a:pt x="0" y="137"/>
                      </a:lnTo>
                      <a:lnTo>
                        <a:pt x="28" y="161"/>
                      </a:lnTo>
                      <a:lnTo>
                        <a:pt x="110" y="79"/>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1" name="Freeform 6">
                  <a:extLst>
                    <a:ext uri="{FF2B5EF4-FFF2-40B4-BE49-F238E27FC236}">
                      <a16:creationId xmlns:a16="http://schemas.microsoft.com/office/drawing/2014/main" id="{7E4978A3-25E8-4649-B876-44FD91CC1509}"/>
                    </a:ext>
                  </a:extLst>
                </p:cNvPr>
                <p:cNvSpPr>
                  <a:spLocks noEditPoints="1"/>
                </p:cNvSpPr>
                <p:nvPr/>
              </p:nvSpPr>
              <p:spPr bwMode="auto">
                <a:xfrm>
                  <a:off x="4184651" y="3052763"/>
                  <a:ext cx="771525" cy="749300"/>
                </a:xfrm>
                <a:custGeom>
                  <a:avLst/>
                  <a:gdLst>
                    <a:gd name="T0" fmla="*/ 725918 w 203"/>
                    <a:gd name="T1" fmla="*/ 547712 h 197"/>
                    <a:gd name="T2" fmla="*/ 482678 w 203"/>
                    <a:gd name="T3" fmla="*/ 338516 h 197"/>
                    <a:gd name="T4" fmla="*/ 475077 w 203"/>
                    <a:gd name="T5" fmla="*/ 330909 h 197"/>
                    <a:gd name="T6" fmla="*/ 406666 w 203"/>
                    <a:gd name="T7" fmla="*/ 270052 h 197"/>
                    <a:gd name="T8" fmla="*/ 368660 w 203"/>
                    <a:gd name="T9" fmla="*/ 60857 h 197"/>
                    <a:gd name="T10" fmla="*/ 220436 w 203"/>
                    <a:gd name="T11" fmla="*/ 0 h 197"/>
                    <a:gd name="T12" fmla="*/ 178629 w 203"/>
                    <a:gd name="T13" fmla="*/ 3804 h 197"/>
                    <a:gd name="T14" fmla="*/ 171028 w 203"/>
                    <a:gd name="T15" fmla="*/ 11411 h 197"/>
                    <a:gd name="T16" fmla="*/ 174828 w 203"/>
                    <a:gd name="T17" fmla="*/ 19018 h 197"/>
                    <a:gd name="T18" fmla="*/ 262242 w 203"/>
                    <a:gd name="T19" fmla="*/ 110303 h 197"/>
                    <a:gd name="T20" fmla="*/ 281246 w 203"/>
                    <a:gd name="T21" fmla="*/ 197785 h 197"/>
                    <a:gd name="T22" fmla="*/ 209034 w 203"/>
                    <a:gd name="T23" fmla="*/ 273856 h 197"/>
                    <a:gd name="T24" fmla="*/ 121620 w 203"/>
                    <a:gd name="T25" fmla="*/ 254838 h 197"/>
                    <a:gd name="T26" fmla="*/ 30405 w 203"/>
                    <a:gd name="T27" fmla="*/ 163553 h 197"/>
                    <a:gd name="T28" fmla="*/ 19003 w 203"/>
                    <a:gd name="T29" fmla="*/ 163553 h 197"/>
                    <a:gd name="T30" fmla="*/ 11402 w 203"/>
                    <a:gd name="T31" fmla="*/ 171160 h 197"/>
                    <a:gd name="T32" fmla="*/ 68411 w 203"/>
                    <a:gd name="T33" fmla="*/ 361338 h 197"/>
                    <a:gd name="T34" fmla="*/ 205233 w 203"/>
                    <a:gd name="T35" fmla="*/ 406980 h 197"/>
                    <a:gd name="T36" fmla="*/ 205233 w 203"/>
                    <a:gd name="T37" fmla="*/ 406980 h 197"/>
                    <a:gd name="T38" fmla="*/ 281246 w 203"/>
                    <a:gd name="T39" fmla="*/ 399373 h 197"/>
                    <a:gd name="T40" fmla="*/ 558691 w 203"/>
                    <a:gd name="T41" fmla="*/ 715068 h 197"/>
                    <a:gd name="T42" fmla="*/ 642304 w 203"/>
                    <a:gd name="T43" fmla="*/ 749300 h 197"/>
                    <a:gd name="T44" fmla="*/ 725918 w 203"/>
                    <a:gd name="T45" fmla="*/ 715068 h 197"/>
                    <a:gd name="T46" fmla="*/ 725918 w 203"/>
                    <a:gd name="T47" fmla="*/ 547712 h 197"/>
                    <a:gd name="T48" fmla="*/ 661307 w 203"/>
                    <a:gd name="T49" fmla="*/ 654211 h 197"/>
                    <a:gd name="T50" fmla="*/ 619500 w 203"/>
                    <a:gd name="T51" fmla="*/ 654211 h 197"/>
                    <a:gd name="T52" fmla="*/ 619500 w 203"/>
                    <a:gd name="T53" fmla="*/ 654211 h 197"/>
                    <a:gd name="T54" fmla="*/ 619500 w 203"/>
                    <a:gd name="T55" fmla="*/ 612372 h 197"/>
                    <a:gd name="T56" fmla="*/ 661307 w 203"/>
                    <a:gd name="T57" fmla="*/ 612372 h 197"/>
                    <a:gd name="T58" fmla="*/ 661307 w 203"/>
                    <a:gd name="T59" fmla="*/ 612372 h 197"/>
                    <a:gd name="T60" fmla="*/ 661307 w 203"/>
                    <a:gd name="T61" fmla="*/ 654211 h 197"/>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03" h="197">
                      <a:moveTo>
                        <a:pt x="191" y="144"/>
                      </a:moveTo>
                      <a:cubicBezTo>
                        <a:pt x="127" y="89"/>
                        <a:pt x="127" y="89"/>
                        <a:pt x="127" y="89"/>
                      </a:cubicBezTo>
                      <a:cubicBezTo>
                        <a:pt x="125" y="87"/>
                        <a:pt x="125" y="87"/>
                        <a:pt x="125" y="87"/>
                      </a:cubicBezTo>
                      <a:cubicBezTo>
                        <a:pt x="107" y="71"/>
                        <a:pt x="107" y="71"/>
                        <a:pt x="107" y="71"/>
                      </a:cubicBezTo>
                      <a:cubicBezTo>
                        <a:pt x="109" y="61"/>
                        <a:pt x="113" y="32"/>
                        <a:pt x="97" y="16"/>
                      </a:cubicBezTo>
                      <a:cubicBezTo>
                        <a:pt x="87" y="6"/>
                        <a:pt x="73" y="0"/>
                        <a:pt x="58" y="0"/>
                      </a:cubicBezTo>
                      <a:cubicBezTo>
                        <a:pt x="54" y="0"/>
                        <a:pt x="51" y="0"/>
                        <a:pt x="47" y="1"/>
                      </a:cubicBezTo>
                      <a:cubicBezTo>
                        <a:pt x="46" y="1"/>
                        <a:pt x="45" y="2"/>
                        <a:pt x="45" y="3"/>
                      </a:cubicBezTo>
                      <a:cubicBezTo>
                        <a:pt x="45" y="4"/>
                        <a:pt x="45" y="5"/>
                        <a:pt x="46" y="5"/>
                      </a:cubicBezTo>
                      <a:cubicBezTo>
                        <a:pt x="69" y="29"/>
                        <a:pt x="69" y="29"/>
                        <a:pt x="69" y="29"/>
                      </a:cubicBezTo>
                      <a:cubicBezTo>
                        <a:pt x="74" y="52"/>
                        <a:pt x="74" y="52"/>
                        <a:pt x="74" y="52"/>
                      </a:cubicBezTo>
                      <a:cubicBezTo>
                        <a:pt x="55" y="72"/>
                        <a:pt x="55" y="72"/>
                        <a:pt x="55" y="72"/>
                      </a:cubicBezTo>
                      <a:cubicBezTo>
                        <a:pt x="32" y="67"/>
                        <a:pt x="32" y="67"/>
                        <a:pt x="32" y="67"/>
                      </a:cubicBezTo>
                      <a:cubicBezTo>
                        <a:pt x="8" y="43"/>
                        <a:pt x="8" y="43"/>
                        <a:pt x="8" y="43"/>
                      </a:cubicBezTo>
                      <a:cubicBezTo>
                        <a:pt x="7" y="42"/>
                        <a:pt x="6" y="42"/>
                        <a:pt x="5" y="43"/>
                      </a:cubicBezTo>
                      <a:cubicBezTo>
                        <a:pt x="4" y="43"/>
                        <a:pt x="3" y="44"/>
                        <a:pt x="3" y="45"/>
                      </a:cubicBezTo>
                      <a:cubicBezTo>
                        <a:pt x="0" y="63"/>
                        <a:pt x="5" y="82"/>
                        <a:pt x="18" y="95"/>
                      </a:cubicBezTo>
                      <a:cubicBezTo>
                        <a:pt x="26" y="103"/>
                        <a:pt x="38" y="107"/>
                        <a:pt x="54" y="107"/>
                      </a:cubicBezTo>
                      <a:cubicBezTo>
                        <a:pt x="54" y="107"/>
                        <a:pt x="54" y="107"/>
                        <a:pt x="54" y="107"/>
                      </a:cubicBezTo>
                      <a:cubicBezTo>
                        <a:pt x="60" y="107"/>
                        <a:pt x="67" y="106"/>
                        <a:pt x="74" y="105"/>
                      </a:cubicBezTo>
                      <a:cubicBezTo>
                        <a:pt x="147" y="188"/>
                        <a:pt x="147" y="188"/>
                        <a:pt x="147" y="188"/>
                      </a:cubicBezTo>
                      <a:cubicBezTo>
                        <a:pt x="153" y="194"/>
                        <a:pt x="160" y="197"/>
                        <a:pt x="169" y="197"/>
                      </a:cubicBezTo>
                      <a:cubicBezTo>
                        <a:pt x="177" y="197"/>
                        <a:pt x="185" y="194"/>
                        <a:pt x="191" y="188"/>
                      </a:cubicBezTo>
                      <a:cubicBezTo>
                        <a:pt x="203" y="176"/>
                        <a:pt x="203" y="156"/>
                        <a:pt x="191" y="144"/>
                      </a:cubicBezTo>
                      <a:close/>
                      <a:moveTo>
                        <a:pt x="174" y="172"/>
                      </a:moveTo>
                      <a:cubicBezTo>
                        <a:pt x="171" y="175"/>
                        <a:pt x="166" y="175"/>
                        <a:pt x="163" y="172"/>
                      </a:cubicBezTo>
                      <a:cubicBezTo>
                        <a:pt x="163" y="172"/>
                        <a:pt x="163" y="172"/>
                        <a:pt x="163" y="172"/>
                      </a:cubicBezTo>
                      <a:cubicBezTo>
                        <a:pt x="160" y="169"/>
                        <a:pt x="160" y="164"/>
                        <a:pt x="163" y="161"/>
                      </a:cubicBezTo>
                      <a:cubicBezTo>
                        <a:pt x="166" y="158"/>
                        <a:pt x="171" y="158"/>
                        <a:pt x="174" y="161"/>
                      </a:cubicBezTo>
                      <a:cubicBezTo>
                        <a:pt x="174" y="161"/>
                        <a:pt x="174" y="161"/>
                        <a:pt x="174" y="161"/>
                      </a:cubicBezTo>
                      <a:cubicBezTo>
                        <a:pt x="177" y="164"/>
                        <a:pt x="177" y="169"/>
                        <a:pt x="174" y="172"/>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72" name="Freeform 7">
                  <a:extLst>
                    <a:ext uri="{FF2B5EF4-FFF2-40B4-BE49-F238E27FC236}">
                      <a16:creationId xmlns:a16="http://schemas.microsoft.com/office/drawing/2014/main" id="{3B5310F9-AD17-488B-AD8B-24BB3886B3BA}"/>
                    </a:ext>
                  </a:extLst>
                </p:cNvPr>
                <p:cNvSpPr>
                  <a:spLocks/>
                </p:cNvSpPr>
                <p:nvPr/>
              </p:nvSpPr>
              <p:spPr bwMode="auto">
                <a:xfrm>
                  <a:off x="4225926" y="3497263"/>
                  <a:ext cx="300038" cy="304800"/>
                </a:xfrm>
                <a:custGeom>
                  <a:avLst/>
                  <a:gdLst>
                    <a:gd name="T0" fmla="*/ 224079 w 79"/>
                    <a:gd name="T1" fmla="*/ 11430 h 80"/>
                    <a:gd name="T2" fmla="*/ 186100 w 79"/>
                    <a:gd name="T3" fmla="*/ 11430 h 80"/>
                    <a:gd name="T4" fmla="*/ 7596 w 79"/>
                    <a:gd name="T5" fmla="*/ 186690 h 80"/>
                    <a:gd name="T6" fmla="*/ 7596 w 79"/>
                    <a:gd name="T7" fmla="*/ 224790 h 80"/>
                    <a:gd name="T8" fmla="*/ 79757 w 79"/>
                    <a:gd name="T9" fmla="*/ 293370 h 80"/>
                    <a:gd name="T10" fmla="*/ 117736 w 79"/>
                    <a:gd name="T11" fmla="*/ 293370 h 80"/>
                    <a:gd name="T12" fmla="*/ 288644 w 79"/>
                    <a:gd name="T13" fmla="*/ 121920 h 80"/>
                    <a:gd name="T14" fmla="*/ 288644 w 79"/>
                    <a:gd name="T15" fmla="*/ 83820 h 80"/>
                    <a:gd name="T16" fmla="*/ 224079 w 79"/>
                    <a:gd name="T17" fmla="*/ 1143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9" h="80">
                      <a:moveTo>
                        <a:pt x="59" y="3"/>
                      </a:moveTo>
                      <a:cubicBezTo>
                        <a:pt x="56" y="0"/>
                        <a:pt x="52" y="0"/>
                        <a:pt x="49" y="3"/>
                      </a:cubicBezTo>
                      <a:cubicBezTo>
                        <a:pt x="2" y="49"/>
                        <a:pt x="2" y="49"/>
                        <a:pt x="2" y="49"/>
                      </a:cubicBezTo>
                      <a:cubicBezTo>
                        <a:pt x="0" y="52"/>
                        <a:pt x="0" y="57"/>
                        <a:pt x="2" y="59"/>
                      </a:cubicBezTo>
                      <a:cubicBezTo>
                        <a:pt x="21" y="77"/>
                        <a:pt x="21" y="77"/>
                        <a:pt x="21" y="77"/>
                      </a:cubicBezTo>
                      <a:cubicBezTo>
                        <a:pt x="23" y="80"/>
                        <a:pt x="28" y="80"/>
                        <a:pt x="31" y="77"/>
                      </a:cubicBezTo>
                      <a:cubicBezTo>
                        <a:pt x="76" y="32"/>
                        <a:pt x="76" y="32"/>
                        <a:pt x="76" y="32"/>
                      </a:cubicBezTo>
                      <a:cubicBezTo>
                        <a:pt x="79" y="30"/>
                        <a:pt x="79" y="25"/>
                        <a:pt x="76" y="22"/>
                      </a:cubicBezTo>
                      <a:lnTo>
                        <a:pt x="59" y="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49" name="组合 12">
              <a:extLst>
                <a:ext uri="{FF2B5EF4-FFF2-40B4-BE49-F238E27FC236}">
                  <a16:creationId xmlns:a16="http://schemas.microsoft.com/office/drawing/2014/main" id="{B89318AE-6080-4C9F-8259-3C420AD0427F}"/>
                </a:ext>
              </a:extLst>
            </p:cNvPr>
            <p:cNvGrpSpPr>
              <a:grpSpLocks noChangeAspect="1"/>
            </p:cNvGrpSpPr>
            <p:nvPr/>
          </p:nvGrpSpPr>
          <p:grpSpPr bwMode="auto">
            <a:xfrm>
              <a:off x="6098911" y="4600967"/>
              <a:ext cx="540000" cy="539902"/>
              <a:chOff x="6949537" y="1639202"/>
              <a:chExt cx="1478339" cy="1512438"/>
            </a:xfrm>
          </p:grpSpPr>
          <p:sp>
            <p:nvSpPr>
              <p:cNvPr id="58" name="椭圆 13">
                <a:extLst>
                  <a:ext uri="{FF2B5EF4-FFF2-40B4-BE49-F238E27FC236}">
                    <a16:creationId xmlns:a16="http://schemas.microsoft.com/office/drawing/2014/main" id="{A328F537-6860-49D1-8089-B7497B1416C2}"/>
                  </a:ext>
                </a:extLst>
              </p:cNvPr>
              <p:cNvSpPr/>
              <p:nvPr/>
            </p:nvSpPr>
            <p:spPr bwMode="auto">
              <a:xfrm>
                <a:off x="6949537" y="1639202"/>
                <a:ext cx="1478339" cy="1512438"/>
              </a:xfrm>
              <a:prstGeom prst="ellipse">
                <a:avLst/>
              </a:prstGeom>
              <a:solidFill>
                <a:schemeClr val="accent5">
                  <a:lumMod val="50000"/>
                </a:schemeClr>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prstClr val="white"/>
                  </a:solidFill>
                </a:endParaRPr>
              </a:p>
            </p:txBody>
          </p:sp>
          <p:grpSp>
            <p:nvGrpSpPr>
              <p:cNvPr id="59" name="Group 22">
                <a:extLst>
                  <a:ext uri="{FF2B5EF4-FFF2-40B4-BE49-F238E27FC236}">
                    <a16:creationId xmlns:a16="http://schemas.microsoft.com/office/drawing/2014/main" id="{5B9B04BD-790E-414F-8036-F59CC17057B3}"/>
                  </a:ext>
                </a:extLst>
              </p:cNvPr>
              <p:cNvGrpSpPr>
                <a:grpSpLocks/>
              </p:cNvGrpSpPr>
              <p:nvPr/>
            </p:nvGrpSpPr>
            <p:grpSpPr bwMode="auto">
              <a:xfrm>
                <a:off x="7326000" y="1936800"/>
                <a:ext cx="896400" cy="918000"/>
                <a:chOff x="2653" y="1923"/>
                <a:chExt cx="454" cy="474"/>
              </a:xfrm>
            </p:grpSpPr>
            <p:sp>
              <p:nvSpPr>
                <p:cNvPr id="60" name="AutoShape 21">
                  <a:extLst>
                    <a:ext uri="{FF2B5EF4-FFF2-40B4-BE49-F238E27FC236}">
                      <a16:creationId xmlns:a16="http://schemas.microsoft.com/office/drawing/2014/main" id="{A443C838-41B0-4F51-875D-9F0AF3235614}"/>
                    </a:ext>
                  </a:extLst>
                </p:cNvPr>
                <p:cNvSpPr>
                  <a:spLocks noChangeAspect="1" noChangeArrowheads="1" noTextEdit="1"/>
                </p:cNvSpPr>
                <p:nvPr/>
              </p:nvSpPr>
              <p:spPr bwMode="auto">
                <a:xfrm>
                  <a:off x="2653" y="1923"/>
                  <a:ext cx="454"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1" name="Freeform 23">
                  <a:extLst>
                    <a:ext uri="{FF2B5EF4-FFF2-40B4-BE49-F238E27FC236}">
                      <a16:creationId xmlns:a16="http://schemas.microsoft.com/office/drawing/2014/main" id="{3029FB54-81ED-4E26-87DB-D66B55469604}"/>
                    </a:ext>
                  </a:extLst>
                </p:cNvPr>
                <p:cNvSpPr>
                  <a:spLocks/>
                </p:cNvSpPr>
                <p:nvPr/>
              </p:nvSpPr>
              <p:spPr bwMode="auto">
                <a:xfrm>
                  <a:off x="2730" y="2220"/>
                  <a:ext cx="139" cy="12"/>
                </a:xfrm>
                <a:custGeom>
                  <a:avLst/>
                  <a:gdLst>
                    <a:gd name="T0" fmla="*/ 134 w 58"/>
                    <a:gd name="T1" fmla="*/ 0 h 5"/>
                    <a:gd name="T2" fmla="*/ 7 w 58"/>
                    <a:gd name="T3" fmla="*/ 0 h 5"/>
                    <a:gd name="T4" fmla="*/ 0 w 58"/>
                    <a:gd name="T5" fmla="*/ 5 h 5"/>
                    <a:gd name="T6" fmla="*/ 7 w 58"/>
                    <a:gd name="T7" fmla="*/ 12 h 5"/>
                    <a:gd name="T8" fmla="*/ 134 w 58"/>
                    <a:gd name="T9" fmla="*/ 12 h 5"/>
                    <a:gd name="T10" fmla="*/ 139 w 58"/>
                    <a:gd name="T11" fmla="*/ 5 h 5"/>
                    <a:gd name="T12" fmla="*/ 134 w 58"/>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5">
                      <a:moveTo>
                        <a:pt x="56" y="0"/>
                      </a:moveTo>
                      <a:cubicBezTo>
                        <a:pt x="3" y="0"/>
                        <a:pt x="3" y="0"/>
                        <a:pt x="3" y="0"/>
                      </a:cubicBezTo>
                      <a:cubicBezTo>
                        <a:pt x="2" y="0"/>
                        <a:pt x="0" y="1"/>
                        <a:pt x="0" y="2"/>
                      </a:cubicBezTo>
                      <a:cubicBezTo>
                        <a:pt x="0" y="4"/>
                        <a:pt x="2" y="5"/>
                        <a:pt x="3" y="5"/>
                      </a:cubicBezTo>
                      <a:cubicBezTo>
                        <a:pt x="56" y="5"/>
                        <a:pt x="56" y="5"/>
                        <a:pt x="56" y="5"/>
                      </a:cubicBezTo>
                      <a:cubicBezTo>
                        <a:pt x="57" y="5"/>
                        <a:pt x="58" y="4"/>
                        <a:pt x="58" y="2"/>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2" name="Freeform 24">
                  <a:extLst>
                    <a:ext uri="{FF2B5EF4-FFF2-40B4-BE49-F238E27FC236}">
                      <a16:creationId xmlns:a16="http://schemas.microsoft.com/office/drawing/2014/main" id="{1231C9A6-688B-4BC9-B29E-DF47DECFBD01}"/>
                    </a:ext>
                  </a:extLst>
                </p:cNvPr>
                <p:cNvSpPr>
                  <a:spLocks/>
                </p:cNvSpPr>
                <p:nvPr/>
              </p:nvSpPr>
              <p:spPr bwMode="auto">
                <a:xfrm>
                  <a:off x="2730" y="2160"/>
                  <a:ext cx="139" cy="12"/>
                </a:xfrm>
                <a:custGeom>
                  <a:avLst/>
                  <a:gdLst>
                    <a:gd name="T0" fmla="*/ 134 w 58"/>
                    <a:gd name="T1" fmla="*/ 0 h 5"/>
                    <a:gd name="T2" fmla="*/ 7 w 58"/>
                    <a:gd name="T3" fmla="*/ 0 h 5"/>
                    <a:gd name="T4" fmla="*/ 0 w 58"/>
                    <a:gd name="T5" fmla="*/ 7 h 5"/>
                    <a:gd name="T6" fmla="*/ 7 w 58"/>
                    <a:gd name="T7" fmla="*/ 12 h 5"/>
                    <a:gd name="T8" fmla="*/ 134 w 58"/>
                    <a:gd name="T9" fmla="*/ 12 h 5"/>
                    <a:gd name="T10" fmla="*/ 139 w 58"/>
                    <a:gd name="T11" fmla="*/ 7 h 5"/>
                    <a:gd name="T12" fmla="*/ 134 w 58"/>
                    <a:gd name="T13" fmla="*/ 0 h 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5">
                      <a:moveTo>
                        <a:pt x="56" y="0"/>
                      </a:moveTo>
                      <a:cubicBezTo>
                        <a:pt x="3" y="0"/>
                        <a:pt x="3" y="0"/>
                        <a:pt x="3" y="0"/>
                      </a:cubicBezTo>
                      <a:cubicBezTo>
                        <a:pt x="2" y="0"/>
                        <a:pt x="0" y="1"/>
                        <a:pt x="0" y="3"/>
                      </a:cubicBezTo>
                      <a:cubicBezTo>
                        <a:pt x="0" y="4"/>
                        <a:pt x="2" y="5"/>
                        <a:pt x="3" y="5"/>
                      </a:cubicBezTo>
                      <a:cubicBezTo>
                        <a:pt x="56" y="5"/>
                        <a:pt x="56" y="5"/>
                        <a:pt x="56" y="5"/>
                      </a:cubicBezTo>
                      <a:cubicBezTo>
                        <a:pt x="57" y="5"/>
                        <a:pt x="58" y="4"/>
                        <a:pt x="58" y="3"/>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3" name="Freeform 25">
                  <a:extLst>
                    <a:ext uri="{FF2B5EF4-FFF2-40B4-BE49-F238E27FC236}">
                      <a16:creationId xmlns:a16="http://schemas.microsoft.com/office/drawing/2014/main" id="{2B42BD2A-C9AC-48CE-977F-EA799740A890}"/>
                    </a:ext>
                  </a:extLst>
                </p:cNvPr>
                <p:cNvSpPr>
                  <a:spLocks/>
                </p:cNvSpPr>
                <p:nvPr/>
              </p:nvSpPr>
              <p:spPr bwMode="auto">
                <a:xfrm>
                  <a:off x="2730" y="2100"/>
                  <a:ext cx="139" cy="14"/>
                </a:xfrm>
                <a:custGeom>
                  <a:avLst/>
                  <a:gdLst>
                    <a:gd name="T0" fmla="*/ 134 w 58"/>
                    <a:gd name="T1" fmla="*/ 0 h 6"/>
                    <a:gd name="T2" fmla="*/ 7 w 58"/>
                    <a:gd name="T3" fmla="*/ 0 h 6"/>
                    <a:gd name="T4" fmla="*/ 0 w 58"/>
                    <a:gd name="T5" fmla="*/ 7 h 6"/>
                    <a:gd name="T6" fmla="*/ 7 w 58"/>
                    <a:gd name="T7" fmla="*/ 14 h 6"/>
                    <a:gd name="T8" fmla="*/ 134 w 58"/>
                    <a:gd name="T9" fmla="*/ 14 h 6"/>
                    <a:gd name="T10" fmla="*/ 139 w 58"/>
                    <a:gd name="T11" fmla="*/ 7 h 6"/>
                    <a:gd name="T12" fmla="*/ 134 w 58"/>
                    <a:gd name="T13" fmla="*/ 0 h 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6">
                      <a:moveTo>
                        <a:pt x="56" y="0"/>
                      </a:moveTo>
                      <a:cubicBezTo>
                        <a:pt x="3" y="0"/>
                        <a:pt x="3" y="0"/>
                        <a:pt x="3" y="0"/>
                      </a:cubicBezTo>
                      <a:cubicBezTo>
                        <a:pt x="2" y="0"/>
                        <a:pt x="0" y="1"/>
                        <a:pt x="0" y="3"/>
                      </a:cubicBezTo>
                      <a:cubicBezTo>
                        <a:pt x="0" y="5"/>
                        <a:pt x="2" y="6"/>
                        <a:pt x="3" y="6"/>
                      </a:cubicBezTo>
                      <a:cubicBezTo>
                        <a:pt x="56" y="6"/>
                        <a:pt x="56" y="6"/>
                        <a:pt x="56" y="6"/>
                      </a:cubicBezTo>
                      <a:cubicBezTo>
                        <a:pt x="57" y="6"/>
                        <a:pt x="58" y="5"/>
                        <a:pt x="58" y="3"/>
                      </a:cubicBezTo>
                      <a:cubicBezTo>
                        <a:pt x="58" y="1"/>
                        <a:pt x="57" y="0"/>
                        <a:pt x="56"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4" name="Freeform 26">
                  <a:extLst>
                    <a:ext uri="{FF2B5EF4-FFF2-40B4-BE49-F238E27FC236}">
                      <a16:creationId xmlns:a16="http://schemas.microsoft.com/office/drawing/2014/main" id="{6D12F387-CE0F-4441-90CF-45179E005777}"/>
                    </a:ext>
                  </a:extLst>
                </p:cNvPr>
                <p:cNvSpPr>
                  <a:spLocks noChangeAspect="1"/>
                </p:cNvSpPr>
                <p:nvPr/>
              </p:nvSpPr>
              <p:spPr bwMode="auto">
                <a:xfrm>
                  <a:off x="2845" y="2246"/>
                  <a:ext cx="262" cy="77"/>
                </a:xfrm>
                <a:custGeom>
                  <a:avLst/>
                  <a:gdLst>
                    <a:gd name="T0" fmla="*/ 260 w 109"/>
                    <a:gd name="T1" fmla="*/ 48 h 32"/>
                    <a:gd name="T2" fmla="*/ 175 w 109"/>
                    <a:gd name="T3" fmla="*/ 0 h 32"/>
                    <a:gd name="T4" fmla="*/ 173 w 109"/>
                    <a:gd name="T5" fmla="*/ 0 h 32"/>
                    <a:gd name="T6" fmla="*/ 171 w 109"/>
                    <a:gd name="T7" fmla="*/ 0 h 32"/>
                    <a:gd name="T8" fmla="*/ 166 w 109"/>
                    <a:gd name="T9" fmla="*/ 0 h 32"/>
                    <a:gd name="T10" fmla="*/ 161 w 109"/>
                    <a:gd name="T11" fmla="*/ 2 h 32"/>
                    <a:gd name="T12" fmla="*/ 161 w 109"/>
                    <a:gd name="T13" fmla="*/ 2 h 32"/>
                    <a:gd name="T14" fmla="*/ 156 w 109"/>
                    <a:gd name="T15" fmla="*/ 5 h 32"/>
                    <a:gd name="T16" fmla="*/ 154 w 109"/>
                    <a:gd name="T17" fmla="*/ 5 h 32"/>
                    <a:gd name="T18" fmla="*/ 149 w 109"/>
                    <a:gd name="T19" fmla="*/ 7 h 32"/>
                    <a:gd name="T20" fmla="*/ 144 w 109"/>
                    <a:gd name="T21" fmla="*/ 7 h 32"/>
                    <a:gd name="T22" fmla="*/ 139 w 109"/>
                    <a:gd name="T23" fmla="*/ 7 h 32"/>
                    <a:gd name="T24" fmla="*/ 132 w 109"/>
                    <a:gd name="T25" fmla="*/ 10 h 32"/>
                    <a:gd name="T26" fmla="*/ 127 w 109"/>
                    <a:gd name="T27" fmla="*/ 7 h 32"/>
                    <a:gd name="T28" fmla="*/ 127 w 109"/>
                    <a:gd name="T29" fmla="*/ 7 h 32"/>
                    <a:gd name="T30" fmla="*/ 96 w 109"/>
                    <a:gd name="T31" fmla="*/ 0 h 32"/>
                    <a:gd name="T32" fmla="*/ 91 w 109"/>
                    <a:gd name="T33" fmla="*/ 0 h 32"/>
                    <a:gd name="T34" fmla="*/ 91 w 109"/>
                    <a:gd name="T35" fmla="*/ 0 h 32"/>
                    <a:gd name="T36" fmla="*/ 89 w 109"/>
                    <a:gd name="T37" fmla="*/ 0 h 32"/>
                    <a:gd name="T38" fmla="*/ 2 w 109"/>
                    <a:gd name="T39" fmla="*/ 48 h 32"/>
                    <a:gd name="T40" fmla="*/ 0 w 109"/>
                    <a:gd name="T41" fmla="*/ 53 h 32"/>
                    <a:gd name="T42" fmla="*/ 0 w 109"/>
                    <a:gd name="T43" fmla="*/ 72 h 32"/>
                    <a:gd name="T44" fmla="*/ 5 w 109"/>
                    <a:gd name="T45" fmla="*/ 77 h 32"/>
                    <a:gd name="T46" fmla="*/ 127 w 109"/>
                    <a:gd name="T47" fmla="*/ 77 h 32"/>
                    <a:gd name="T48" fmla="*/ 161 w 109"/>
                    <a:gd name="T49" fmla="*/ 77 h 32"/>
                    <a:gd name="T50" fmla="*/ 257 w 109"/>
                    <a:gd name="T51" fmla="*/ 77 h 32"/>
                    <a:gd name="T52" fmla="*/ 262 w 109"/>
                    <a:gd name="T53" fmla="*/ 72 h 32"/>
                    <a:gd name="T54" fmla="*/ 262 w 109"/>
                    <a:gd name="T55" fmla="*/ 53 h 32"/>
                    <a:gd name="T56" fmla="*/ 260 w 109"/>
                    <a:gd name="T57" fmla="*/ 48 h 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09" h="32">
                      <a:moveTo>
                        <a:pt x="108" y="20"/>
                      </a:moveTo>
                      <a:cubicBezTo>
                        <a:pt x="98" y="10"/>
                        <a:pt x="86" y="4"/>
                        <a:pt x="73" y="0"/>
                      </a:cubicBezTo>
                      <a:cubicBezTo>
                        <a:pt x="73" y="0"/>
                        <a:pt x="72" y="0"/>
                        <a:pt x="72" y="0"/>
                      </a:cubicBezTo>
                      <a:cubicBezTo>
                        <a:pt x="71" y="0"/>
                        <a:pt x="71" y="0"/>
                        <a:pt x="71" y="0"/>
                      </a:cubicBezTo>
                      <a:cubicBezTo>
                        <a:pt x="70" y="0"/>
                        <a:pt x="70" y="0"/>
                        <a:pt x="69" y="0"/>
                      </a:cubicBezTo>
                      <a:cubicBezTo>
                        <a:pt x="69" y="1"/>
                        <a:pt x="68" y="1"/>
                        <a:pt x="67" y="1"/>
                      </a:cubicBezTo>
                      <a:cubicBezTo>
                        <a:pt x="67" y="1"/>
                        <a:pt x="67" y="1"/>
                        <a:pt x="67" y="1"/>
                      </a:cubicBezTo>
                      <a:cubicBezTo>
                        <a:pt x="66" y="2"/>
                        <a:pt x="65" y="2"/>
                        <a:pt x="65" y="2"/>
                      </a:cubicBezTo>
                      <a:cubicBezTo>
                        <a:pt x="64" y="2"/>
                        <a:pt x="64" y="2"/>
                        <a:pt x="64" y="2"/>
                      </a:cubicBezTo>
                      <a:cubicBezTo>
                        <a:pt x="63" y="3"/>
                        <a:pt x="62" y="3"/>
                        <a:pt x="62" y="3"/>
                      </a:cubicBezTo>
                      <a:cubicBezTo>
                        <a:pt x="61" y="3"/>
                        <a:pt x="60" y="3"/>
                        <a:pt x="60" y="3"/>
                      </a:cubicBezTo>
                      <a:cubicBezTo>
                        <a:pt x="59" y="3"/>
                        <a:pt x="59" y="3"/>
                        <a:pt x="58" y="3"/>
                      </a:cubicBezTo>
                      <a:cubicBezTo>
                        <a:pt x="57" y="3"/>
                        <a:pt x="56" y="4"/>
                        <a:pt x="55" y="4"/>
                      </a:cubicBezTo>
                      <a:cubicBezTo>
                        <a:pt x="54" y="4"/>
                        <a:pt x="54" y="4"/>
                        <a:pt x="53" y="3"/>
                      </a:cubicBezTo>
                      <a:cubicBezTo>
                        <a:pt x="53" y="3"/>
                        <a:pt x="53" y="3"/>
                        <a:pt x="53" y="3"/>
                      </a:cubicBezTo>
                      <a:cubicBezTo>
                        <a:pt x="48" y="3"/>
                        <a:pt x="43" y="2"/>
                        <a:pt x="40" y="0"/>
                      </a:cubicBezTo>
                      <a:cubicBezTo>
                        <a:pt x="39" y="0"/>
                        <a:pt x="39" y="0"/>
                        <a:pt x="38" y="0"/>
                      </a:cubicBezTo>
                      <a:cubicBezTo>
                        <a:pt x="38" y="0"/>
                        <a:pt x="38" y="0"/>
                        <a:pt x="38" y="0"/>
                      </a:cubicBezTo>
                      <a:cubicBezTo>
                        <a:pt x="37" y="0"/>
                        <a:pt x="37" y="0"/>
                        <a:pt x="37" y="0"/>
                      </a:cubicBezTo>
                      <a:cubicBezTo>
                        <a:pt x="23" y="3"/>
                        <a:pt x="11" y="10"/>
                        <a:pt x="1" y="20"/>
                      </a:cubicBezTo>
                      <a:cubicBezTo>
                        <a:pt x="0" y="21"/>
                        <a:pt x="0" y="21"/>
                        <a:pt x="0" y="22"/>
                      </a:cubicBezTo>
                      <a:cubicBezTo>
                        <a:pt x="0" y="30"/>
                        <a:pt x="0" y="30"/>
                        <a:pt x="0" y="30"/>
                      </a:cubicBezTo>
                      <a:cubicBezTo>
                        <a:pt x="0" y="31"/>
                        <a:pt x="1" y="32"/>
                        <a:pt x="2" y="32"/>
                      </a:cubicBezTo>
                      <a:cubicBezTo>
                        <a:pt x="53" y="32"/>
                        <a:pt x="53" y="32"/>
                        <a:pt x="53" y="32"/>
                      </a:cubicBezTo>
                      <a:cubicBezTo>
                        <a:pt x="67" y="32"/>
                        <a:pt x="67" y="32"/>
                        <a:pt x="67" y="32"/>
                      </a:cubicBezTo>
                      <a:cubicBezTo>
                        <a:pt x="107" y="32"/>
                        <a:pt x="107" y="32"/>
                        <a:pt x="107" y="32"/>
                      </a:cubicBezTo>
                      <a:cubicBezTo>
                        <a:pt x="108" y="32"/>
                        <a:pt x="109" y="31"/>
                        <a:pt x="109" y="30"/>
                      </a:cubicBezTo>
                      <a:cubicBezTo>
                        <a:pt x="109" y="22"/>
                        <a:pt x="109" y="22"/>
                        <a:pt x="109" y="22"/>
                      </a:cubicBezTo>
                      <a:cubicBezTo>
                        <a:pt x="109" y="21"/>
                        <a:pt x="109" y="21"/>
                        <a:pt x="108" y="2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5" name="Freeform 27">
                  <a:extLst>
                    <a:ext uri="{FF2B5EF4-FFF2-40B4-BE49-F238E27FC236}">
                      <a16:creationId xmlns:a16="http://schemas.microsoft.com/office/drawing/2014/main" id="{3D94E1AA-40BD-4B04-9A0E-50CB0B72C95E}"/>
                    </a:ext>
                  </a:extLst>
                </p:cNvPr>
                <p:cNvSpPr>
                  <a:spLocks/>
                </p:cNvSpPr>
                <p:nvPr/>
              </p:nvSpPr>
              <p:spPr bwMode="auto">
                <a:xfrm>
                  <a:off x="2915" y="2067"/>
                  <a:ext cx="122" cy="160"/>
                </a:xfrm>
                <a:custGeom>
                  <a:avLst/>
                  <a:gdLst>
                    <a:gd name="T0" fmla="*/ 77 w 51"/>
                    <a:gd name="T1" fmla="*/ 2 h 67"/>
                    <a:gd name="T2" fmla="*/ 69 w 51"/>
                    <a:gd name="T3" fmla="*/ 0 h 67"/>
                    <a:gd name="T4" fmla="*/ 69 w 51"/>
                    <a:gd name="T5" fmla="*/ 0 h 67"/>
                    <a:gd name="T6" fmla="*/ 62 w 51"/>
                    <a:gd name="T7" fmla="*/ 0 h 67"/>
                    <a:gd name="T8" fmla="*/ 2 w 51"/>
                    <a:gd name="T9" fmla="*/ 62 h 67"/>
                    <a:gd name="T10" fmla="*/ 5 w 51"/>
                    <a:gd name="T11" fmla="*/ 84 h 67"/>
                    <a:gd name="T12" fmla="*/ 0 w 51"/>
                    <a:gd name="T13" fmla="*/ 93 h 67"/>
                    <a:gd name="T14" fmla="*/ 10 w 51"/>
                    <a:gd name="T15" fmla="*/ 103 h 67"/>
                    <a:gd name="T16" fmla="*/ 10 w 51"/>
                    <a:gd name="T17" fmla="*/ 103 h 67"/>
                    <a:gd name="T18" fmla="*/ 62 w 51"/>
                    <a:gd name="T19" fmla="*/ 160 h 67"/>
                    <a:gd name="T20" fmla="*/ 65 w 51"/>
                    <a:gd name="T21" fmla="*/ 160 h 67"/>
                    <a:gd name="T22" fmla="*/ 67 w 51"/>
                    <a:gd name="T23" fmla="*/ 158 h 67"/>
                    <a:gd name="T24" fmla="*/ 69 w 51"/>
                    <a:gd name="T25" fmla="*/ 158 h 67"/>
                    <a:gd name="T26" fmla="*/ 72 w 51"/>
                    <a:gd name="T27" fmla="*/ 158 h 67"/>
                    <a:gd name="T28" fmla="*/ 74 w 51"/>
                    <a:gd name="T29" fmla="*/ 158 h 67"/>
                    <a:gd name="T30" fmla="*/ 77 w 51"/>
                    <a:gd name="T31" fmla="*/ 155 h 67"/>
                    <a:gd name="T32" fmla="*/ 79 w 51"/>
                    <a:gd name="T33" fmla="*/ 155 h 67"/>
                    <a:gd name="T34" fmla="*/ 112 w 51"/>
                    <a:gd name="T35" fmla="*/ 103 h 67"/>
                    <a:gd name="T36" fmla="*/ 112 w 51"/>
                    <a:gd name="T37" fmla="*/ 103 h 67"/>
                    <a:gd name="T38" fmla="*/ 122 w 51"/>
                    <a:gd name="T39" fmla="*/ 93 h 67"/>
                    <a:gd name="T40" fmla="*/ 117 w 51"/>
                    <a:gd name="T41" fmla="*/ 84 h 67"/>
                    <a:gd name="T42" fmla="*/ 120 w 51"/>
                    <a:gd name="T43" fmla="*/ 62 h 67"/>
                    <a:gd name="T44" fmla="*/ 77 w 51"/>
                    <a:gd name="T45" fmla="*/ 2 h 67"/>
                    <a:gd name="T46" fmla="*/ 77 w 51"/>
                    <a:gd name="T47" fmla="*/ 2 h 6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51" h="67">
                      <a:moveTo>
                        <a:pt x="32" y="1"/>
                      </a:moveTo>
                      <a:cubicBezTo>
                        <a:pt x="31" y="1"/>
                        <a:pt x="30" y="0"/>
                        <a:pt x="29" y="0"/>
                      </a:cubicBezTo>
                      <a:cubicBezTo>
                        <a:pt x="29" y="0"/>
                        <a:pt x="29" y="0"/>
                        <a:pt x="29" y="0"/>
                      </a:cubicBezTo>
                      <a:cubicBezTo>
                        <a:pt x="28" y="0"/>
                        <a:pt x="27" y="0"/>
                        <a:pt x="26" y="0"/>
                      </a:cubicBezTo>
                      <a:cubicBezTo>
                        <a:pt x="12" y="0"/>
                        <a:pt x="1" y="12"/>
                        <a:pt x="1" y="26"/>
                      </a:cubicBezTo>
                      <a:cubicBezTo>
                        <a:pt x="1" y="29"/>
                        <a:pt x="1" y="32"/>
                        <a:pt x="2" y="35"/>
                      </a:cubicBezTo>
                      <a:cubicBezTo>
                        <a:pt x="1" y="35"/>
                        <a:pt x="0" y="37"/>
                        <a:pt x="0" y="39"/>
                      </a:cubicBezTo>
                      <a:cubicBezTo>
                        <a:pt x="0" y="41"/>
                        <a:pt x="2" y="43"/>
                        <a:pt x="4" y="43"/>
                      </a:cubicBezTo>
                      <a:cubicBezTo>
                        <a:pt x="4" y="43"/>
                        <a:pt x="4" y="43"/>
                        <a:pt x="4" y="43"/>
                      </a:cubicBezTo>
                      <a:cubicBezTo>
                        <a:pt x="5" y="55"/>
                        <a:pt x="14" y="67"/>
                        <a:pt x="26" y="67"/>
                      </a:cubicBezTo>
                      <a:cubicBezTo>
                        <a:pt x="26" y="67"/>
                        <a:pt x="27" y="67"/>
                        <a:pt x="27" y="67"/>
                      </a:cubicBezTo>
                      <a:cubicBezTo>
                        <a:pt x="28" y="67"/>
                        <a:pt x="28" y="66"/>
                        <a:pt x="28" y="66"/>
                      </a:cubicBezTo>
                      <a:cubicBezTo>
                        <a:pt x="28" y="66"/>
                        <a:pt x="29" y="66"/>
                        <a:pt x="29" y="66"/>
                      </a:cubicBezTo>
                      <a:cubicBezTo>
                        <a:pt x="30" y="66"/>
                        <a:pt x="30" y="66"/>
                        <a:pt x="30" y="66"/>
                      </a:cubicBezTo>
                      <a:cubicBezTo>
                        <a:pt x="30" y="66"/>
                        <a:pt x="31" y="66"/>
                        <a:pt x="31" y="66"/>
                      </a:cubicBezTo>
                      <a:cubicBezTo>
                        <a:pt x="31" y="66"/>
                        <a:pt x="32" y="65"/>
                        <a:pt x="32" y="65"/>
                      </a:cubicBezTo>
                      <a:cubicBezTo>
                        <a:pt x="32" y="65"/>
                        <a:pt x="32" y="65"/>
                        <a:pt x="33" y="65"/>
                      </a:cubicBezTo>
                      <a:cubicBezTo>
                        <a:pt x="40" y="62"/>
                        <a:pt x="46" y="52"/>
                        <a:pt x="47" y="43"/>
                      </a:cubicBezTo>
                      <a:cubicBezTo>
                        <a:pt x="47" y="43"/>
                        <a:pt x="47" y="43"/>
                        <a:pt x="47" y="43"/>
                      </a:cubicBezTo>
                      <a:cubicBezTo>
                        <a:pt x="49" y="43"/>
                        <a:pt x="51" y="41"/>
                        <a:pt x="51" y="39"/>
                      </a:cubicBezTo>
                      <a:cubicBezTo>
                        <a:pt x="51" y="37"/>
                        <a:pt x="50" y="35"/>
                        <a:pt x="49" y="35"/>
                      </a:cubicBezTo>
                      <a:cubicBezTo>
                        <a:pt x="50" y="32"/>
                        <a:pt x="50" y="29"/>
                        <a:pt x="50" y="26"/>
                      </a:cubicBezTo>
                      <a:cubicBezTo>
                        <a:pt x="50" y="14"/>
                        <a:pt x="43" y="4"/>
                        <a:pt x="32" y="1"/>
                      </a:cubicBezTo>
                      <a:cubicBezTo>
                        <a:pt x="32" y="1"/>
                        <a:pt x="32" y="1"/>
                        <a:pt x="32" y="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66" name="Freeform 28">
                  <a:extLst>
                    <a:ext uri="{FF2B5EF4-FFF2-40B4-BE49-F238E27FC236}">
                      <a16:creationId xmlns:a16="http://schemas.microsoft.com/office/drawing/2014/main" id="{2676CD7E-5D84-4D50-94DD-7FD88552ED36}"/>
                    </a:ext>
                  </a:extLst>
                </p:cNvPr>
                <p:cNvSpPr>
                  <a:spLocks/>
                </p:cNvSpPr>
                <p:nvPr/>
              </p:nvSpPr>
              <p:spPr bwMode="auto">
                <a:xfrm>
                  <a:off x="2655" y="1925"/>
                  <a:ext cx="351" cy="472"/>
                </a:xfrm>
                <a:custGeom>
                  <a:avLst/>
                  <a:gdLst>
                    <a:gd name="T0" fmla="*/ 317 w 146"/>
                    <a:gd name="T1" fmla="*/ 438 h 197"/>
                    <a:gd name="T2" fmla="*/ 34 w 146"/>
                    <a:gd name="T3" fmla="*/ 438 h 197"/>
                    <a:gd name="T4" fmla="*/ 34 w 146"/>
                    <a:gd name="T5" fmla="*/ 34 h 197"/>
                    <a:gd name="T6" fmla="*/ 252 w 146"/>
                    <a:gd name="T7" fmla="*/ 34 h 197"/>
                    <a:gd name="T8" fmla="*/ 252 w 146"/>
                    <a:gd name="T9" fmla="*/ 86 h 197"/>
                    <a:gd name="T10" fmla="*/ 262 w 146"/>
                    <a:gd name="T11" fmla="*/ 96 h 197"/>
                    <a:gd name="T12" fmla="*/ 317 w 146"/>
                    <a:gd name="T13" fmla="*/ 96 h 197"/>
                    <a:gd name="T14" fmla="*/ 317 w 146"/>
                    <a:gd name="T15" fmla="*/ 117 h 197"/>
                    <a:gd name="T16" fmla="*/ 322 w 146"/>
                    <a:gd name="T17" fmla="*/ 117 h 197"/>
                    <a:gd name="T18" fmla="*/ 351 w 146"/>
                    <a:gd name="T19" fmla="*/ 125 h 197"/>
                    <a:gd name="T20" fmla="*/ 351 w 146"/>
                    <a:gd name="T21" fmla="*/ 79 h 197"/>
                    <a:gd name="T22" fmla="*/ 346 w 146"/>
                    <a:gd name="T23" fmla="*/ 67 h 197"/>
                    <a:gd name="T24" fmla="*/ 281 w 146"/>
                    <a:gd name="T25" fmla="*/ 5 h 197"/>
                    <a:gd name="T26" fmla="*/ 269 w 146"/>
                    <a:gd name="T27" fmla="*/ 0 h 197"/>
                    <a:gd name="T28" fmla="*/ 17 w 146"/>
                    <a:gd name="T29" fmla="*/ 0 h 197"/>
                    <a:gd name="T30" fmla="*/ 0 w 146"/>
                    <a:gd name="T31" fmla="*/ 17 h 197"/>
                    <a:gd name="T32" fmla="*/ 0 w 146"/>
                    <a:gd name="T33" fmla="*/ 455 h 197"/>
                    <a:gd name="T34" fmla="*/ 17 w 146"/>
                    <a:gd name="T35" fmla="*/ 472 h 197"/>
                    <a:gd name="T36" fmla="*/ 334 w 146"/>
                    <a:gd name="T37" fmla="*/ 472 h 197"/>
                    <a:gd name="T38" fmla="*/ 351 w 146"/>
                    <a:gd name="T39" fmla="*/ 455 h 197"/>
                    <a:gd name="T40" fmla="*/ 351 w 146"/>
                    <a:gd name="T41" fmla="*/ 422 h 197"/>
                    <a:gd name="T42" fmla="*/ 317 w 146"/>
                    <a:gd name="T43" fmla="*/ 422 h 197"/>
                    <a:gd name="T44" fmla="*/ 317 w 146"/>
                    <a:gd name="T45" fmla="*/ 438 h 19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46" h="197">
                      <a:moveTo>
                        <a:pt x="132" y="183"/>
                      </a:moveTo>
                      <a:cubicBezTo>
                        <a:pt x="14" y="183"/>
                        <a:pt x="14" y="183"/>
                        <a:pt x="14" y="183"/>
                      </a:cubicBezTo>
                      <a:cubicBezTo>
                        <a:pt x="14" y="14"/>
                        <a:pt x="14" y="14"/>
                        <a:pt x="14" y="14"/>
                      </a:cubicBezTo>
                      <a:cubicBezTo>
                        <a:pt x="105" y="14"/>
                        <a:pt x="105" y="14"/>
                        <a:pt x="105" y="14"/>
                      </a:cubicBezTo>
                      <a:cubicBezTo>
                        <a:pt x="105" y="36"/>
                        <a:pt x="105" y="36"/>
                        <a:pt x="105" y="36"/>
                      </a:cubicBezTo>
                      <a:cubicBezTo>
                        <a:pt x="105" y="38"/>
                        <a:pt x="107" y="40"/>
                        <a:pt x="109" y="40"/>
                      </a:cubicBezTo>
                      <a:cubicBezTo>
                        <a:pt x="132" y="40"/>
                        <a:pt x="132" y="40"/>
                        <a:pt x="132" y="40"/>
                      </a:cubicBezTo>
                      <a:cubicBezTo>
                        <a:pt x="132" y="49"/>
                        <a:pt x="132" y="49"/>
                        <a:pt x="132" y="49"/>
                      </a:cubicBezTo>
                      <a:cubicBezTo>
                        <a:pt x="133" y="49"/>
                        <a:pt x="133" y="49"/>
                        <a:pt x="134" y="49"/>
                      </a:cubicBezTo>
                      <a:cubicBezTo>
                        <a:pt x="138" y="49"/>
                        <a:pt x="142" y="50"/>
                        <a:pt x="146" y="52"/>
                      </a:cubicBezTo>
                      <a:cubicBezTo>
                        <a:pt x="146" y="33"/>
                        <a:pt x="146" y="33"/>
                        <a:pt x="146" y="33"/>
                      </a:cubicBezTo>
                      <a:cubicBezTo>
                        <a:pt x="146" y="31"/>
                        <a:pt x="145" y="29"/>
                        <a:pt x="144" y="28"/>
                      </a:cubicBezTo>
                      <a:cubicBezTo>
                        <a:pt x="117" y="2"/>
                        <a:pt x="117" y="2"/>
                        <a:pt x="117" y="2"/>
                      </a:cubicBezTo>
                      <a:cubicBezTo>
                        <a:pt x="116" y="1"/>
                        <a:pt x="114" y="0"/>
                        <a:pt x="112" y="0"/>
                      </a:cubicBezTo>
                      <a:cubicBezTo>
                        <a:pt x="7" y="0"/>
                        <a:pt x="7" y="0"/>
                        <a:pt x="7" y="0"/>
                      </a:cubicBezTo>
                      <a:cubicBezTo>
                        <a:pt x="3" y="0"/>
                        <a:pt x="0" y="3"/>
                        <a:pt x="0" y="7"/>
                      </a:cubicBezTo>
                      <a:cubicBezTo>
                        <a:pt x="0" y="190"/>
                        <a:pt x="0" y="190"/>
                        <a:pt x="0" y="190"/>
                      </a:cubicBezTo>
                      <a:cubicBezTo>
                        <a:pt x="0" y="194"/>
                        <a:pt x="3" y="197"/>
                        <a:pt x="7" y="197"/>
                      </a:cubicBezTo>
                      <a:cubicBezTo>
                        <a:pt x="139" y="197"/>
                        <a:pt x="139" y="197"/>
                        <a:pt x="139" y="197"/>
                      </a:cubicBezTo>
                      <a:cubicBezTo>
                        <a:pt x="143" y="197"/>
                        <a:pt x="146" y="194"/>
                        <a:pt x="146" y="190"/>
                      </a:cubicBezTo>
                      <a:cubicBezTo>
                        <a:pt x="146" y="176"/>
                        <a:pt x="146" y="176"/>
                        <a:pt x="146" y="176"/>
                      </a:cubicBezTo>
                      <a:cubicBezTo>
                        <a:pt x="132" y="176"/>
                        <a:pt x="132" y="176"/>
                        <a:pt x="132" y="176"/>
                      </a:cubicBezTo>
                      <a:lnTo>
                        <a:pt x="132" y="18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grpSp>
        </p:grpSp>
        <p:grpSp>
          <p:nvGrpSpPr>
            <p:cNvPr id="50" name="组合 26">
              <a:extLst>
                <a:ext uri="{FF2B5EF4-FFF2-40B4-BE49-F238E27FC236}">
                  <a16:creationId xmlns:a16="http://schemas.microsoft.com/office/drawing/2014/main" id="{28F0E3B8-9E21-4662-A28C-46BD8EFEE7FC}"/>
                </a:ext>
              </a:extLst>
            </p:cNvPr>
            <p:cNvGrpSpPr/>
            <p:nvPr/>
          </p:nvGrpSpPr>
          <p:grpSpPr>
            <a:xfrm>
              <a:off x="6087797" y="2549933"/>
              <a:ext cx="540000" cy="540000"/>
              <a:chOff x="2154430" y="1358770"/>
              <a:chExt cx="578416" cy="577684"/>
            </a:xfrm>
          </p:grpSpPr>
          <p:sp>
            <p:nvSpPr>
              <p:cNvPr id="54" name="椭圆 27">
                <a:extLst>
                  <a:ext uri="{FF2B5EF4-FFF2-40B4-BE49-F238E27FC236}">
                    <a16:creationId xmlns:a16="http://schemas.microsoft.com/office/drawing/2014/main" id="{56304461-F761-4E8B-8B25-550CF8D6D958}"/>
                  </a:ext>
                </a:extLst>
              </p:cNvPr>
              <p:cNvSpPr/>
              <p:nvPr/>
            </p:nvSpPr>
            <p:spPr bwMode="auto">
              <a:xfrm>
                <a:off x="2154430" y="1358770"/>
                <a:ext cx="578416" cy="577684"/>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grpSp>
            <p:nvGrpSpPr>
              <p:cNvPr id="55" name="Group 10">
                <a:extLst>
                  <a:ext uri="{FF2B5EF4-FFF2-40B4-BE49-F238E27FC236}">
                    <a16:creationId xmlns:a16="http://schemas.microsoft.com/office/drawing/2014/main" id="{A57FAC3D-CC2E-4A0B-B9E3-2E0CA4DFE71A}"/>
                  </a:ext>
                </a:extLst>
              </p:cNvPr>
              <p:cNvGrpSpPr>
                <a:grpSpLocks noChangeAspect="1"/>
              </p:cNvGrpSpPr>
              <p:nvPr/>
            </p:nvGrpSpPr>
            <p:grpSpPr bwMode="auto">
              <a:xfrm rot="18900000">
                <a:off x="2220001" y="1491097"/>
                <a:ext cx="319026" cy="317569"/>
                <a:chOff x="2637" y="1942"/>
                <a:chExt cx="473" cy="477"/>
              </a:xfrm>
            </p:grpSpPr>
            <p:sp>
              <p:nvSpPr>
                <p:cNvPr id="56" name="Freeform 11">
                  <a:extLst>
                    <a:ext uri="{FF2B5EF4-FFF2-40B4-BE49-F238E27FC236}">
                      <a16:creationId xmlns:a16="http://schemas.microsoft.com/office/drawing/2014/main" id="{819A8452-CF24-4DA4-A64C-9116592B336C}"/>
                    </a:ext>
                  </a:extLst>
                </p:cNvPr>
                <p:cNvSpPr>
                  <a:spLocks noEditPoints="1"/>
                </p:cNvSpPr>
                <p:nvPr/>
              </p:nvSpPr>
              <p:spPr bwMode="auto">
                <a:xfrm>
                  <a:off x="2637" y="1942"/>
                  <a:ext cx="473" cy="477"/>
                </a:xfrm>
                <a:custGeom>
                  <a:avLst/>
                  <a:gdLst>
                    <a:gd name="T0" fmla="*/ 463 w 197"/>
                    <a:gd name="T1" fmla="*/ 2 h 199"/>
                    <a:gd name="T2" fmla="*/ 449 w 197"/>
                    <a:gd name="T3" fmla="*/ 7 h 199"/>
                    <a:gd name="T4" fmla="*/ 5 w 197"/>
                    <a:gd name="T5" fmla="*/ 451 h 199"/>
                    <a:gd name="T6" fmla="*/ 2 w 197"/>
                    <a:gd name="T7" fmla="*/ 467 h 199"/>
                    <a:gd name="T8" fmla="*/ 17 w 197"/>
                    <a:gd name="T9" fmla="*/ 477 h 199"/>
                    <a:gd name="T10" fmla="*/ 459 w 197"/>
                    <a:gd name="T11" fmla="*/ 477 h 199"/>
                    <a:gd name="T12" fmla="*/ 473 w 197"/>
                    <a:gd name="T13" fmla="*/ 463 h 199"/>
                    <a:gd name="T14" fmla="*/ 473 w 197"/>
                    <a:gd name="T15" fmla="*/ 17 h 199"/>
                    <a:gd name="T16" fmla="*/ 463 w 197"/>
                    <a:gd name="T17" fmla="*/ 2 h 199"/>
                    <a:gd name="T18" fmla="*/ 444 w 197"/>
                    <a:gd name="T19" fmla="*/ 446 h 199"/>
                    <a:gd name="T20" fmla="*/ 53 w 197"/>
                    <a:gd name="T21" fmla="*/ 446 h 199"/>
                    <a:gd name="T22" fmla="*/ 134 w 197"/>
                    <a:gd name="T23" fmla="*/ 364 h 199"/>
                    <a:gd name="T24" fmla="*/ 173 w 197"/>
                    <a:gd name="T25" fmla="*/ 405 h 199"/>
                    <a:gd name="T26" fmla="*/ 178 w 197"/>
                    <a:gd name="T27" fmla="*/ 407 h 199"/>
                    <a:gd name="T28" fmla="*/ 182 w 197"/>
                    <a:gd name="T29" fmla="*/ 405 h 199"/>
                    <a:gd name="T30" fmla="*/ 182 w 197"/>
                    <a:gd name="T31" fmla="*/ 396 h 199"/>
                    <a:gd name="T32" fmla="*/ 144 w 197"/>
                    <a:gd name="T33" fmla="*/ 357 h 199"/>
                    <a:gd name="T34" fmla="*/ 170 w 197"/>
                    <a:gd name="T35" fmla="*/ 328 h 199"/>
                    <a:gd name="T36" fmla="*/ 199 w 197"/>
                    <a:gd name="T37" fmla="*/ 357 h 199"/>
                    <a:gd name="T38" fmla="*/ 204 w 197"/>
                    <a:gd name="T39" fmla="*/ 360 h 199"/>
                    <a:gd name="T40" fmla="*/ 209 w 197"/>
                    <a:gd name="T41" fmla="*/ 357 h 199"/>
                    <a:gd name="T42" fmla="*/ 209 w 197"/>
                    <a:gd name="T43" fmla="*/ 350 h 199"/>
                    <a:gd name="T44" fmla="*/ 180 w 197"/>
                    <a:gd name="T45" fmla="*/ 319 h 199"/>
                    <a:gd name="T46" fmla="*/ 206 w 197"/>
                    <a:gd name="T47" fmla="*/ 292 h 199"/>
                    <a:gd name="T48" fmla="*/ 247 w 197"/>
                    <a:gd name="T49" fmla="*/ 331 h 199"/>
                    <a:gd name="T50" fmla="*/ 252 w 197"/>
                    <a:gd name="T51" fmla="*/ 333 h 199"/>
                    <a:gd name="T52" fmla="*/ 255 w 197"/>
                    <a:gd name="T53" fmla="*/ 331 h 199"/>
                    <a:gd name="T54" fmla="*/ 255 w 197"/>
                    <a:gd name="T55" fmla="*/ 324 h 199"/>
                    <a:gd name="T56" fmla="*/ 216 w 197"/>
                    <a:gd name="T57" fmla="*/ 283 h 199"/>
                    <a:gd name="T58" fmla="*/ 243 w 197"/>
                    <a:gd name="T59" fmla="*/ 256 h 199"/>
                    <a:gd name="T60" fmla="*/ 274 w 197"/>
                    <a:gd name="T61" fmla="*/ 285 h 199"/>
                    <a:gd name="T62" fmla="*/ 279 w 197"/>
                    <a:gd name="T63" fmla="*/ 288 h 199"/>
                    <a:gd name="T64" fmla="*/ 281 w 197"/>
                    <a:gd name="T65" fmla="*/ 285 h 199"/>
                    <a:gd name="T66" fmla="*/ 281 w 197"/>
                    <a:gd name="T67" fmla="*/ 276 h 199"/>
                    <a:gd name="T68" fmla="*/ 252 w 197"/>
                    <a:gd name="T69" fmla="*/ 247 h 199"/>
                    <a:gd name="T70" fmla="*/ 279 w 197"/>
                    <a:gd name="T71" fmla="*/ 218 h 199"/>
                    <a:gd name="T72" fmla="*/ 319 w 197"/>
                    <a:gd name="T73" fmla="*/ 259 h 199"/>
                    <a:gd name="T74" fmla="*/ 324 w 197"/>
                    <a:gd name="T75" fmla="*/ 261 h 199"/>
                    <a:gd name="T76" fmla="*/ 329 w 197"/>
                    <a:gd name="T77" fmla="*/ 259 h 199"/>
                    <a:gd name="T78" fmla="*/ 329 w 197"/>
                    <a:gd name="T79" fmla="*/ 249 h 199"/>
                    <a:gd name="T80" fmla="*/ 288 w 197"/>
                    <a:gd name="T81" fmla="*/ 211 h 199"/>
                    <a:gd name="T82" fmla="*/ 317 w 197"/>
                    <a:gd name="T83" fmla="*/ 182 h 199"/>
                    <a:gd name="T84" fmla="*/ 346 w 197"/>
                    <a:gd name="T85" fmla="*/ 213 h 199"/>
                    <a:gd name="T86" fmla="*/ 351 w 197"/>
                    <a:gd name="T87" fmla="*/ 213 h 199"/>
                    <a:gd name="T88" fmla="*/ 355 w 197"/>
                    <a:gd name="T89" fmla="*/ 213 h 199"/>
                    <a:gd name="T90" fmla="*/ 355 w 197"/>
                    <a:gd name="T91" fmla="*/ 204 h 199"/>
                    <a:gd name="T92" fmla="*/ 324 w 197"/>
                    <a:gd name="T93" fmla="*/ 173 h 199"/>
                    <a:gd name="T94" fmla="*/ 353 w 197"/>
                    <a:gd name="T95" fmla="*/ 146 h 199"/>
                    <a:gd name="T96" fmla="*/ 353 w 197"/>
                    <a:gd name="T97" fmla="*/ 146 h 199"/>
                    <a:gd name="T98" fmla="*/ 394 w 197"/>
                    <a:gd name="T99" fmla="*/ 187 h 199"/>
                    <a:gd name="T100" fmla="*/ 396 w 197"/>
                    <a:gd name="T101" fmla="*/ 187 h 199"/>
                    <a:gd name="T102" fmla="*/ 401 w 197"/>
                    <a:gd name="T103" fmla="*/ 187 h 199"/>
                    <a:gd name="T104" fmla="*/ 401 w 197"/>
                    <a:gd name="T105" fmla="*/ 177 h 199"/>
                    <a:gd name="T106" fmla="*/ 360 w 197"/>
                    <a:gd name="T107" fmla="*/ 137 h 199"/>
                    <a:gd name="T108" fmla="*/ 360 w 197"/>
                    <a:gd name="T109" fmla="*/ 137 h 199"/>
                    <a:gd name="T110" fmla="*/ 444 w 197"/>
                    <a:gd name="T111" fmla="*/ 55 h 199"/>
                    <a:gd name="T112" fmla="*/ 444 w 197"/>
                    <a:gd name="T113" fmla="*/ 446 h 19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7" h="199">
                      <a:moveTo>
                        <a:pt x="193" y="1"/>
                      </a:moveTo>
                      <a:cubicBezTo>
                        <a:pt x="191" y="0"/>
                        <a:pt x="188" y="1"/>
                        <a:pt x="187" y="3"/>
                      </a:cubicBezTo>
                      <a:cubicBezTo>
                        <a:pt x="2" y="188"/>
                        <a:pt x="2" y="188"/>
                        <a:pt x="2" y="188"/>
                      </a:cubicBezTo>
                      <a:cubicBezTo>
                        <a:pt x="1" y="190"/>
                        <a:pt x="0" y="193"/>
                        <a:pt x="1" y="195"/>
                      </a:cubicBezTo>
                      <a:cubicBezTo>
                        <a:pt x="2" y="197"/>
                        <a:pt x="4" y="199"/>
                        <a:pt x="7" y="199"/>
                      </a:cubicBezTo>
                      <a:cubicBezTo>
                        <a:pt x="191" y="199"/>
                        <a:pt x="191" y="199"/>
                        <a:pt x="191" y="199"/>
                      </a:cubicBezTo>
                      <a:cubicBezTo>
                        <a:pt x="195" y="199"/>
                        <a:pt x="197" y="196"/>
                        <a:pt x="197" y="193"/>
                      </a:cubicBezTo>
                      <a:cubicBezTo>
                        <a:pt x="197" y="7"/>
                        <a:pt x="197" y="7"/>
                        <a:pt x="197" y="7"/>
                      </a:cubicBezTo>
                      <a:cubicBezTo>
                        <a:pt x="197" y="5"/>
                        <a:pt x="196" y="2"/>
                        <a:pt x="193" y="1"/>
                      </a:cubicBezTo>
                      <a:close/>
                      <a:moveTo>
                        <a:pt x="185" y="186"/>
                      </a:moveTo>
                      <a:cubicBezTo>
                        <a:pt x="22" y="186"/>
                        <a:pt x="22" y="186"/>
                        <a:pt x="22" y="186"/>
                      </a:cubicBezTo>
                      <a:cubicBezTo>
                        <a:pt x="56" y="152"/>
                        <a:pt x="56" y="152"/>
                        <a:pt x="56" y="152"/>
                      </a:cubicBezTo>
                      <a:cubicBezTo>
                        <a:pt x="72" y="169"/>
                        <a:pt x="72" y="169"/>
                        <a:pt x="72" y="169"/>
                      </a:cubicBezTo>
                      <a:cubicBezTo>
                        <a:pt x="73" y="169"/>
                        <a:pt x="74" y="170"/>
                        <a:pt x="74" y="170"/>
                      </a:cubicBezTo>
                      <a:cubicBezTo>
                        <a:pt x="75" y="170"/>
                        <a:pt x="76" y="169"/>
                        <a:pt x="76" y="169"/>
                      </a:cubicBezTo>
                      <a:cubicBezTo>
                        <a:pt x="77" y="168"/>
                        <a:pt x="77" y="166"/>
                        <a:pt x="76" y="165"/>
                      </a:cubicBezTo>
                      <a:cubicBezTo>
                        <a:pt x="60" y="149"/>
                        <a:pt x="60" y="149"/>
                        <a:pt x="60" y="149"/>
                      </a:cubicBezTo>
                      <a:cubicBezTo>
                        <a:pt x="71" y="137"/>
                        <a:pt x="71" y="137"/>
                        <a:pt x="71" y="137"/>
                      </a:cubicBezTo>
                      <a:cubicBezTo>
                        <a:pt x="83" y="149"/>
                        <a:pt x="83" y="149"/>
                        <a:pt x="83" y="149"/>
                      </a:cubicBezTo>
                      <a:cubicBezTo>
                        <a:pt x="84" y="150"/>
                        <a:pt x="85" y="150"/>
                        <a:pt x="85" y="150"/>
                      </a:cubicBezTo>
                      <a:cubicBezTo>
                        <a:pt x="86" y="150"/>
                        <a:pt x="87" y="150"/>
                        <a:pt x="87" y="149"/>
                      </a:cubicBezTo>
                      <a:cubicBezTo>
                        <a:pt x="88" y="148"/>
                        <a:pt x="88" y="147"/>
                        <a:pt x="87" y="146"/>
                      </a:cubicBezTo>
                      <a:cubicBezTo>
                        <a:pt x="75" y="133"/>
                        <a:pt x="75" y="133"/>
                        <a:pt x="75" y="133"/>
                      </a:cubicBezTo>
                      <a:cubicBezTo>
                        <a:pt x="86" y="122"/>
                        <a:pt x="86" y="122"/>
                        <a:pt x="86" y="122"/>
                      </a:cubicBezTo>
                      <a:cubicBezTo>
                        <a:pt x="103" y="138"/>
                        <a:pt x="103" y="138"/>
                        <a:pt x="103" y="138"/>
                      </a:cubicBezTo>
                      <a:cubicBezTo>
                        <a:pt x="103" y="139"/>
                        <a:pt x="104" y="139"/>
                        <a:pt x="105" y="139"/>
                      </a:cubicBezTo>
                      <a:cubicBezTo>
                        <a:pt x="105" y="139"/>
                        <a:pt x="106" y="139"/>
                        <a:pt x="106" y="138"/>
                      </a:cubicBezTo>
                      <a:cubicBezTo>
                        <a:pt x="107" y="137"/>
                        <a:pt x="107" y="136"/>
                        <a:pt x="106" y="135"/>
                      </a:cubicBezTo>
                      <a:cubicBezTo>
                        <a:pt x="90" y="118"/>
                        <a:pt x="90" y="118"/>
                        <a:pt x="90" y="118"/>
                      </a:cubicBezTo>
                      <a:cubicBezTo>
                        <a:pt x="101" y="107"/>
                        <a:pt x="101" y="107"/>
                        <a:pt x="101" y="107"/>
                      </a:cubicBezTo>
                      <a:cubicBezTo>
                        <a:pt x="114" y="119"/>
                        <a:pt x="114" y="119"/>
                        <a:pt x="114" y="119"/>
                      </a:cubicBezTo>
                      <a:cubicBezTo>
                        <a:pt x="114" y="120"/>
                        <a:pt x="115" y="120"/>
                        <a:pt x="116" y="120"/>
                      </a:cubicBezTo>
                      <a:cubicBezTo>
                        <a:pt x="116" y="120"/>
                        <a:pt x="117" y="120"/>
                        <a:pt x="117" y="119"/>
                      </a:cubicBezTo>
                      <a:cubicBezTo>
                        <a:pt x="118" y="118"/>
                        <a:pt x="118" y="116"/>
                        <a:pt x="117" y="115"/>
                      </a:cubicBezTo>
                      <a:cubicBezTo>
                        <a:pt x="105" y="103"/>
                        <a:pt x="105" y="103"/>
                        <a:pt x="105" y="103"/>
                      </a:cubicBezTo>
                      <a:cubicBezTo>
                        <a:pt x="116" y="91"/>
                        <a:pt x="116" y="91"/>
                        <a:pt x="116" y="91"/>
                      </a:cubicBezTo>
                      <a:cubicBezTo>
                        <a:pt x="133" y="108"/>
                        <a:pt x="133" y="108"/>
                        <a:pt x="133" y="108"/>
                      </a:cubicBezTo>
                      <a:cubicBezTo>
                        <a:pt x="134" y="109"/>
                        <a:pt x="134" y="109"/>
                        <a:pt x="135" y="109"/>
                      </a:cubicBezTo>
                      <a:cubicBezTo>
                        <a:pt x="136" y="109"/>
                        <a:pt x="136" y="109"/>
                        <a:pt x="137" y="108"/>
                      </a:cubicBezTo>
                      <a:cubicBezTo>
                        <a:pt x="138" y="107"/>
                        <a:pt x="138" y="105"/>
                        <a:pt x="137" y="104"/>
                      </a:cubicBezTo>
                      <a:cubicBezTo>
                        <a:pt x="120" y="88"/>
                        <a:pt x="120" y="88"/>
                        <a:pt x="120" y="88"/>
                      </a:cubicBezTo>
                      <a:cubicBezTo>
                        <a:pt x="132" y="76"/>
                        <a:pt x="132" y="76"/>
                        <a:pt x="132" y="76"/>
                      </a:cubicBezTo>
                      <a:cubicBezTo>
                        <a:pt x="144" y="89"/>
                        <a:pt x="144" y="89"/>
                        <a:pt x="144" y="89"/>
                      </a:cubicBezTo>
                      <a:cubicBezTo>
                        <a:pt x="145" y="89"/>
                        <a:pt x="145" y="89"/>
                        <a:pt x="146" y="89"/>
                      </a:cubicBezTo>
                      <a:cubicBezTo>
                        <a:pt x="147" y="89"/>
                        <a:pt x="147" y="89"/>
                        <a:pt x="148" y="89"/>
                      </a:cubicBezTo>
                      <a:cubicBezTo>
                        <a:pt x="149" y="88"/>
                        <a:pt x="149" y="86"/>
                        <a:pt x="148" y="85"/>
                      </a:cubicBezTo>
                      <a:cubicBezTo>
                        <a:pt x="135" y="72"/>
                        <a:pt x="135" y="72"/>
                        <a:pt x="135" y="72"/>
                      </a:cubicBezTo>
                      <a:cubicBezTo>
                        <a:pt x="147" y="61"/>
                        <a:pt x="147" y="61"/>
                        <a:pt x="147" y="61"/>
                      </a:cubicBezTo>
                      <a:cubicBezTo>
                        <a:pt x="147" y="61"/>
                        <a:pt x="147" y="61"/>
                        <a:pt x="147" y="61"/>
                      </a:cubicBezTo>
                      <a:cubicBezTo>
                        <a:pt x="164" y="78"/>
                        <a:pt x="164" y="78"/>
                        <a:pt x="164" y="78"/>
                      </a:cubicBezTo>
                      <a:cubicBezTo>
                        <a:pt x="164" y="78"/>
                        <a:pt x="165" y="78"/>
                        <a:pt x="165" y="78"/>
                      </a:cubicBezTo>
                      <a:cubicBezTo>
                        <a:pt x="166" y="78"/>
                        <a:pt x="167" y="78"/>
                        <a:pt x="167" y="78"/>
                      </a:cubicBezTo>
                      <a:cubicBezTo>
                        <a:pt x="168" y="77"/>
                        <a:pt x="168" y="75"/>
                        <a:pt x="167" y="74"/>
                      </a:cubicBezTo>
                      <a:cubicBezTo>
                        <a:pt x="150" y="57"/>
                        <a:pt x="150" y="57"/>
                        <a:pt x="150" y="57"/>
                      </a:cubicBezTo>
                      <a:cubicBezTo>
                        <a:pt x="150" y="57"/>
                        <a:pt x="150" y="57"/>
                        <a:pt x="150" y="57"/>
                      </a:cubicBezTo>
                      <a:cubicBezTo>
                        <a:pt x="185" y="23"/>
                        <a:pt x="185" y="23"/>
                        <a:pt x="185" y="23"/>
                      </a:cubicBezTo>
                      <a:lnTo>
                        <a:pt x="185" y="18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2">
                  <a:extLst>
                    <a:ext uri="{FF2B5EF4-FFF2-40B4-BE49-F238E27FC236}">
                      <a16:creationId xmlns:a16="http://schemas.microsoft.com/office/drawing/2014/main" id="{B569163A-D04B-4209-BA3E-DA89848C891F}"/>
                    </a:ext>
                  </a:extLst>
                </p:cNvPr>
                <p:cNvSpPr>
                  <a:spLocks noEditPoints="1"/>
                </p:cNvSpPr>
                <p:nvPr/>
              </p:nvSpPr>
              <p:spPr bwMode="auto">
                <a:xfrm>
                  <a:off x="2869" y="2150"/>
                  <a:ext cx="171" cy="170"/>
                </a:xfrm>
                <a:custGeom>
                  <a:avLst/>
                  <a:gdLst>
                    <a:gd name="T0" fmla="*/ 164 w 71"/>
                    <a:gd name="T1" fmla="*/ 0 h 71"/>
                    <a:gd name="T2" fmla="*/ 154 w 71"/>
                    <a:gd name="T3" fmla="*/ 2 h 71"/>
                    <a:gd name="T4" fmla="*/ 2 w 71"/>
                    <a:gd name="T5" fmla="*/ 156 h 71"/>
                    <a:gd name="T6" fmla="*/ 0 w 71"/>
                    <a:gd name="T7" fmla="*/ 165 h 71"/>
                    <a:gd name="T8" fmla="*/ 10 w 71"/>
                    <a:gd name="T9" fmla="*/ 170 h 71"/>
                    <a:gd name="T10" fmla="*/ 161 w 71"/>
                    <a:gd name="T11" fmla="*/ 170 h 71"/>
                    <a:gd name="T12" fmla="*/ 171 w 71"/>
                    <a:gd name="T13" fmla="*/ 160 h 71"/>
                    <a:gd name="T14" fmla="*/ 171 w 71"/>
                    <a:gd name="T15" fmla="*/ 10 h 71"/>
                    <a:gd name="T16" fmla="*/ 164 w 71"/>
                    <a:gd name="T17" fmla="*/ 0 h 71"/>
                    <a:gd name="T18" fmla="*/ 152 w 71"/>
                    <a:gd name="T19" fmla="*/ 151 h 71"/>
                    <a:gd name="T20" fmla="*/ 31 w 71"/>
                    <a:gd name="T21" fmla="*/ 151 h 71"/>
                    <a:gd name="T22" fmla="*/ 152 w 71"/>
                    <a:gd name="T23" fmla="*/ 31 h 71"/>
                    <a:gd name="T24" fmla="*/ 152 w 71"/>
                    <a:gd name="T25" fmla="*/ 151 h 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1" h="71">
                      <a:moveTo>
                        <a:pt x="68" y="0"/>
                      </a:moveTo>
                      <a:cubicBezTo>
                        <a:pt x="67" y="0"/>
                        <a:pt x="65" y="0"/>
                        <a:pt x="64" y="1"/>
                      </a:cubicBezTo>
                      <a:cubicBezTo>
                        <a:pt x="1" y="65"/>
                        <a:pt x="1" y="65"/>
                        <a:pt x="1" y="65"/>
                      </a:cubicBezTo>
                      <a:cubicBezTo>
                        <a:pt x="0" y="66"/>
                        <a:pt x="0" y="67"/>
                        <a:pt x="0" y="69"/>
                      </a:cubicBezTo>
                      <a:cubicBezTo>
                        <a:pt x="1" y="70"/>
                        <a:pt x="2" y="71"/>
                        <a:pt x="4" y="71"/>
                      </a:cubicBezTo>
                      <a:cubicBezTo>
                        <a:pt x="67" y="71"/>
                        <a:pt x="67" y="71"/>
                        <a:pt x="67" y="71"/>
                      </a:cubicBezTo>
                      <a:cubicBezTo>
                        <a:pt x="69" y="71"/>
                        <a:pt x="71" y="69"/>
                        <a:pt x="71" y="67"/>
                      </a:cubicBezTo>
                      <a:cubicBezTo>
                        <a:pt x="71" y="4"/>
                        <a:pt x="71" y="4"/>
                        <a:pt x="71" y="4"/>
                      </a:cubicBezTo>
                      <a:cubicBezTo>
                        <a:pt x="71" y="2"/>
                        <a:pt x="70" y="1"/>
                        <a:pt x="68" y="0"/>
                      </a:cubicBezTo>
                      <a:close/>
                      <a:moveTo>
                        <a:pt x="63" y="63"/>
                      </a:moveTo>
                      <a:cubicBezTo>
                        <a:pt x="13" y="63"/>
                        <a:pt x="13" y="63"/>
                        <a:pt x="13" y="63"/>
                      </a:cubicBezTo>
                      <a:cubicBezTo>
                        <a:pt x="63" y="13"/>
                        <a:pt x="63" y="13"/>
                        <a:pt x="63" y="13"/>
                      </a:cubicBezTo>
                      <a:lnTo>
                        <a:pt x="63"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51" name="组合 31">
              <a:extLst>
                <a:ext uri="{FF2B5EF4-FFF2-40B4-BE49-F238E27FC236}">
                  <a16:creationId xmlns:a16="http://schemas.microsoft.com/office/drawing/2014/main" id="{7955B80A-B72B-442E-BB10-9B4692DDE29C}"/>
                </a:ext>
              </a:extLst>
            </p:cNvPr>
            <p:cNvGrpSpPr/>
            <p:nvPr/>
          </p:nvGrpSpPr>
          <p:grpSpPr>
            <a:xfrm>
              <a:off x="6096000" y="5627196"/>
              <a:ext cx="540000" cy="540000"/>
              <a:chOff x="1530700" y="2223806"/>
              <a:chExt cx="652716" cy="653251"/>
            </a:xfrm>
          </p:grpSpPr>
          <p:sp>
            <p:nvSpPr>
              <p:cNvPr id="52" name="椭圆 32">
                <a:extLst>
                  <a:ext uri="{FF2B5EF4-FFF2-40B4-BE49-F238E27FC236}">
                    <a16:creationId xmlns:a16="http://schemas.microsoft.com/office/drawing/2014/main" id="{6719BFAE-7268-4E9A-BE0F-D924DBD4A1FC}"/>
                  </a:ext>
                </a:extLst>
              </p:cNvPr>
              <p:cNvSpPr>
                <a:spLocks noChangeAspect="1"/>
              </p:cNvSpPr>
              <p:nvPr/>
            </p:nvSpPr>
            <p:spPr bwMode="auto">
              <a:xfrm>
                <a:off x="1530700" y="2223806"/>
                <a:ext cx="652716" cy="653251"/>
              </a:xfrm>
              <a:prstGeom prst="ellipse">
                <a:avLst/>
              </a:prstGeom>
              <a:solidFill>
                <a:schemeClr val="accent5">
                  <a:lumMod val="5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53" name="Freeform 13">
                <a:extLst>
                  <a:ext uri="{FF2B5EF4-FFF2-40B4-BE49-F238E27FC236}">
                    <a16:creationId xmlns:a16="http://schemas.microsoft.com/office/drawing/2014/main" id="{8E6887FB-7911-4ED6-83F4-0D2A03A8D584}"/>
                  </a:ext>
                </a:extLst>
              </p:cNvPr>
              <p:cNvSpPr>
                <a:spLocks noChangeAspect="1" noEditPoints="1"/>
              </p:cNvSpPr>
              <p:nvPr/>
            </p:nvSpPr>
            <p:spPr bwMode="auto">
              <a:xfrm>
                <a:off x="1663609" y="2318833"/>
                <a:ext cx="405873" cy="441139"/>
              </a:xfrm>
              <a:custGeom>
                <a:avLst/>
                <a:gdLst>
                  <a:gd name="T0" fmla="*/ 381488 w 65"/>
                  <a:gd name="T1" fmla="*/ 269450 h 71"/>
                  <a:gd name="T2" fmla="*/ 69362 w 65"/>
                  <a:gd name="T3" fmla="*/ 269450 h 71"/>
                  <a:gd name="T4" fmla="*/ 69362 w 65"/>
                  <a:gd name="T5" fmla="*/ 490538 h 71"/>
                  <a:gd name="T6" fmla="*/ 117915 w 65"/>
                  <a:gd name="T7" fmla="*/ 490538 h 71"/>
                  <a:gd name="T8" fmla="*/ 117915 w 65"/>
                  <a:gd name="T9" fmla="*/ 338540 h 71"/>
                  <a:gd name="T10" fmla="*/ 131787 w 65"/>
                  <a:gd name="T11" fmla="*/ 324722 h 71"/>
                  <a:gd name="T12" fmla="*/ 201148 w 65"/>
                  <a:gd name="T13" fmla="*/ 324722 h 71"/>
                  <a:gd name="T14" fmla="*/ 208085 w 65"/>
                  <a:gd name="T15" fmla="*/ 338540 h 71"/>
                  <a:gd name="T16" fmla="*/ 208085 w 65"/>
                  <a:gd name="T17" fmla="*/ 490538 h 71"/>
                  <a:gd name="T18" fmla="*/ 381488 w 65"/>
                  <a:gd name="T19" fmla="*/ 490538 h 71"/>
                  <a:gd name="T20" fmla="*/ 381488 w 65"/>
                  <a:gd name="T21" fmla="*/ 269450 h 71"/>
                  <a:gd name="T22" fmla="*/ 450850 w 65"/>
                  <a:gd name="T23" fmla="*/ 207270 h 71"/>
                  <a:gd name="T24" fmla="*/ 249702 w 65"/>
                  <a:gd name="T25" fmla="*/ 13818 h 71"/>
                  <a:gd name="T26" fmla="*/ 228893 w 65"/>
                  <a:gd name="T27" fmla="*/ 0 h 71"/>
                  <a:gd name="T28" fmla="*/ 215021 w 65"/>
                  <a:gd name="T29" fmla="*/ 13818 h 71"/>
                  <a:gd name="T30" fmla="*/ 0 w 65"/>
                  <a:gd name="T31" fmla="*/ 207270 h 71"/>
                  <a:gd name="T32" fmla="*/ 34681 w 65"/>
                  <a:gd name="T33" fmla="*/ 248723 h 71"/>
                  <a:gd name="T34" fmla="*/ 416169 w 65"/>
                  <a:gd name="T35" fmla="*/ 241815 h 71"/>
                  <a:gd name="T36" fmla="*/ 450850 w 65"/>
                  <a:gd name="T37" fmla="*/ 207270 h 71"/>
                  <a:gd name="T38" fmla="*/ 90170 w 65"/>
                  <a:gd name="T39" fmla="*/ 193452 h 71"/>
                  <a:gd name="T40" fmla="*/ 228893 w 65"/>
                  <a:gd name="T41" fmla="*/ 69090 h 71"/>
                  <a:gd name="T42" fmla="*/ 360680 w 65"/>
                  <a:gd name="T43" fmla="*/ 193452 h 71"/>
                  <a:gd name="T44" fmla="*/ 90170 w 65"/>
                  <a:gd name="T45" fmla="*/ 193452 h 71"/>
                  <a:gd name="T46" fmla="*/ 332935 w 65"/>
                  <a:gd name="T47" fmla="*/ 331631 h 71"/>
                  <a:gd name="T48" fmla="*/ 332935 w 65"/>
                  <a:gd name="T49" fmla="*/ 366176 h 71"/>
                  <a:gd name="T50" fmla="*/ 305191 w 65"/>
                  <a:gd name="T51" fmla="*/ 366176 h 71"/>
                  <a:gd name="T52" fmla="*/ 305191 w 65"/>
                  <a:gd name="T53" fmla="*/ 331631 h 71"/>
                  <a:gd name="T54" fmla="*/ 332935 w 65"/>
                  <a:gd name="T55" fmla="*/ 331631 h 71"/>
                  <a:gd name="T56" fmla="*/ 291318 w 65"/>
                  <a:gd name="T57" fmla="*/ 379994 h 71"/>
                  <a:gd name="T58" fmla="*/ 291318 w 65"/>
                  <a:gd name="T59" fmla="*/ 414539 h 71"/>
                  <a:gd name="T60" fmla="*/ 256638 w 65"/>
                  <a:gd name="T61" fmla="*/ 414539 h 71"/>
                  <a:gd name="T62" fmla="*/ 256638 w 65"/>
                  <a:gd name="T63" fmla="*/ 379994 h 71"/>
                  <a:gd name="T64" fmla="*/ 291318 w 65"/>
                  <a:gd name="T65" fmla="*/ 379994 h 71"/>
                  <a:gd name="T66" fmla="*/ 332935 w 65"/>
                  <a:gd name="T67" fmla="*/ 379994 h 71"/>
                  <a:gd name="T68" fmla="*/ 332935 w 65"/>
                  <a:gd name="T69" fmla="*/ 414539 h 71"/>
                  <a:gd name="T70" fmla="*/ 305191 w 65"/>
                  <a:gd name="T71" fmla="*/ 414539 h 71"/>
                  <a:gd name="T72" fmla="*/ 305191 w 65"/>
                  <a:gd name="T73" fmla="*/ 379994 h 71"/>
                  <a:gd name="T74" fmla="*/ 332935 w 65"/>
                  <a:gd name="T75" fmla="*/ 379994 h 71"/>
                  <a:gd name="T76" fmla="*/ 291318 w 65"/>
                  <a:gd name="T77" fmla="*/ 331631 h 71"/>
                  <a:gd name="T78" fmla="*/ 291318 w 65"/>
                  <a:gd name="T79" fmla="*/ 366176 h 71"/>
                  <a:gd name="T80" fmla="*/ 256638 w 65"/>
                  <a:gd name="T81" fmla="*/ 366176 h 71"/>
                  <a:gd name="T82" fmla="*/ 256638 w 65"/>
                  <a:gd name="T83" fmla="*/ 331631 h 71"/>
                  <a:gd name="T84" fmla="*/ 291318 w 65"/>
                  <a:gd name="T85" fmla="*/ 331631 h 7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5" h="71">
                    <a:moveTo>
                      <a:pt x="55" y="39"/>
                    </a:moveTo>
                    <a:cubicBezTo>
                      <a:pt x="10" y="39"/>
                      <a:pt x="10" y="39"/>
                      <a:pt x="10" y="39"/>
                    </a:cubicBezTo>
                    <a:cubicBezTo>
                      <a:pt x="10" y="71"/>
                      <a:pt x="10" y="71"/>
                      <a:pt x="10" y="71"/>
                    </a:cubicBezTo>
                    <a:cubicBezTo>
                      <a:pt x="17" y="71"/>
                      <a:pt x="17" y="71"/>
                      <a:pt x="17" y="71"/>
                    </a:cubicBezTo>
                    <a:cubicBezTo>
                      <a:pt x="17" y="49"/>
                      <a:pt x="17" y="49"/>
                      <a:pt x="17" y="49"/>
                    </a:cubicBezTo>
                    <a:cubicBezTo>
                      <a:pt x="17" y="48"/>
                      <a:pt x="18" y="47"/>
                      <a:pt x="19" y="47"/>
                    </a:cubicBezTo>
                    <a:cubicBezTo>
                      <a:pt x="29" y="47"/>
                      <a:pt x="29" y="47"/>
                      <a:pt x="29" y="47"/>
                    </a:cubicBezTo>
                    <a:cubicBezTo>
                      <a:pt x="30" y="47"/>
                      <a:pt x="30" y="48"/>
                      <a:pt x="30" y="49"/>
                    </a:cubicBezTo>
                    <a:cubicBezTo>
                      <a:pt x="30" y="71"/>
                      <a:pt x="30" y="71"/>
                      <a:pt x="30" y="71"/>
                    </a:cubicBezTo>
                    <a:cubicBezTo>
                      <a:pt x="55" y="71"/>
                      <a:pt x="55" y="71"/>
                      <a:pt x="55" y="71"/>
                    </a:cubicBezTo>
                    <a:cubicBezTo>
                      <a:pt x="55" y="39"/>
                      <a:pt x="55" y="39"/>
                      <a:pt x="55" y="39"/>
                    </a:cubicBezTo>
                    <a:close/>
                    <a:moveTo>
                      <a:pt x="65" y="30"/>
                    </a:moveTo>
                    <a:cubicBezTo>
                      <a:pt x="36" y="2"/>
                      <a:pt x="36" y="2"/>
                      <a:pt x="36" y="2"/>
                    </a:cubicBezTo>
                    <a:cubicBezTo>
                      <a:pt x="33" y="0"/>
                      <a:pt x="33" y="0"/>
                      <a:pt x="33" y="0"/>
                    </a:cubicBezTo>
                    <a:cubicBezTo>
                      <a:pt x="31" y="2"/>
                      <a:pt x="31" y="2"/>
                      <a:pt x="31" y="2"/>
                    </a:cubicBezTo>
                    <a:cubicBezTo>
                      <a:pt x="0" y="30"/>
                      <a:pt x="0" y="30"/>
                      <a:pt x="0" y="30"/>
                    </a:cubicBezTo>
                    <a:cubicBezTo>
                      <a:pt x="5" y="36"/>
                      <a:pt x="5" y="36"/>
                      <a:pt x="5" y="36"/>
                    </a:cubicBezTo>
                    <a:cubicBezTo>
                      <a:pt x="60" y="35"/>
                      <a:pt x="60" y="35"/>
                      <a:pt x="60" y="35"/>
                    </a:cubicBezTo>
                    <a:cubicBezTo>
                      <a:pt x="65" y="30"/>
                      <a:pt x="65" y="30"/>
                      <a:pt x="65" y="30"/>
                    </a:cubicBezTo>
                    <a:close/>
                    <a:moveTo>
                      <a:pt x="13" y="28"/>
                    </a:moveTo>
                    <a:cubicBezTo>
                      <a:pt x="33" y="10"/>
                      <a:pt x="33" y="10"/>
                      <a:pt x="33" y="10"/>
                    </a:cubicBezTo>
                    <a:cubicBezTo>
                      <a:pt x="52" y="28"/>
                      <a:pt x="52" y="28"/>
                      <a:pt x="52" y="28"/>
                    </a:cubicBezTo>
                    <a:cubicBezTo>
                      <a:pt x="13" y="28"/>
                      <a:pt x="13" y="28"/>
                      <a:pt x="13" y="28"/>
                    </a:cubicBezTo>
                    <a:close/>
                    <a:moveTo>
                      <a:pt x="48" y="48"/>
                    </a:moveTo>
                    <a:cubicBezTo>
                      <a:pt x="48" y="53"/>
                      <a:pt x="48" y="53"/>
                      <a:pt x="48" y="53"/>
                    </a:cubicBezTo>
                    <a:cubicBezTo>
                      <a:pt x="44" y="53"/>
                      <a:pt x="44" y="53"/>
                      <a:pt x="44" y="53"/>
                    </a:cubicBezTo>
                    <a:cubicBezTo>
                      <a:pt x="44" y="48"/>
                      <a:pt x="44" y="48"/>
                      <a:pt x="44" y="48"/>
                    </a:cubicBezTo>
                    <a:cubicBezTo>
                      <a:pt x="48" y="48"/>
                      <a:pt x="48" y="48"/>
                      <a:pt x="48" y="48"/>
                    </a:cubicBezTo>
                    <a:close/>
                    <a:moveTo>
                      <a:pt x="42" y="55"/>
                    </a:moveTo>
                    <a:cubicBezTo>
                      <a:pt x="42" y="60"/>
                      <a:pt x="42" y="60"/>
                      <a:pt x="42" y="60"/>
                    </a:cubicBezTo>
                    <a:cubicBezTo>
                      <a:pt x="37" y="60"/>
                      <a:pt x="37" y="60"/>
                      <a:pt x="37" y="60"/>
                    </a:cubicBezTo>
                    <a:cubicBezTo>
                      <a:pt x="37" y="55"/>
                      <a:pt x="37" y="55"/>
                      <a:pt x="37" y="55"/>
                    </a:cubicBezTo>
                    <a:cubicBezTo>
                      <a:pt x="42" y="55"/>
                      <a:pt x="42" y="55"/>
                      <a:pt x="42" y="55"/>
                    </a:cubicBezTo>
                    <a:close/>
                    <a:moveTo>
                      <a:pt x="48" y="55"/>
                    </a:moveTo>
                    <a:cubicBezTo>
                      <a:pt x="48" y="60"/>
                      <a:pt x="48" y="60"/>
                      <a:pt x="48" y="60"/>
                    </a:cubicBezTo>
                    <a:cubicBezTo>
                      <a:pt x="44" y="60"/>
                      <a:pt x="44" y="60"/>
                      <a:pt x="44" y="60"/>
                    </a:cubicBezTo>
                    <a:cubicBezTo>
                      <a:pt x="44" y="55"/>
                      <a:pt x="44" y="55"/>
                      <a:pt x="44" y="55"/>
                    </a:cubicBezTo>
                    <a:cubicBezTo>
                      <a:pt x="48" y="55"/>
                      <a:pt x="48" y="55"/>
                      <a:pt x="48" y="55"/>
                    </a:cubicBezTo>
                    <a:close/>
                    <a:moveTo>
                      <a:pt x="42" y="48"/>
                    </a:moveTo>
                    <a:cubicBezTo>
                      <a:pt x="42" y="53"/>
                      <a:pt x="42" y="53"/>
                      <a:pt x="42" y="53"/>
                    </a:cubicBezTo>
                    <a:cubicBezTo>
                      <a:pt x="37" y="53"/>
                      <a:pt x="37" y="53"/>
                      <a:pt x="37" y="53"/>
                    </a:cubicBezTo>
                    <a:cubicBezTo>
                      <a:pt x="37" y="48"/>
                      <a:pt x="37" y="48"/>
                      <a:pt x="37" y="48"/>
                    </a:cubicBezTo>
                    <a:lnTo>
                      <a:pt x="42"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38" name="文本框 37">
            <a:extLst>
              <a:ext uri="{FF2B5EF4-FFF2-40B4-BE49-F238E27FC236}">
                <a16:creationId xmlns:a16="http://schemas.microsoft.com/office/drawing/2014/main" id="{B5574D83-3A43-4918-BE72-5E0F101F65FB}"/>
              </a:ext>
            </a:extLst>
          </p:cNvPr>
          <p:cNvSpPr txBox="1"/>
          <p:nvPr/>
        </p:nvSpPr>
        <p:spPr>
          <a:xfrm>
            <a:off x="6678706" y="6096247"/>
            <a:ext cx="3872753" cy="338554"/>
          </a:xfrm>
          <a:prstGeom prst="rect">
            <a:avLst/>
          </a:prstGeom>
          <a:solidFill>
            <a:srgbClr val="FF9900"/>
          </a:solidFill>
          <a:ln>
            <a:noFill/>
          </a:ln>
        </p:spPr>
        <p:txBody>
          <a:bodyPr wrap="square">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模型→估计→控制→验证（并反哺数据）</a:t>
            </a:r>
          </a:p>
        </p:txBody>
      </p:sp>
      <p:pic>
        <p:nvPicPr>
          <p:cNvPr id="6" name="图片 5">
            <a:extLst>
              <a:ext uri="{FF2B5EF4-FFF2-40B4-BE49-F238E27FC236}">
                <a16:creationId xmlns:a16="http://schemas.microsoft.com/office/drawing/2014/main" id="{228B66BE-C5A0-47E3-9521-3526423F5F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1196" y="1770350"/>
            <a:ext cx="5171149" cy="4170281"/>
          </a:xfrm>
          <a:prstGeom prst="rect">
            <a:avLst/>
          </a:prstGeom>
        </p:spPr>
      </p:pic>
      <p:sp>
        <p:nvSpPr>
          <p:cNvPr id="39" name="文本框 38">
            <a:extLst>
              <a:ext uri="{FF2B5EF4-FFF2-40B4-BE49-F238E27FC236}">
                <a16:creationId xmlns:a16="http://schemas.microsoft.com/office/drawing/2014/main" id="{7A6B874D-554C-4B63-853F-2508CAFB4D71}"/>
              </a:ext>
            </a:extLst>
          </p:cNvPr>
          <p:cNvSpPr txBox="1"/>
          <p:nvPr/>
        </p:nvSpPr>
        <p:spPr>
          <a:xfrm>
            <a:off x="0" y="6488668"/>
            <a:ext cx="633507" cy="369332"/>
          </a:xfrm>
          <a:prstGeom prst="rect">
            <a:avLst/>
          </a:prstGeom>
          <a:noFill/>
        </p:spPr>
        <p:txBody>
          <a:bodyPr wrap="none" rtlCol="0">
            <a:spAutoFit/>
          </a:bodyPr>
          <a:lstStyle/>
          <a:p>
            <a:r>
              <a:rPr lang="en-US" altLang="zh-CN" dirty="0"/>
              <a:t>2/10</a:t>
            </a:r>
            <a:endParaRPr lang="zh-CN" altLang="en-US" dirty="0"/>
          </a:p>
        </p:txBody>
      </p:sp>
    </p:spTree>
    <p:custDataLst>
      <p:tags r:id="rId1"/>
    </p:custDataLst>
    <p:extLst>
      <p:ext uri="{BB962C8B-B14F-4D97-AF65-F5344CB8AC3E}">
        <p14:creationId xmlns:p14="http://schemas.microsoft.com/office/powerpoint/2010/main" val="4009760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descr="屏幕截图 2025-09-27 174813">
            <a:extLst>
              <a:ext uri="{FF2B5EF4-FFF2-40B4-BE49-F238E27FC236}">
                <a16:creationId xmlns:a16="http://schemas.microsoft.com/office/drawing/2014/main" id="{3B4A26C7-1269-47BD-9182-414D623A227C}"/>
              </a:ext>
            </a:extLst>
          </p:cNvPr>
          <p:cNvPicPr/>
          <p:nvPr/>
        </p:nvPicPr>
        <p:blipFill>
          <a:blip r:embed="rId2"/>
          <a:srcRect/>
          <a:stretch>
            <a:fillRect/>
          </a:stretch>
        </p:blipFill>
        <p:spPr>
          <a:xfrm>
            <a:off x="1536003" y="2652521"/>
            <a:ext cx="2779876" cy="2437904"/>
          </a:xfrm>
          <a:prstGeom prst="rect">
            <a:avLst/>
          </a:prstGeom>
        </p:spPr>
      </p:pic>
      <p:sp>
        <p:nvSpPr>
          <p:cNvPr id="2" name="文本框 40">
            <a:extLst>
              <a:ext uri="{FF2B5EF4-FFF2-40B4-BE49-F238E27FC236}">
                <a16:creationId xmlns:a16="http://schemas.microsoft.com/office/drawing/2014/main" id="{AB04273B-F091-411A-AB43-20197A1504D2}"/>
              </a:ext>
            </a:extLst>
          </p:cNvPr>
          <p:cNvSpPr>
            <a:spLocks noChangeArrowheads="1"/>
          </p:cNvSpPr>
          <p:nvPr/>
        </p:nvSpPr>
        <p:spPr bwMode="auto">
          <a:xfrm>
            <a:off x="1054746" y="100957"/>
            <a:ext cx="8654030" cy="646331"/>
          </a:xfrm>
          <a:prstGeom prst="rect">
            <a:avLst/>
          </a:prstGeom>
          <a:noFill/>
          <a:ln w="9525">
            <a:noFill/>
            <a:miter lim="800000"/>
          </a:ln>
        </p:spPr>
        <p:txBody>
          <a:bodyPr wrap="square">
            <a:spAutoFit/>
          </a:bodyPr>
          <a:lstStyle/>
          <a:p>
            <a:r>
              <a:rPr lang="zh-CN" altLang="en-US" sz="3600" b="1" dirty="0">
                <a:solidFill>
                  <a:srgbClr val="4B4B4B"/>
                </a:solidFill>
                <a:latin typeface="+mn-ea"/>
                <a:ea typeface="+mn-ea"/>
                <a:sym typeface="Arial" panose="020B0604020202020204" pitchFamily="34" charset="0"/>
              </a:rPr>
              <a:t>考虑侧滑角的运动学建模</a:t>
            </a:r>
            <a:endParaRPr lang="en-US" altLang="zh-CN" sz="3600" b="1" dirty="0">
              <a:solidFill>
                <a:srgbClr val="4B4B4B"/>
              </a:solidFill>
              <a:latin typeface="+mn-ea"/>
              <a:ea typeface="+mn-ea"/>
              <a:sym typeface="Arial" panose="020B0604020202020204" pitchFamily="34" charset="0"/>
            </a:endParaRPr>
          </a:p>
        </p:txBody>
      </p:sp>
      <p:sp>
        <p:nvSpPr>
          <p:cNvPr id="27" name="矩形 26">
            <a:extLst>
              <a:ext uri="{FF2B5EF4-FFF2-40B4-BE49-F238E27FC236}">
                <a16:creationId xmlns:a16="http://schemas.microsoft.com/office/drawing/2014/main" id="{0AABADE8-C80D-4C57-9A47-94C76D52A6A3}"/>
              </a:ext>
            </a:extLst>
          </p:cNvPr>
          <p:cNvSpPr/>
          <p:nvPr/>
        </p:nvSpPr>
        <p:spPr bwMode="auto">
          <a:xfrm>
            <a:off x="506458" y="1108825"/>
            <a:ext cx="4011233" cy="53022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r>
              <a:rPr lang="zh-CN" altLang="en-US" sz="2400" b="1" dirty="0">
                <a:solidFill>
                  <a:schemeClr val="bg1"/>
                </a:solidFill>
                <a:latin typeface="Arial" panose="020B0604020202020204" pitchFamily="34" charset="0"/>
                <a:ea typeface="微软雅黑" panose="020B0503020204020204" pitchFamily="34" charset="-122"/>
              </a:rPr>
              <a:t>运动学模型建立</a:t>
            </a:r>
            <a:endParaRPr lang="en-US" altLang="zh-CN" sz="2400" b="1" dirty="0">
              <a:solidFill>
                <a:schemeClr val="bg1"/>
              </a:solidFill>
              <a:latin typeface="Arial" panose="020B0604020202020204" pitchFamily="34" charset="0"/>
              <a:ea typeface="微软雅黑" panose="020B0503020204020204" pitchFamily="34" charset="-122"/>
            </a:endParaRPr>
          </a:p>
        </p:txBody>
      </p:sp>
      <p:sp>
        <p:nvSpPr>
          <p:cNvPr id="28" name="矩形 27">
            <a:extLst>
              <a:ext uri="{FF2B5EF4-FFF2-40B4-BE49-F238E27FC236}">
                <a16:creationId xmlns:a16="http://schemas.microsoft.com/office/drawing/2014/main" id="{083FBC5F-534F-42D0-BF56-6850258DA891}"/>
              </a:ext>
            </a:extLst>
          </p:cNvPr>
          <p:cNvSpPr/>
          <p:nvPr/>
        </p:nvSpPr>
        <p:spPr bwMode="auto">
          <a:xfrm>
            <a:off x="4603718" y="1108825"/>
            <a:ext cx="144000" cy="53022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矩形 29">
            <a:extLst>
              <a:ext uri="{FF2B5EF4-FFF2-40B4-BE49-F238E27FC236}">
                <a16:creationId xmlns:a16="http://schemas.microsoft.com/office/drawing/2014/main" id="{A049737D-1F1F-4CFA-95C5-ED57BDA8EBEE}"/>
              </a:ext>
            </a:extLst>
          </p:cNvPr>
          <p:cNvSpPr/>
          <p:nvPr/>
        </p:nvSpPr>
        <p:spPr>
          <a:xfrm>
            <a:off x="1605286" y="4940718"/>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二自由度运动学模型</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8" name="圆角矩形 14">
            <a:extLst>
              <a:ext uri="{FF2B5EF4-FFF2-40B4-BE49-F238E27FC236}">
                <a16:creationId xmlns:a16="http://schemas.microsoft.com/office/drawing/2014/main" id="{6E336D65-2CA0-4A5D-AB91-521DE0F18609}"/>
              </a:ext>
            </a:extLst>
          </p:cNvPr>
          <p:cNvSpPr>
            <a:spLocks noChangeArrowheads="1"/>
          </p:cNvSpPr>
          <p:nvPr/>
        </p:nvSpPr>
        <p:spPr bwMode="auto">
          <a:xfrm>
            <a:off x="1054746" y="1957518"/>
            <a:ext cx="3330416" cy="667742"/>
          </a:xfrm>
          <a:prstGeom prst="roundRect">
            <a:avLst>
              <a:gd name="adj" fmla="val 22664"/>
            </a:avLst>
          </a:prstGeom>
          <a:solidFill>
            <a:srgbClr val="D44318"/>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传统理想运动模型</a:t>
            </a:r>
          </a:p>
        </p:txBody>
      </p:sp>
      <p:sp>
        <p:nvSpPr>
          <p:cNvPr id="9" name="圆角矩形 14">
            <a:extLst>
              <a:ext uri="{FF2B5EF4-FFF2-40B4-BE49-F238E27FC236}">
                <a16:creationId xmlns:a16="http://schemas.microsoft.com/office/drawing/2014/main" id="{7CFF99E8-9F02-4BDD-A8AC-306929D44BD0}"/>
              </a:ext>
            </a:extLst>
          </p:cNvPr>
          <p:cNvSpPr>
            <a:spLocks noChangeArrowheads="1"/>
          </p:cNvSpPr>
          <p:nvPr/>
        </p:nvSpPr>
        <p:spPr bwMode="auto">
          <a:xfrm>
            <a:off x="5772022" y="1957518"/>
            <a:ext cx="5473659" cy="667742"/>
          </a:xfrm>
          <a:prstGeom prst="roundRect">
            <a:avLst>
              <a:gd name="adj" fmla="val 22664"/>
            </a:avLst>
          </a:prstGeom>
          <a:solidFill>
            <a:schemeClr val="bg1">
              <a:lumMod val="85000"/>
            </a:schemeClr>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latin typeface="微软雅黑" panose="020B0503020204020204" pitchFamily="34" charset="-122"/>
                <a:ea typeface="微软雅黑" panose="020B0503020204020204" pitchFamily="34" charset="-122"/>
              </a:rPr>
              <a:t>假设无侧滑发生，控制器性能严重退化，无法真实反映侧滑扰动下的运动行为</a:t>
            </a:r>
            <a:endParaRPr lang="zh-CN" altLang="en-US" dirty="0">
              <a:latin typeface="微软雅黑" panose="020B0503020204020204" pitchFamily="34" charset="-122"/>
              <a:ea typeface="微软雅黑" panose="020B0503020204020204" pitchFamily="34" charset="-122"/>
            </a:endParaRPr>
          </a:p>
        </p:txBody>
      </p:sp>
      <p:sp>
        <p:nvSpPr>
          <p:cNvPr id="10" name="箭头: 右 9">
            <a:extLst>
              <a:ext uri="{FF2B5EF4-FFF2-40B4-BE49-F238E27FC236}">
                <a16:creationId xmlns:a16="http://schemas.microsoft.com/office/drawing/2014/main" id="{8F975745-9663-41B3-9C3F-74C3970A6217}"/>
              </a:ext>
            </a:extLst>
          </p:cNvPr>
          <p:cNvSpPr/>
          <p:nvPr/>
        </p:nvSpPr>
        <p:spPr>
          <a:xfrm>
            <a:off x="4541881" y="2165047"/>
            <a:ext cx="1073421" cy="252683"/>
          </a:xfrm>
          <a:prstGeom prst="rightArrow">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圆角矩形 14">
            <a:extLst>
              <a:ext uri="{FF2B5EF4-FFF2-40B4-BE49-F238E27FC236}">
                <a16:creationId xmlns:a16="http://schemas.microsoft.com/office/drawing/2014/main" id="{2F24E0E6-A13F-42A0-8ED8-0A0143932EA9}"/>
              </a:ext>
            </a:extLst>
          </p:cNvPr>
          <p:cNvSpPr>
            <a:spLocks noChangeArrowheads="1"/>
          </p:cNvSpPr>
          <p:nvPr/>
        </p:nvSpPr>
        <p:spPr bwMode="auto">
          <a:xfrm>
            <a:off x="1054749" y="5415305"/>
            <a:ext cx="3330416" cy="667742"/>
          </a:xfrm>
          <a:prstGeom prst="roundRect">
            <a:avLst>
              <a:gd name="adj" fmla="val 22664"/>
            </a:avLst>
          </a:prstGeom>
          <a:solidFill>
            <a:srgbClr val="14AB8E"/>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反映实际工况的运动学模型</a:t>
            </a:r>
          </a:p>
        </p:txBody>
      </p:sp>
      <p:sp>
        <p:nvSpPr>
          <p:cNvPr id="12" name="圆角矩形 14">
            <a:extLst>
              <a:ext uri="{FF2B5EF4-FFF2-40B4-BE49-F238E27FC236}">
                <a16:creationId xmlns:a16="http://schemas.microsoft.com/office/drawing/2014/main" id="{004AA30F-F107-4D36-8740-CB42660F4CA3}"/>
              </a:ext>
            </a:extLst>
          </p:cNvPr>
          <p:cNvSpPr>
            <a:spLocks noChangeArrowheads="1"/>
          </p:cNvSpPr>
          <p:nvPr/>
        </p:nvSpPr>
        <p:spPr bwMode="auto">
          <a:xfrm>
            <a:off x="5772022" y="5415305"/>
            <a:ext cx="5473660" cy="667742"/>
          </a:xfrm>
          <a:prstGeom prst="roundRect">
            <a:avLst>
              <a:gd name="adj" fmla="val 22664"/>
            </a:avLst>
          </a:prstGeom>
          <a:solidFill>
            <a:schemeClr val="bg1">
              <a:lumMod val="85000"/>
            </a:schemeClr>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latin typeface="微软雅黑" panose="020B0503020204020204" pitchFamily="34" charset="-122"/>
                <a:ea typeface="微软雅黑" panose="020B0503020204020204" pitchFamily="34" charset="-122"/>
              </a:rPr>
              <a:t>考虑前车体侧滑角、后车体侧滑角等真实状况</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更加贴近实际作业场景</a:t>
            </a:r>
          </a:p>
        </p:txBody>
      </p:sp>
      <p:sp>
        <p:nvSpPr>
          <p:cNvPr id="13" name="箭头: 右 12">
            <a:extLst>
              <a:ext uri="{FF2B5EF4-FFF2-40B4-BE49-F238E27FC236}">
                <a16:creationId xmlns:a16="http://schemas.microsoft.com/office/drawing/2014/main" id="{EE3ADF8E-7171-4500-AF6E-EB40F9B19A66}"/>
              </a:ext>
            </a:extLst>
          </p:cNvPr>
          <p:cNvSpPr/>
          <p:nvPr/>
        </p:nvSpPr>
        <p:spPr>
          <a:xfrm>
            <a:off x="4541881" y="5622833"/>
            <a:ext cx="1073421" cy="252683"/>
          </a:xfrm>
          <a:prstGeom prst="rightArrow">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箭头: 下 2">
            <a:extLst>
              <a:ext uri="{FF2B5EF4-FFF2-40B4-BE49-F238E27FC236}">
                <a16:creationId xmlns:a16="http://schemas.microsoft.com/office/drawing/2014/main" id="{6FF7E06D-F960-4024-8148-5ABA409BC0F0}"/>
              </a:ext>
            </a:extLst>
          </p:cNvPr>
          <p:cNvSpPr/>
          <p:nvPr/>
        </p:nvSpPr>
        <p:spPr>
          <a:xfrm>
            <a:off x="4780239" y="2925858"/>
            <a:ext cx="601522" cy="2253112"/>
          </a:xfrm>
          <a:prstGeom prst="down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6" name="图片 5">
            <a:extLst>
              <a:ext uri="{FF2B5EF4-FFF2-40B4-BE49-F238E27FC236}">
                <a16:creationId xmlns:a16="http://schemas.microsoft.com/office/drawing/2014/main" id="{DC557EA3-44B4-42FE-ABCC-36351A5B7B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8081" y="2772409"/>
            <a:ext cx="4312024" cy="2255630"/>
          </a:xfrm>
          <a:prstGeom prst="rect">
            <a:avLst/>
          </a:prstGeom>
        </p:spPr>
      </p:pic>
      <p:sp>
        <p:nvSpPr>
          <p:cNvPr id="17" name="矩形 16">
            <a:extLst>
              <a:ext uri="{FF2B5EF4-FFF2-40B4-BE49-F238E27FC236}">
                <a16:creationId xmlns:a16="http://schemas.microsoft.com/office/drawing/2014/main" id="{5E1D44CA-FFDD-479E-9D73-EC1C430D9142}"/>
              </a:ext>
            </a:extLst>
          </p:cNvPr>
          <p:cNvSpPr/>
          <p:nvPr/>
        </p:nvSpPr>
        <p:spPr>
          <a:xfrm>
            <a:off x="6297499" y="4852173"/>
            <a:ext cx="3613187"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贴近实际作业场景的模型建立</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16" name="文本框 15">
            <a:extLst>
              <a:ext uri="{FF2B5EF4-FFF2-40B4-BE49-F238E27FC236}">
                <a16:creationId xmlns:a16="http://schemas.microsoft.com/office/drawing/2014/main" id="{04A057B4-7ED5-4019-8C57-39A157111D49}"/>
              </a:ext>
            </a:extLst>
          </p:cNvPr>
          <p:cNvSpPr txBox="1"/>
          <p:nvPr/>
        </p:nvSpPr>
        <p:spPr>
          <a:xfrm>
            <a:off x="0" y="6488668"/>
            <a:ext cx="633507" cy="369332"/>
          </a:xfrm>
          <a:prstGeom prst="rect">
            <a:avLst/>
          </a:prstGeom>
          <a:noFill/>
        </p:spPr>
        <p:txBody>
          <a:bodyPr wrap="none" rtlCol="0">
            <a:spAutoFit/>
          </a:bodyPr>
          <a:lstStyle/>
          <a:p>
            <a:r>
              <a:rPr lang="en-US" altLang="zh-CN" dirty="0"/>
              <a:t>3/10</a:t>
            </a:r>
            <a:endParaRPr lang="zh-CN" altLang="en-US" dirty="0"/>
          </a:p>
        </p:txBody>
      </p:sp>
    </p:spTree>
    <p:extLst>
      <p:ext uri="{BB962C8B-B14F-4D97-AF65-F5344CB8AC3E}">
        <p14:creationId xmlns:p14="http://schemas.microsoft.com/office/powerpoint/2010/main" val="3834882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DF5F7CF6-B726-4B8C-9D21-A4EB5DA79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7880" y="1811040"/>
            <a:ext cx="5844219" cy="3594120"/>
          </a:xfrm>
          <a:prstGeom prst="rect">
            <a:avLst/>
          </a:prstGeom>
        </p:spPr>
      </p:pic>
      <p:sp>
        <p:nvSpPr>
          <p:cNvPr id="2" name="文本框 40">
            <a:extLst>
              <a:ext uri="{FF2B5EF4-FFF2-40B4-BE49-F238E27FC236}">
                <a16:creationId xmlns:a16="http://schemas.microsoft.com/office/drawing/2014/main" id="{CD32349A-8A4C-4319-95DA-BD6F7846B27C}"/>
              </a:ext>
            </a:extLst>
          </p:cNvPr>
          <p:cNvSpPr>
            <a:spLocks noChangeArrowheads="1"/>
          </p:cNvSpPr>
          <p:nvPr/>
        </p:nvSpPr>
        <p:spPr bwMode="auto">
          <a:xfrm>
            <a:off x="1054746" y="100957"/>
            <a:ext cx="8654030" cy="646331"/>
          </a:xfrm>
          <a:prstGeom prst="rect">
            <a:avLst/>
          </a:prstGeom>
          <a:noFill/>
          <a:ln w="9525">
            <a:noFill/>
            <a:miter lim="800000"/>
          </a:ln>
        </p:spPr>
        <p:txBody>
          <a:bodyPr wrap="square">
            <a:spAutoFit/>
          </a:bodyPr>
          <a:lstStyle/>
          <a:p>
            <a:r>
              <a:rPr lang="zh-CN" altLang="en-US" sz="3600" b="1" dirty="0">
                <a:solidFill>
                  <a:srgbClr val="4B4B4B"/>
                </a:solidFill>
                <a:latin typeface="+mn-ea"/>
                <a:ea typeface="+mn-ea"/>
              </a:rPr>
              <a:t>基于支持向量回归的侧滑角在线预测</a:t>
            </a:r>
          </a:p>
        </p:txBody>
      </p:sp>
      <p:sp>
        <p:nvSpPr>
          <p:cNvPr id="5" name="矩形 4">
            <a:extLst>
              <a:ext uri="{FF2B5EF4-FFF2-40B4-BE49-F238E27FC236}">
                <a16:creationId xmlns:a16="http://schemas.microsoft.com/office/drawing/2014/main" id="{EAE2FDB9-526D-40E1-A8F2-A1E6DA459C56}"/>
              </a:ext>
            </a:extLst>
          </p:cNvPr>
          <p:cNvSpPr/>
          <p:nvPr/>
        </p:nvSpPr>
        <p:spPr>
          <a:xfrm>
            <a:off x="8318838" y="5489448"/>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侧滑角在线预测流程图</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6" name="文本框 5">
            <a:extLst>
              <a:ext uri="{FF2B5EF4-FFF2-40B4-BE49-F238E27FC236}">
                <a16:creationId xmlns:a16="http://schemas.microsoft.com/office/drawing/2014/main" id="{CBCD4823-EEDE-4C05-A24E-70520414319E}"/>
              </a:ext>
            </a:extLst>
          </p:cNvPr>
          <p:cNvSpPr txBox="1"/>
          <p:nvPr/>
        </p:nvSpPr>
        <p:spPr>
          <a:xfrm>
            <a:off x="415383" y="2063855"/>
            <a:ext cx="4390071" cy="369332"/>
          </a:xfrm>
          <a:prstGeom prst="rect">
            <a:avLst/>
          </a:prstGeom>
          <a:solidFill>
            <a:srgbClr val="14AB8E"/>
          </a:solidFill>
          <a:ln>
            <a:noFill/>
          </a:ln>
        </p:spPr>
        <p:txBody>
          <a:bodyPr wrap="square">
            <a:spAutoFit/>
          </a:bodyPr>
          <a:lstStyle/>
          <a:p>
            <a:pPr algn="ctr"/>
            <a:r>
              <a:rPr lang="zh-CN" altLang="en-US" sz="1800" b="0" i="0" u="none" strike="noStrike" baseline="0" dirty="0">
                <a:solidFill>
                  <a:schemeClr val="bg1"/>
                </a:solidFill>
                <a:latin typeface="微软雅黑" panose="020B0503020204020204" pitchFamily="34" charset="-122"/>
                <a:ea typeface="微软雅黑" panose="020B0503020204020204" pitchFamily="34" charset="-122"/>
              </a:rPr>
              <a:t>难以直接测量</a:t>
            </a:r>
            <a:r>
              <a:rPr lang="zh-CN" altLang="en-US" dirty="0">
                <a:solidFill>
                  <a:schemeClr val="bg1"/>
                </a:solidFill>
                <a:latin typeface="微软雅黑" panose="020B0503020204020204" pitchFamily="34" charset="-122"/>
                <a:ea typeface="微软雅黑" panose="020B0503020204020204" pitchFamily="34" charset="-122"/>
              </a:rPr>
              <a:t>成本贵，环境适应性差</a:t>
            </a:r>
          </a:p>
        </p:txBody>
      </p:sp>
      <p:sp>
        <p:nvSpPr>
          <p:cNvPr id="7" name="矩形 6">
            <a:extLst>
              <a:ext uri="{FF2B5EF4-FFF2-40B4-BE49-F238E27FC236}">
                <a16:creationId xmlns:a16="http://schemas.microsoft.com/office/drawing/2014/main" id="{DB8D7EC0-8514-4895-94AE-5C66A4C2C3B8}"/>
              </a:ext>
            </a:extLst>
          </p:cNvPr>
          <p:cNvSpPr/>
          <p:nvPr/>
        </p:nvSpPr>
        <p:spPr>
          <a:xfrm>
            <a:off x="1220481" y="1511437"/>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侧滑角现实核心难题</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8" name="文本框 7">
            <a:extLst>
              <a:ext uri="{FF2B5EF4-FFF2-40B4-BE49-F238E27FC236}">
                <a16:creationId xmlns:a16="http://schemas.microsoft.com/office/drawing/2014/main" id="{977D58BC-6D42-4B8D-9383-1A249A7CF4D8}"/>
              </a:ext>
            </a:extLst>
          </p:cNvPr>
          <p:cNvSpPr txBox="1"/>
          <p:nvPr/>
        </p:nvSpPr>
        <p:spPr>
          <a:xfrm>
            <a:off x="396322" y="3215265"/>
            <a:ext cx="4390071" cy="646331"/>
          </a:xfrm>
          <a:prstGeom prst="rect">
            <a:avLst/>
          </a:prstGeom>
          <a:solidFill>
            <a:srgbClr val="FF0000"/>
          </a:solidFill>
          <a:ln>
            <a:noFill/>
          </a:ln>
        </p:spPr>
        <p:txBody>
          <a:bodyPr wrap="square">
            <a:spAutoFit/>
          </a:bodyPr>
          <a:lstStyle/>
          <a:p>
            <a:pPr algn="ctr"/>
            <a:r>
              <a:rPr lang="zh-CN" altLang="en-US" sz="1800" b="0" i="0" u="none" strike="noStrike" baseline="0" dirty="0">
                <a:solidFill>
                  <a:schemeClr val="bg1"/>
                </a:solidFill>
                <a:latin typeface="微软雅黑" panose="020B0503020204020204" pitchFamily="34" charset="-122"/>
                <a:ea typeface="微软雅黑" panose="020B0503020204020204" pitchFamily="34" charset="-122"/>
              </a:rPr>
              <a:t>使用数据驱动等软测量的手段</a:t>
            </a:r>
            <a:r>
              <a:rPr lang="zh-CN" altLang="en-US" dirty="0">
                <a:solidFill>
                  <a:schemeClr val="bg1"/>
                </a:solidFill>
                <a:latin typeface="微软雅黑" panose="020B0503020204020204" pitchFamily="34" charset="-122"/>
                <a:ea typeface="微软雅黑" panose="020B0503020204020204" pitchFamily="34" charset="-122"/>
              </a:rPr>
              <a:t>，通过易测信号间接测量侧滑角</a:t>
            </a:r>
          </a:p>
        </p:txBody>
      </p:sp>
      <p:sp>
        <p:nvSpPr>
          <p:cNvPr id="9" name="矩形 8">
            <a:extLst>
              <a:ext uri="{FF2B5EF4-FFF2-40B4-BE49-F238E27FC236}">
                <a16:creationId xmlns:a16="http://schemas.microsoft.com/office/drawing/2014/main" id="{C0EA7491-C3CF-4F19-9F6F-022F644BCD45}"/>
              </a:ext>
            </a:extLst>
          </p:cNvPr>
          <p:cNvSpPr/>
          <p:nvPr/>
        </p:nvSpPr>
        <p:spPr>
          <a:xfrm>
            <a:off x="1220481" y="2738761"/>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核心解决思路</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10" name="箭头: 下 9">
            <a:extLst>
              <a:ext uri="{FF2B5EF4-FFF2-40B4-BE49-F238E27FC236}">
                <a16:creationId xmlns:a16="http://schemas.microsoft.com/office/drawing/2014/main" id="{2690CE7D-EFD3-4ACD-9D20-DB13DD19058D}"/>
              </a:ext>
            </a:extLst>
          </p:cNvPr>
          <p:cNvSpPr/>
          <p:nvPr/>
        </p:nvSpPr>
        <p:spPr>
          <a:xfrm>
            <a:off x="2416957" y="2495118"/>
            <a:ext cx="320040" cy="312271"/>
          </a:xfrm>
          <a:prstGeom prst="down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文本框 10">
            <a:extLst>
              <a:ext uri="{FF2B5EF4-FFF2-40B4-BE49-F238E27FC236}">
                <a16:creationId xmlns:a16="http://schemas.microsoft.com/office/drawing/2014/main" id="{8D605A8B-97C0-4FDB-9DF8-2D6A91952321}"/>
              </a:ext>
            </a:extLst>
          </p:cNvPr>
          <p:cNvSpPr txBox="1"/>
          <p:nvPr/>
        </p:nvSpPr>
        <p:spPr>
          <a:xfrm>
            <a:off x="381943" y="4611359"/>
            <a:ext cx="4390071" cy="646331"/>
          </a:xfrm>
          <a:prstGeom prst="rect">
            <a:avLst/>
          </a:prstGeom>
          <a:solidFill>
            <a:srgbClr val="00B050"/>
          </a:solidFill>
          <a:ln>
            <a:noFill/>
          </a:ln>
        </p:spPr>
        <p:txBody>
          <a:bodyPr wrap="square">
            <a:spAutoFit/>
          </a:bodyPr>
          <a:lstStyle/>
          <a:p>
            <a:pPr algn="ctr"/>
            <a:r>
              <a:rPr lang="zh-CN" altLang="en-US" sz="1800" b="0" i="0" u="none" strike="noStrike" baseline="0" dirty="0">
                <a:solidFill>
                  <a:schemeClr val="bg1"/>
                </a:solidFill>
                <a:latin typeface="微软雅黑" panose="020B0503020204020204" pitchFamily="34" charset="-122"/>
                <a:ea typeface="微软雅黑" panose="020B0503020204020204" pitchFamily="34" charset="-122"/>
              </a:rPr>
              <a:t>使用支持向量机回归算法</a:t>
            </a:r>
            <a:r>
              <a:rPr lang="en-US" altLang="zh-CN" sz="1800" b="0" i="0" u="none" strike="noStrike" baseline="0" dirty="0">
                <a:solidFill>
                  <a:schemeClr val="bg1"/>
                </a:solidFill>
                <a:latin typeface="微软雅黑" panose="020B0503020204020204" pitchFamily="34" charset="-122"/>
                <a:ea typeface="微软雅黑" panose="020B0503020204020204" pitchFamily="34" charset="-122"/>
              </a:rPr>
              <a:t>(SVR)</a:t>
            </a:r>
            <a:r>
              <a:rPr lang="zh-CN" altLang="en-US" dirty="0">
                <a:solidFill>
                  <a:schemeClr val="bg1"/>
                </a:solidFill>
                <a:latin typeface="微软雅黑" panose="020B0503020204020204" pitchFamily="34" charset="-122"/>
                <a:ea typeface="微软雅黑" panose="020B0503020204020204" pitchFamily="34" charset="-122"/>
              </a:rPr>
              <a:t> ，</a:t>
            </a:r>
            <a:r>
              <a:rPr lang="zh-CN" altLang="en-US" sz="1800" b="0" i="0" u="none" strike="noStrike" baseline="0" dirty="0">
                <a:solidFill>
                  <a:schemeClr val="bg1"/>
                </a:solidFill>
                <a:latin typeface="微软雅黑" panose="020B0503020204020204" pitchFamily="34" charset="-122"/>
                <a:ea typeface="微软雅黑" panose="020B0503020204020204" pitchFamily="34" charset="-122"/>
              </a:rPr>
              <a:t>构建</a:t>
            </a:r>
            <a:r>
              <a:rPr lang="zh-CN" altLang="en-US" dirty="0">
                <a:solidFill>
                  <a:schemeClr val="bg1"/>
                </a:solidFill>
                <a:latin typeface="微软雅黑" panose="020B0503020204020204" pitchFamily="34" charset="-122"/>
                <a:ea typeface="微软雅黑" panose="020B0503020204020204" pitchFamily="34" charset="-122"/>
              </a:rPr>
              <a:t>易测信号到侧滑角的非线性模型</a:t>
            </a:r>
          </a:p>
        </p:txBody>
      </p:sp>
      <p:sp>
        <p:nvSpPr>
          <p:cNvPr id="12" name="矩形 11">
            <a:extLst>
              <a:ext uri="{FF2B5EF4-FFF2-40B4-BE49-F238E27FC236}">
                <a16:creationId xmlns:a16="http://schemas.microsoft.com/office/drawing/2014/main" id="{8F5A54B7-CA05-4F95-BF15-F1D6D7D3BA86}"/>
              </a:ext>
            </a:extLst>
          </p:cNvPr>
          <p:cNvSpPr/>
          <p:nvPr/>
        </p:nvSpPr>
        <p:spPr>
          <a:xfrm>
            <a:off x="1187041" y="4134855"/>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核心算法</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13" name="文本框 12">
            <a:extLst>
              <a:ext uri="{FF2B5EF4-FFF2-40B4-BE49-F238E27FC236}">
                <a16:creationId xmlns:a16="http://schemas.microsoft.com/office/drawing/2014/main" id="{6B872AE2-9DC1-4637-B493-4995B52E4A69}"/>
              </a:ext>
            </a:extLst>
          </p:cNvPr>
          <p:cNvSpPr txBox="1"/>
          <p:nvPr/>
        </p:nvSpPr>
        <p:spPr>
          <a:xfrm>
            <a:off x="381942" y="5319621"/>
            <a:ext cx="4390071" cy="646331"/>
          </a:xfrm>
          <a:prstGeom prst="rect">
            <a:avLst/>
          </a:prstGeom>
          <a:solidFill>
            <a:schemeClr val="accent2">
              <a:lumMod val="75000"/>
            </a:schemeClr>
          </a:solidFill>
          <a:ln>
            <a:noFill/>
          </a:ln>
        </p:spPr>
        <p:txBody>
          <a:bodyPr wrap="square">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自适应优化：主要引入在线学习机制实时更新训练样本，动态调整</a:t>
            </a:r>
            <a:r>
              <a:rPr lang="en-US" altLang="zh-CN" dirty="0">
                <a:solidFill>
                  <a:schemeClr val="bg1"/>
                </a:solidFill>
                <a:latin typeface="微软雅黑" panose="020B0503020204020204" pitchFamily="34" charset="-122"/>
                <a:ea typeface="微软雅黑" panose="020B0503020204020204" pitchFamily="34" charset="-122"/>
              </a:rPr>
              <a:t>SVR</a:t>
            </a:r>
            <a:r>
              <a:rPr lang="zh-CN" altLang="en-US" dirty="0">
                <a:solidFill>
                  <a:schemeClr val="bg1"/>
                </a:solidFill>
                <a:latin typeface="微软雅黑" panose="020B0503020204020204" pitchFamily="34" charset="-122"/>
                <a:ea typeface="微软雅黑" panose="020B0503020204020204" pitchFamily="34" charset="-122"/>
              </a:rPr>
              <a:t>参数</a:t>
            </a:r>
          </a:p>
        </p:txBody>
      </p:sp>
      <p:sp>
        <p:nvSpPr>
          <p:cNvPr id="15" name="箭头: 下 14">
            <a:extLst>
              <a:ext uri="{FF2B5EF4-FFF2-40B4-BE49-F238E27FC236}">
                <a16:creationId xmlns:a16="http://schemas.microsoft.com/office/drawing/2014/main" id="{FBF984F9-8A3B-4618-8906-9F6690CCCEDD}"/>
              </a:ext>
            </a:extLst>
          </p:cNvPr>
          <p:cNvSpPr/>
          <p:nvPr/>
        </p:nvSpPr>
        <p:spPr>
          <a:xfrm>
            <a:off x="2416957" y="3923527"/>
            <a:ext cx="320040" cy="330121"/>
          </a:xfrm>
          <a:prstGeom prst="down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箭头: 右 15">
            <a:extLst>
              <a:ext uri="{FF2B5EF4-FFF2-40B4-BE49-F238E27FC236}">
                <a16:creationId xmlns:a16="http://schemas.microsoft.com/office/drawing/2014/main" id="{518795CB-0EA1-4831-A62D-E815063B58E7}"/>
              </a:ext>
            </a:extLst>
          </p:cNvPr>
          <p:cNvSpPr/>
          <p:nvPr/>
        </p:nvSpPr>
        <p:spPr>
          <a:xfrm>
            <a:off x="5450807" y="3388619"/>
            <a:ext cx="896974" cy="537961"/>
          </a:xfrm>
          <a:prstGeom prst="rightArrow">
            <a:avLst/>
          </a:prstGeom>
          <a:solidFill>
            <a:srgbClr val="FFC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右大括号 13">
            <a:extLst>
              <a:ext uri="{FF2B5EF4-FFF2-40B4-BE49-F238E27FC236}">
                <a16:creationId xmlns:a16="http://schemas.microsoft.com/office/drawing/2014/main" id="{421EFA85-478C-44AF-8322-BDC7406C6D20}"/>
              </a:ext>
            </a:extLst>
          </p:cNvPr>
          <p:cNvSpPr>
            <a:spLocks/>
          </p:cNvSpPr>
          <p:nvPr/>
        </p:nvSpPr>
        <p:spPr bwMode="auto">
          <a:xfrm rot="10800000" flipH="1">
            <a:off x="4937379" y="1844040"/>
            <a:ext cx="320040" cy="3627120"/>
          </a:xfrm>
          <a:prstGeom prst="rightBrace">
            <a:avLst>
              <a:gd name="adj1" fmla="val 58303"/>
              <a:gd name="adj2" fmla="val 48767"/>
            </a:avLst>
          </a:prstGeom>
          <a:noFill/>
          <a:ln w="762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600">
              <a:latin typeface="方正兰亭粗黑_GBK" charset="-122"/>
              <a:ea typeface="方正兰亭粗黑_GBK" charset="-122"/>
            </a:endParaRPr>
          </a:p>
        </p:txBody>
      </p:sp>
      <p:sp>
        <p:nvSpPr>
          <p:cNvPr id="18" name="文本框 17">
            <a:extLst>
              <a:ext uri="{FF2B5EF4-FFF2-40B4-BE49-F238E27FC236}">
                <a16:creationId xmlns:a16="http://schemas.microsoft.com/office/drawing/2014/main" id="{D082826E-2AB5-407E-BAC3-64FC12F40177}"/>
              </a:ext>
            </a:extLst>
          </p:cNvPr>
          <p:cNvSpPr txBox="1"/>
          <p:nvPr/>
        </p:nvSpPr>
        <p:spPr>
          <a:xfrm>
            <a:off x="5196833" y="3923528"/>
            <a:ext cx="1507105" cy="707886"/>
          </a:xfrm>
          <a:prstGeom prst="rect">
            <a:avLst/>
          </a:prstGeom>
          <a:noFill/>
        </p:spPr>
        <p:txBody>
          <a:bodyPr wrap="square" rtlCol="0">
            <a:spAutoFit/>
          </a:bodyPr>
          <a:lstStyle/>
          <a:p>
            <a:pPr algn="ctr"/>
            <a:r>
              <a:rPr lang="zh-CN" altLang="en-US" sz="2000" dirty="0">
                <a:solidFill>
                  <a:srgbClr val="000000"/>
                </a:solidFill>
                <a:latin typeface="微软雅黑" panose="020B0503020204020204" pitchFamily="34" charset="-122"/>
                <a:ea typeface="微软雅黑" panose="020B0503020204020204" pitchFamily="34" charset="-122"/>
              </a:rPr>
              <a:t>实现侧滑角在线预测</a:t>
            </a:r>
          </a:p>
        </p:txBody>
      </p:sp>
      <p:sp>
        <p:nvSpPr>
          <p:cNvPr id="19" name="矩形 18">
            <a:extLst>
              <a:ext uri="{FF2B5EF4-FFF2-40B4-BE49-F238E27FC236}">
                <a16:creationId xmlns:a16="http://schemas.microsoft.com/office/drawing/2014/main" id="{AC45D092-9901-4B82-B49E-E4C064199515}"/>
              </a:ext>
            </a:extLst>
          </p:cNvPr>
          <p:cNvSpPr/>
          <p:nvPr/>
        </p:nvSpPr>
        <p:spPr bwMode="auto">
          <a:xfrm>
            <a:off x="415383" y="1016963"/>
            <a:ext cx="4011233" cy="53022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r>
              <a:rPr lang="zh-CN" altLang="en-US" sz="2400" b="1" dirty="0">
                <a:solidFill>
                  <a:schemeClr val="bg1"/>
                </a:solidFill>
                <a:latin typeface="Arial" panose="020B0604020202020204" pitchFamily="34" charset="0"/>
                <a:ea typeface="微软雅黑" panose="020B0503020204020204" pitchFamily="34" charset="-122"/>
              </a:rPr>
              <a:t>侧滑角在线预测机制设计</a:t>
            </a:r>
            <a:endParaRPr lang="en-US" altLang="zh-CN" sz="2400" b="1" dirty="0">
              <a:solidFill>
                <a:schemeClr val="bg1"/>
              </a:solidFill>
              <a:latin typeface="Arial" panose="020B0604020202020204" pitchFamily="34" charset="0"/>
              <a:ea typeface="微软雅黑" panose="020B0503020204020204" pitchFamily="34" charset="-122"/>
            </a:endParaRPr>
          </a:p>
        </p:txBody>
      </p:sp>
      <p:sp>
        <p:nvSpPr>
          <p:cNvPr id="20" name="矩形 19">
            <a:extLst>
              <a:ext uri="{FF2B5EF4-FFF2-40B4-BE49-F238E27FC236}">
                <a16:creationId xmlns:a16="http://schemas.microsoft.com/office/drawing/2014/main" id="{2B81A1E3-3B72-4265-8368-2096D0F9FC23}"/>
              </a:ext>
            </a:extLst>
          </p:cNvPr>
          <p:cNvSpPr/>
          <p:nvPr/>
        </p:nvSpPr>
        <p:spPr bwMode="auto">
          <a:xfrm>
            <a:off x="4512643" y="1016963"/>
            <a:ext cx="144000" cy="530225"/>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文本框 20">
            <a:extLst>
              <a:ext uri="{FF2B5EF4-FFF2-40B4-BE49-F238E27FC236}">
                <a16:creationId xmlns:a16="http://schemas.microsoft.com/office/drawing/2014/main" id="{88FD8AD2-5072-4F47-B8BB-1F70CCDBFD15}"/>
              </a:ext>
            </a:extLst>
          </p:cNvPr>
          <p:cNvSpPr txBox="1"/>
          <p:nvPr/>
        </p:nvSpPr>
        <p:spPr>
          <a:xfrm>
            <a:off x="0" y="6488668"/>
            <a:ext cx="633507" cy="369332"/>
          </a:xfrm>
          <a:prstGeom prst="rect">
            <a:avLst/>
          </a:prstGeom>
          <a:noFill/>
        </p:spPr>
        <p:txBody>
          <a:bodyPr wrap="none" rtlCol="0">
            <a:spAutoFit/>
          </a:bodyPr>
          <a:lstStyle/>
          <a:p>
            <a:r>
              <a:rPr lang="en-US" altLang="zh-CN" dirty="0"/>
              <a:t>4/10</a:t>
            </a:r>
            <a:endParaRPr lang="zh-CN" altLang="en-US" dirty="0"/>
          </a:p>
        </p:txBody>
      </p:sp>
    </p:spTree>
    <p:extLst>
      <p:ext uri="{BB962C8B-B14F-4D97-AF65-F5344CB8AC3E}">
        <p14:creationId xmlns:p14="http://schemas.microsoft.com/office/powerpoint/2010/main" val="20006279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0">
            <a:extLst>
              <a:ext uri="{FF2B5EF4-FFF2-40B4-BE49-F238E27FC236}">
                <a16:creationId xmlns:a16="http://schemas.microsoft.com/office/drawing/2014/main" id="{02FE550E-B4C9-4F12-98AE-C3BC98396DF7}"/>
              </a:ext>
            </a:extLst>
          </p:cNvPr>
          <p:cNvSpPr>
            <a:spLocks noChangeArrowheads="1"/>
          </p:cNvSpPr>
          <p:nvPr/>
        </p:nvSpPr>
        <p:spPr bwMode="auto">
          <a:xfrm>
            <a:off x="1054746" y="100957"/>
            <a:ext cx="8654030" cy="646331"/>
          </a:xfrm>
          <a:prstGeom prst="rect">
            <a:avLst/>
          </a:prstGeom>
          <a:noFill/>
          <a:ln w="9525">
            <a:noFill/>
            <a:miter lim="800000"/>
          </a:ln>
        </p:spPr>
        <p:txBody>
          <a:bodyPr wrap="square">
            <a:spAutoFit/>
          </a:bodyPr>
          <a:lstStyle/>
          <a:p>
            <a:r>
              <a:rPr lang="zh-CN" altLang="en-US" sz="3600" b="1" dirty="0">
                <a:solidFill>
                  <a:srgbClr val="4B4B4B"/>
                </a:solidFill>
                <a:latin typeface="+mn-ea"/>
                <a:ea typeface="+mn-ea"/>
              </a:rPr>
              <a:t>融合侧滑前馈的自适应模型预测纠偏控制</a:t>
            </a:r>
          </a:p>
        </p:txBody>
      </p:sp>
      <p:sp>
        <p:nvSpPr>
          <p:cNvPr id="6" name="矩形 5">
            <a:extLst>
              <a:ext uri="{FF2B5EF4-FFF2-40B4-BE49-F238E27FC236}">
                <a16:creationId xmlns:a16="http://schemas.microsoft.com/office/drawing/2014/main" id="{77D5297D-C81C-452B-835F-F5BCF84AAADC}"/>
              </a:ext>
            </a:extLst>
          </p:cNvPr>
          <p:cNvSpPr/>
          <p:nvPr/>
        </p:nvSpPr>
        <p:spPr bwMode="auto">
          <a:xfrm>
            <a:off x="5141120" y="1038639"/>
            <a:ext cx="144000" cy="53022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endParaRPr lang="zh-CN" altLang="en-US" sz="24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9" name="圆角矩形 14">
            <a:extLst>
              <a:ext uri="{FF2B5EF4-FFF2-40B4-BE49-F238E27FC236}">
                <a16:creationId xmlns:a16="http://schemas.microsoft.com/office/drawing/2014/main" id="{EB7EA576-AFE1-4C8C-BE37-C6EB319DE98D}"/>
              </a:ext>
            </a:extLst>
          </p:cNvPr>
          <p:cNvSpPr>
            <a:spLocks noChangeArrowheads="1"/>
          </p:cNvSpPr>
          <p:nvPr/>
        </p:nvSpPr>
        <p:spPr bwMode="auto">
          <a:xfrm>
            <a:off x="1646483" y="2204005"/>
            <a:ext cx="2724058" cy="574170"/>
          </a:xfrm>
          <a:prstGeom prst="roundRect">
            <a:avLst>
              <a:gd name="adj" fmla="val 22664"/>
            </a:avLst>
          </a:prstGeom>
          <a:solidFill>
            <a:srgbClr val="7030A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chemeClr val="bg1"/>
                </a:solidFill>
                <a:latin typeface="微软雅黑" panose="020B0503020204020204" pitchFamily="34" charset="-122"/>
                <a:ea typeface="微软雅黑" panose="020B0503020204020204" pitchFamily="34" charset="-122"/>
              </a:rPr>
              <a:t>传统控制核心问题</a:t>
            </a:r>
          </a:p>
        </p:txBody>
      </p:sp>
      <p:sp>
        <p:nvSpPr>
          <p:cNvPr id="10" name="圆角矩形 14">
            <a:extLst>
              <a:ext uri="{FF2B5EF4-FFF2-40B4-BE49-F238E27FC236}">
                <a16:creationId xmlns:a16="http://schemas.microsoft.com/office/drawing/2014/main" id="{465FC223-4ADF-45FA-8698-338AD796B009}"/>
              </a:ext>
            </a:extLst>
          </p:cNvPr>
          <p:cNvSpPr>
            <a:spLocks noChangeArrowheads="1"/>
          </p:cNvSpPr>
          <p:nvPr/>
        </p:nvSpPr>
        <p:spPr bwMode="auto">
          <a:xfrm>
            <a:off x="4873462" y="1730522"/>
            <a:ext cx="5665378" cy="760569"/>
          </a:xfrm>
          <a:prstGeom prst="roundRect">
            <a:avLst>
              <a:gd name="adj" fmla="val 22664"/>
            </a:avLst>
          </a:prstGeom>
          <a:solidFill>
            <a:schemeClr val="accent5">
              <a:lumMod val="90000"/>
            </a:schemeClr>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被动纠偏具有滞后性，即待侧滑后才调整位姿等，造成偏差累积</a:t>
            </a:r>
          </a:p>
        </p:txBody>
      </p:sp>
      <p:sp>
        <p:nvSpPr>
          <p:cNvPr id="11" name="圆角矩形 14">
            <a:extLst>
              <a:ext uri="{FF2B5EF4-FFF2-40B4-BE49-F238E27FC236}">
                <a16:creationId xmlns:a16="http://schemas.microsoft.com/office/drawing/2014/main" id="{BB0D4ED7-6D1A-446E-AA7B-871E6C6FE148}"/>
              </a:ext>
            </a:extLst>
          </p:cNvPr>
          <p:cNvSpPr>
            <a:spLocks noChangeArrowheads="1"/>
          </p:cNvSpPr>
          <p:nvPr/>
        </p:nvSpPr>
        <p:spPr bwMode="auto">
          <a:xfrm>
            <a:off x="4873462" y="2614390"/>
            <a:ext cx="5665378" cy="760569"/>
          </a:xfrm>
          <a:prstGeom prst="roundRect">
            <a:avLst>
              <a:gd name="adj" fmla="val 22664"/>
            </a:avLst>
          </a:prstGeom>
          <a:solidFill>
            <a:schemeClr val="accent5">
              <a:lumMod val="90000"/>
            </a:schemeClr>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chemeClr val="bg1"/>
                </a:solidFill>
                <a:latin typeface="微软雅黑" panose="020B0503020204020204" pitchFamily="34" charset="-122"/>
                <a:ea typeface="微软雅黑" panose="020B0503020204020204" pitchFamily="34" charset="-122"/>
              </a:rPr>
              <a:t>时变工况适配差：面对压实材料、遍数变化导致的侧滑特性的改变，传统控制参数固定，鲁棒性不足</a:t>
            </a:r>
          </a:p>
        </p:txBody>
      </p:sp>
      <p:sp>
        <p:nvSpPr>
          <p:cNvPr id="12" name="右大括号 13">
            <a:extLst>
              <a:ext uri="{FF2B5EF4-FFF2-40B4-BE49-F238E27FC236}">
                <a16:creationId xmlns:a16="http://schemas.microsoft.com/office/drawing/2014/main" id="{D7C01B33-007E-46CA-AA91-AD99DCF477E7}"/>
              </a:ext>
            </a:extLst>
          </p:cNvPr>
          <p:cNvSpPr>
            <a:spLocks/>
          </p:cNvSpPr>
          <p:nvPr/>
        </p:nvSpPr>
        <p:spPr bwMode="auto">
          <a:xfrm flipH="1">
            <a:off x="4507446" y="2029365"/>
            <a:ext cx="229111" cy="923451"/>
          </a:xfrm>
          <a:prstGeom prst="rightBrace">
            <a:avLst>
              <a:gd name="adj1" fmla="val 58303"/>
              <a:gd name="adj2" fmla="val 48767"/>
            </a:avLst>
          </a:prstGeom>
          <a:noFill/>
          <a:ln w="76200">
            <a:solidFill>
              <a:srgbClr val="A5A5A5"/>
            </a:solidFill>
            <a:bevel/>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1600">
              <a:latin typeface="方正兰亭粗黑_GBK" charset="-122"/>
              <a:ea typeface="方正兰亭粗黑_GBK" charset="-122"/>
            </a:endParaRPr>
          </a:p>
        </p:txBody>
      </p:sp>
      <p:sp>
        <p:nvSpPr>
          <p:cNvPr id="13" name="矩形 12">
            <a:extLst>
              <a:ext uri="{FF2B5EF4-FFF2-40B4-BE49-F238E27FC236}">
                <a16:creationId xmlns:a16="http://schemas.microsoft.com/office/drawing/2014/main" id="{6DD49801-1981-41C2-87AF-33566260B758}"/>
              </a:ext>
            </a:extLst>
          </p:cNvPr>
          <p:cNvSpPr/>
          <p:nvPr/>
        </p:nvSpPr>
        <p:spPr bwMode="auto">
          <a:xfrm>
            <a:off x="293461" y="1038639"/>
            <a:ext cx="4705257" cy="53022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pPr>
            <a:r>
              <a:rPr lang="zh-CN" altLang="en-US" sz="2400" b="1" dirty="0">
                <a:solidFill>
                  <a:schemeClr val="bg1"/>
                </a:solidFill>
                <a:latin typeface="Arial" panose="020B0604020202020204" pitchFamily="34" charset="0"/>
                <a:ea typeface="微软雅黑" panose="020B0503020204020204" pitchFamily="34" charset="-122"/>
              </a:rPr>
              <a:t>自适应预测纠偏控制模型设计</a:t>
            </a:r>
            <a:endParaRPr lang="en-US" altLang="zh-CN" sz="2400" b="1" dirty="0">
              <a:solidFill>
                <a:schemeClr val="bg1"/>
              </a:solidFill>
              <a:latin typeface="Arial" panose="020B0604020202020204" pitchFamily="34" charset="0"/>
              <a:ea typeface="微软雅黑" panose="020B0503020204020204" pitchFamily="34" charset="-122"/>
            </a:endParaRPr>
          </a:p>
        </p:txBody>
      </p:sp>
      <p:sp>
        <p:nvSpPr>
          <p:cNvPr id="25" name="文本框 24">
            <a:extLst>
              <a:ext uri="{FF2B5EF4-FFF2-40B4-BE49-F238E27FC236}">
                <a16:creationId xmlns:a16="http://schemas.microsoft.com/office/drawing/2014/main" id="{B132C91B-A571-4F19-AA87-71D9B815C90C}"/>
              </a:ext>
            </a:extLst>
          </p:cNvPr>
          <p:cNvSpPr txBox="1"/>
          <p:nvPr/>
        </p:nvSpPr>
        <p:spPr>
          <a:xfrm>
            <a:off x="3484116" y="3698872"/>
            <a:ext cx="6096000" cy="461665"/>
          </a:xfrm>
          <a:prstGeom prst="rect">
            <a:avLst/>
          </a:prstGeom>
          <a:noFill/>
        </p:spPr>
        <p:txBody>
          <a:bodyPr wrap="square">
            <a:spAutoFit/>
          </a:bodyPr>
          <a:lstStyle/>
          <a:p>
            <a:r>
              <a:rPr lang="zh-CN" altLang="en-US" sz="2400" b="1" dirty="0">
                <a:latin typeface="+mn-ea"/>
                <a:ea typeface="+mn-ea"/>
              </a:rPr>
              <a:t>自适应 </a:t>
            </a:r>
            <a:r>
              <a:rPr lang="en-US" altLang="zh-CN" sz="2400" b="1" dirty="0">
                <a:latin typeface="+mn-ea"/>
                <a:ea typeface="+mn-ea"/>
              </a:rPr>
              <a:t>MPC </a:t>
            </a:r>
            <a:r>
              <a:rPr lang="zh-CN" altLang="en-US" sz="2400" b="1" dirty="0">
                <a:latin typeface="+mn-ea"/>
                <a:ea typeface="+mn-ea"/>
              </a:rPr>
              <a:t>前馈 </a:t>
            </a:r>
            <a:r>
              <a:rPr lang="en-US" altLang="zh-CN" sz="2400" b="1" dirty="0">
                <a:latin typeface="+mn-ea"/>
                <a:ea typeface="+mn-ea"/>
              </a:rPr>
              <a:t>- </a:t>
            </a:r>
            <a:r>
              <a:rPr lang="zh-CN" altLang="en-US" sz="2400" b="1" dirty="0">
                <a:latin typeface="+mn-ea"/>
                <a:ea typeface="+mn-ea"/>
              </a:rPr>
              <a:t>反馈复合控制结构</a:t>
            </a:r>
          </a:p>
        </p:txBody>
      </p:sp>
      <p:graphicFrame>
        <p:nvGraphicFramePr>
          <p:cNvPr id="17" name="表格 16">
            <a:extLst>
              <a:ext uri="{FF2B5EF4-FFF2-40B4-BE49-F238E27FC236}">
                <a16:creationId xmlns:a16="http://schemas.microsoft.com/office/drawing/2014/main" id="{819E3B71-4AAC-4463-869A-46A4EAE3851E}"/>
              </a:ext>
            </a:extLst>
          </p:cNvPr>
          <p:cNvGraphicFramePr>
            <a:graphicFrameLocks noGrp="1"/>
          </p:cNvGraphicFramePr>
          <p:nvPr>
            <p:extLst>
              <p:ext uri="{D42A27DB-BD31-4B8C-83A1-F6EECF244321}">
                <p14:modId xmlns:p14="http://schemas.microsoft.com/office/powerpoint/2010/main" val="1831362741"/>
              </p:ext>
            </p:extLst>
          </p:nvPr>
        </p:nvGraphicFramePr>
        <p:xfrm>
          <a:off x="1653160" y="4233817"/>
          <a:ext cx="8885680" cy="1831261"/>
        </p:xfrm>
        <a:graphic>
          <a:graphicData uri="http://schemas.openxmlformats.org/drawingml/2006/table">
            <a:tbl>
              <a:tblPr firstRow="1" firstCol="1" bandRow="1">
                <a:tableStyleId>{B301B821-A1FF-4177-AEE7-76D212191A09}</a:tableStyleId>
              </a:tblPr>
              <a:tblGrid>
                <a:gridCol w="1676400">
                  <a:extLst>
                    <a:ext uri="{9D8B030D-6E8A-4147-A177-3AD203B41FA5}">
                      <a16:colId xmlns:a16="http://schemas.microsoft.com/office/drawing/2014/main" val="3396823514"/>
                    </a:ext>
                  </a:extLst>
                </a:gridCol>
                <a:gridCol w="3083859">
                  <a:extLst>
                    <a:ext uri="{9D8B030D-6E8A-4147-A177-3AD203B41FA5}">
                      <a16:colId xmlns:a16="http://schemas.microsoft.com/office/drawing/2014/main" val="3146699052"/>
                    </a:ext>
                  </a:extLst>
                </a:gridCol>
                <a:gridCol w="4125421">
                  <a:extLst>
                    <a:ext uri="{9D8B030D-6E8A-4147-A177-3AD203B41FA5}">
                      <a16:colId xmlns:a16="http://schemas.microsoft.com/office/drawing/2014/main" val="240145383"/>
                    </a:ext>
                  </a:extLst>
                </a:gridCol>
              </a:tblGrid>
              <a:tr h="320942">
                <a:tc>
                  <a:txBody>
                    <a:bodyPr/>
                    <a:lstStyle/>
                    <a:p>
                      <a:pPr marL="0" algn="ctr" defTabSz="914400" rtl="0" eaLnBrk="1" fontAlgn="ctr" latinLnBrk="0" hangingPunct="1">
                        <a:spcAft>
                          <a:spcPts val="0"/>
                        </a:spcAft>
                      </a:pPr>
                      <a:r>
                        <a:rPr lang="zh-CN" altLang="en-US" sz="1600" b="1" kern="1200" dirty="0">
                          <a:solidFill>
                            <a:schemeClr val="dk1"/>
                          </a:solidFill>
                          <a:effectLst/>
                          <a:latin typeface="微软雅黑" panose="020B0503020204020204" pitchFamily="34" charset="-122"/>
                          <a:ea typeface="微软雅黑" panose="020B0503020204020204" pitchFamily="34" charset="-122"/>
                          <a:cs typeface="+mn-cs"/>
                        </a:rPr>
                        <a:t>问题痛点</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对应设计思路</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核心内容</a:t>
                      </a:r>
                    </a:p>
                  </a:txBody>
                  <a:tcPr marL="7620" marR="7620" marT="7620" marB="0" anchor="ctr"/>
                </a:tc>
                <a:extLst>
                  <a:ext uri="{0D108BD9-81ED-4DB2-BD59-A6C34878D82A}">
                    <a16:rowId xmlns:a16="http://schemas.microsoft.com/office/drawing/2014/main" val="4075470735"/>
                  </a:ext>
                </a:extLst>
              </a:tr>
              <a:tr h="479099">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被动纠偏滞后</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新增侧滑角前馈通道</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提前引入侧滑预测值，变 “被动纠偏” 为 “主动抗扰”</a:t>
                      </a:r>
                    </a:p>
                  </a:txBody>
                  <a:tcPr marL="7620" marR="7620" marT="7620" marB="0" anchor="ctr"/>
                </a:tc>
                <a:extLst>
                  <a:ext uri="{0D108BD9-81ED-4DB2-BD59-A6C34878D82A}">
                    <a16:rowId xmlns:a16="http://schemas.microsoft.com/office/drawing/2014/main" val="3901004982"/>
                  </a:ext>
                </a:extLst>
              </a:tr>
              <a:tr h="442620">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约束处理缺失</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基于 </a:t>
                      </a:r>
                      <a:r>
                        <a:rPr lang="en-US" altLang="zh-CN" sz="1600" kern="1200" dirty="0">
                          <a:solidFill>
                            <a:schemeClr val="dk1"/>
                          </a:solidFill>
                          <a:effectLst/>
                          <a:latin typeface="微软雅黑" panose="020B0503020204020204" pitchFamily="34" charset="-122"/>
                          <a:ea typeface="微软雅黑" panose="020B0503020204020204" pitchFamily="34" charset="-122"/>
                          <a:cs typeface="+mn-cs"/>
                        </a:rPr>
                        <a:t>MPC </a:t>
                      </a: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框架显式嵌入机械约束条件</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控制计算时直接规避超限，保障设备安全</a:t>
                      </a:r>
                    </a:p>
                  </a:txBody>
                  <a:tcPr marL="7620" marR="7620" marT="7620" marB="0" anchor="ctr"/>
                </a:tc>
                <a:extLst>
                  <a:ext uri="{0D108BD9-81ED-4DB2-BD59-A6C34878D82A}">
                    <a16:rowId xmlns:a16="http://schemas.microsoft.com/office/drawing/2014/main" val="1851722914"/>
                  </a:ext>
                </a:extLst>
              </a:tr>
              <a:tr h="519719">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时变工况适配差</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升级为 “自适应 </a:t>
                      </a:r>
                      <a:r>
                        <a:rPr lang="en-US" altLang="zh-CN" sz="1600" kern="1200" dirty="0">
                          <a:solidFill>
                            <a:schemeClr val="dk1"/>
                          </a:solidFill>
                          <a:effectLst/>
                          <a:latin typeface="微软雅黑" panose="020B0503020204020204" pitchFamily="34" charset="-122"/>
                          <a:ea typeface="微软雅黑" panose="020B0503020204020204" pitchFamily="34" charset="-122"/>
                          <a:cs typeface="+mn-cs"/>
                        </a:rPr>
                        <a:t>MPC”</a:t>
                      </a: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，动态调整控制参数</a:t>
                      </a:r>
                    </a:p>
                  </a:txBody>
                  <a:tcPr marL="7620" marR="7620" marT="7620" marB="0" anchor="ctr"/>
                </a:tc>
                <a:tc>
                  <a:txBody>
                    <a:bodyPr/>
                    <a:lstStyle/>
                    <a:p>
                      <a:pPr marL="0" algn="ctr" defTabSz="914400" rtl="0" eaLnBrk="1" fontAlgn="ctr" latinLnBrk="0" hangingPunct="1">
                        <a:spcAft>
                          <a:spcPts val="0"/>
                        </a:spcAft>
                      </a:pPr>
                      <a:r>
                        <a:rPr lang="zh-CN" altLang="en-US" sz="1600" kern="1200" dirty="0">
                          <a:solidFill>
                            <a:schemeClr val="dk1"/>
                          </a:solidFill>
                          <a:effectLst/>
                          <a:latin typeface="微软雅黑" panose="020B0503020204020204" pitchFamily="34" charset="-122"/>
                          <a:ea typeface="微软雅黑" panose="020B0503020204020204" pitchFamily="34" charset="-122"/>
                          <a:cs typeface="+mn-cs"/>
                        </a:rPr>
                        <a:t>适配侧滑特性变化，维持控制精度</a:t>
                      </a:r>
                    </a:p>
                  </a:txBody>
                  <a:tcPr marL="7620" marR="7620" marT="7620" marB="0" anchor="ctr"/>
                </a:tc>
                <a:extLst>
                  <a:ext uri="{0D108BD9-81ED-4DB2-BD59-A6C34878D82A}">
                    <a16:rowId xmlns:a16="http://schemas.microsoft.com/office/drawing/2014/main" val="2804280670"/>
                  </a:ext>
                </a:extLst>
              </a:tr>
            </a:tbl>
          </a:graphicData>
        </a:graphic>
      </p:graphicFrame>
      <p:sp>
        <p:nvSpPr>
          <p:cNvPr id="3" name="箭头: 左弧形 2">
            <a:extLst>
              <a:ext uri="{FF2B5EF4-FFF2-40B4-BE49-F238E27FC236}">
                <a16:creationId xmlns:a16="http://schemas.microsoft.com/office/drawing/2014/main" id="{0984DCF8-36AD-411B-96AB-BF297ECB2127}"/>
              </a:ext>
            </a:extLst>
          </p:cNvPr>
          <p:cNvSpPr/>
          <p:nvPr/>
        </p:nvSpPr>
        <p:spPr>
          <a:xfrm>
            <a:off x="527552" y="2457260"/>
            <a:ext cx="817008" cy="2483224"/>
          </a:xfrm>
          <a:prstGeom prst="curvedRightArrow">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矩形: 圆角 13">
            <a:extLst>
              <a:ext uri="{FF2B5EF4-FFF2-40B4-BE49-F238E27FC236}">
                <a16:creationId xmlns:a16="http://schemas.microsoft.com/office/drawing/2014/main" id="{6BE38431-BA4E-4563-A3F4-12C663F6D63B}"/>
              </a:ext>
            </a:extLst>
          </p:cNvPr>
          <p:cNvSpPr/>
          <p:nvPr/>
        </p:nvSpPr>
        <p:spPr>
          <a:xfrm>
            <a:off x="1481465" y="3582407"/>
            <a:ext cx="9231359" cy="2674958"/>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sp>
        <p:nvSpPr>
          <p:cNvPr id="15" name="矩形: 圆角 14">
            <a:extLst>
              <a:ext uri="{FF2B5EF4-FFF2-40B4-BE49-F238E27FC236}">
                <a16:creationId xmlns:a16="http://schemas.microsoft.com/office/drawing/2014/main" id="{C254C308-6D52-4BF2-B7CB-527ACC625EDD}"/>
              </a:ext>
            </a:extLst>
          </p:cNvPr>
          <p:cNvSpPr/>
          <p:nvPr/>
        </p:nvSpPr>
        <p:spPr>
          <a:xfrm>
            <a:off x="1481465" y="1642145"/>
            <a:ext cx="9231359" cy="1786856"/>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sp>
        <p:nvSpPr>
          <p:cNvPr id="16" name="文本框 15">
            <a:extLst>
              <a:ext uri="{FF2B5EF4-FFF2-40B4-BE49-F238E27FC236}">
                <a16:creationId xmlns:a16="http://schemas.microsoft.com/office/drawing/2014/main" id="{DA47A3BE-5C30-4328-905A-286B45B8CA74}"/>
              </a:ext>
            </a:extLst>
          </p:cNvPr>
          <p:cNvSpPr txBox="1"/>
          <p:nvPr/>
        </p:nvSpPr>
        <p:spPr>
          <a:xfrm>
            <a:off x="0" y="6488668"/>
            <a:ext cx="633507" cy="369332"/>
          </a:xfrm>
          <a:prstGeom prst="rect">
            <a:avLst/>
          </a:prstGeom>
          <a:noFill/>
        </p:spPr>
        <p:txBody>
          <a:bodyPr wrap="none" rtlCol="0">
            <a:spAutoFit/>
          </a:bodyPr>
          <a:lstStyle/>
          <a:p>
            <a:r>
              <a:rPr lang="en-US" altLang="zh-CN" dirty="0"/>
              <a:t>5/10</a:t>
            </a:r>
            <a:endParaRPr lang="zh-CN" altLang="en-US" dirty="0"/>
          </a:p>
        </p:txBody>
      </p:sp>
    </p:spTree>
    <p:extLst>
      <p:ext uri="{BB962C8B-B14F-4D97-AF65-F5344CB8AC3E}">
        <p14:creationId xmlns:p14="http://schemas.microsoft.com/office/powerpoint/2010/main" val="1422728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69AF3080-8762-4BBD-A1ED-976805872AE9}"/>
              </a:ext>
            </a:extLst>
          </p:cNvPr>
          <p:cNvSpPr/>
          <p:nvPr/>
        </p:nvSpPr>
        <p:spPr>
          <a:xfrm>
            <a:off x="1518292" y="960531"/>
            <a:ext cx="2526485" cy="1487520"/>
          </a:xfrm>
          <a:prstGeom prst="rect">
            <a:avLst/>
          </a:prstGeom>
          <a:solidFill>
            <a:srgbClr val="14AB8E"/>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3" name="文本框 82">
            <a:extLst>
              <a:ext uri="{FF2B5EF4-FFF2-40B4-BE49-F238E27FC236}">
                <a16:creationId xmlns:a16="http://schemas.microsoft.com/office/drawing/2014/main" id="{55C5A1A0-9FEA-400B-9E33-46F4E10EF1AD}"/>
              </a:ext>
            </a:extLst>
          </p:cNvPr>
          <p:cNvSpPr txBox="1"/>
          <p:nvPr/>
        </p:nvSpPr>
        <p:spPr>
          <a:xfrm>
            <a:off x="1396496" y="5007474"/>
            <a:ext cx="2770080" cy="1147999"/>
          </a:xfrm>
          <a:prstGeom prst="rect">
            <a:avLst/>
          </a:prstGeom>
          <a:solidFill>
            <a:srgbClr val="0098A8"/>
          </a:solidFill>
          <a:ln>
            <a:noFill/>
          </a:ln>
        </p:spPr>
        <p:txBody>
          <a:bodyPr wrap="square">
            <a:spAutoFit/>
          </a:bodyPr>
          <a:lstStyle/>
          <a:p>
            <a:endParaRPr lang="zh-CN" altLang="en-US" sz="1400" dirty="0">
              <a:solidFill>
                <a:schemeClr val="bg1"/>
              </a:solidFill>
              <a:latin typeface="微软雅黑" panose="020B0503020204020204" pitchFamily="34" charset="-122"/>
              <a:ea typeface="微软雅黑" panose="020B0503020204020204" pitchFamily="34" charset="-122"/>
            </a:endParaRPr>
          </a:p>
        </p:txBody>
      </p:sp>
      <p:pic>
        <p:nvPicPr>
          <p:cNvPr id="100" name="图片 99">
            <a:extLst>
              <a:ext uri="{FF2B5EF4-FFF2-40B4-BE49-F238E27FC236}">
                <a16:creationId xmlns:a16="http://schemas.microsoft.com/office/drawing/2014/main" id="{EA980D73-CBE4-4190-9C12-65198E8AB0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49560" y="4122654"/>
            <a:ext cx="2796550" cy="1118620"/>
          </a:xfrm>
          <a:prstGeom prst="rect">
            <a:avLst/>
          </a:prstGeom>
        </p:spPr>
      </p:pic>
      <p:pic>
        <p:nvPicPr>
          <p:cNvPr id="97" name="图片 96">
            <a:extLst>
              <a:ext uri="{FF2B5EF4-FFF2-40B4-BE49-F238E27FC236}">
                <a16:creationId xmlns:a16="http://schemas.microsoft.com/office/drawing/2014/main" id="{8A973589-4F6A-478F-B761-21C43D77E7A4}"/>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6666" y="1947454"/>
            <a:ext cx="2259003" cy="1248013"/>
          </a:xfrm>
          <a:prstGeom prst="rect">
            <a:avLst/>
          </a:prstGeom>
          <a:noFill/>
          <a:ln>
            <a:noFill/>
          </a:ln>
        </p:spPr>
      </p:pic>
      <p:pic>
        <p:nvPicPr>
          <p:cNvPr id="95" name="Picture 2" descr="MatLab and Azure: A Match Made in Performance Heaven">
            <a:extLst>
              <a:ext uri="{FF2B5EF4-FFF2-40B4-BE49-F238E27FC236}">
                <a16:creationId xmlns:a16="http://schemas.microsoft.com/office/drawing/2014/main" id="{D3BA66FC-2987-4A8E-B8B1-0E2352C000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4768" y="5113845"/>
            <a:ext cx="1977244" cy="78097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40">
            <a:extLst>
              <a:ext uri="{FF2B5EF4-FFF2-40B4-BE49-F238E27FC236}">
                <a16:creationId xmlns:a16="http://schemas.microsoft.com/office/drawing/2014/main" id="{B8853659-504D-4624-B586-0188FFA992EB}"/>
              </a:ext>
            </a:extLst>
          </p:cNvPr>
          <p:cNvSpPr>
            <a:spLocks noChangeArrowheads="1"/>
          </p:cNvSpPr>
          <p:nvPr/>
        </p:nvSpPr>
        <p:spPr bwMode="auto">
          <a:xfrm>
            <a:off x="1054746" y="100957"/>
            <a:ext cx="8654030" cy="646331"/>
          </a:xfrm>
          <a:prstGeom prst="rect">
            <a:avLst/>
          </a:prstGeom>
          <a:noFill/>
          <a:ln w="9525">
            <a:noFill/>
            <a:miter lim="800000"/>
          </a:ln>
        </p:spPr>
        <p:txBody>
          <a:bodyPr wrap="square">
            <a:spAutoFit/>
          </a:bodyPr>
          <a:lstStyle/>
          <a:p>
            <a:r>
              <a:rPr lang="zh-CN" altLang="en-US" sz="3600" b="1" dirty="0">
                <a:solidFill>
                  <a:srgbClr val="4B4B4B"/>
                </a:solidFill>
                <a:latin typeface="+mn-ea"/>
                <a:ea typeface="+mn-ea"/>
              </a:rPr>
              <a:t>基于多物理场联合仿真的模型与算法验证</a:t>
            </a:r>
            <a:endParaRPr lang="en-US" altLang="zh-CN" sz="3600" b="1" dirty="0">
              <a:solidFill>
                <a:srgbClr val="4B4B4B"/>
              </a:solidFill>
              <a:latin typeface="+mn-ea"/>
              <a:ea typeface="+mn-ea"/>
            </a:endParaRPr>
          </a:p>
        </p:txBody>
      </p:sp>
      <p:sp>
        <p:nvSpPr>
          <p:cNvPr id="82" name="文本框 81">
            <a:extLst>
              <a:ext uri="{FF2B5EF4-FFF2-40B4-BE49-F238E27FC236}">
                <a16:creationId xmlns:a16="http://schemas.microsoft.com/office/drawing/2014/main" id="{D034FCA1-499B-4121-9C03-578B0F017D5B}"/>
              </a:ext>
            </a:extLst>
          </p:cNvPr>
          <p:cNvSpPr txBox="1"/>
          <p:nvPr/>
        </p:nvSpPr>
        <p:spPr>
          <a:xfrm>
            <a:off x="1405366" y="3139760"/>
            <a:ext cx="2752340" cy="976838"/>
          </a:xfrm>
          <a:prstGeom prst="rect">
            <a:avLst/>
          </a:prstGeom>
          <a:solidFill>
            <a:srgbClr val="00B0F0"/>
          </a:solidFill>
          <a:ln>
            <a:noFill/>
          </a:ln>
        </p:spPr>
        <p:txBody>
          <a:bodyPr wrap="square">
            <a:spAutoFit/>
          </a:bodyPr>
          <a:lstStyle/>
          <a:p>
            <a:pPr algn="ctr"/>
            <a:endParaRPr lang="en-US" altLang="zh-CN" sz="1800" b="0" i="0" u="none" strike="noStrike" baseline="0" dirty="0">
              <a:solidFill>
                <a:schemeClr val="bg1"/>
              </a:solidFill>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AAF4EFA1-9809-4F3E-AAF4-4FD28CBBB56C}"/>
              </a:ext>
            </a:extLst>
          </p:cNvPr>
          <p:cNvSpPr txBox="1"/>
          <p:nvPr/>
        </p:nvSpPr>
        <p:spPr>
          <a:xfrm>
            <a:off x="7833745" y="4552558"/>
            <a:ext cx="3125902" cy="646331"/>
          </a:xfrm>
          <a:prstGeom prst="rect">
            <a:avLst/>
          </a:prstGeom>
          <a:solidFill>
            <a:srgbClr val="FF9900"/>
          </a:solidFill>
          <a:ln>
            <a:noFill/>
          </a:ln>
        </p:spPr>
        <p:txBody>
          <a:bodyPr wrap="square">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实现离散元（介质）</a:t>
            </a: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多体动力学（机器人）</a:t>
            </a: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智能控制（算法）闭环耦合，验证设计的算法的合理性</a:t>
            </a:r>
          </a:p>
        </p:txBody>
      </p:sp>
      <p:sp>
        <p:nvSpPr>
          <p:cNvPr id="87" name="文本框 86">
            <a:extLst>
              <a:ext uri="{FF2B5EF4-FFF2-40B4-BE49-F238E27FC236}">
                <a16:creationId xmlns:a16="http://schemas.microsoft.com/office/drawing/2014/main" id="{FDA30CD5-2878-4270-A4C8-0FCA1B24F475}"/>
              </a:ext>
            </a:extLst>
          </p:cNvPr>
          <p:cNvSpPr txBox="1"/>
          <p:nvPr/>
        </p:nvSpPr>
        <p:spPr>
          <a:xfrm>
            <a:off x="1531939" y="1923376"/>
            <a:ext cx="2499193" cy="461665"/>
          </a:xfrm>
          <a:prstGeom prst="rect">
            <a:avLst/>
          </a:prstGeom>
          <a:solidFill>
            <a:srgbClr val="14AB8E"/>
          </a:solidFill>
          <a:ln>
            <a:noFill/>
          </a:ln>
        </p:spPr>
        <p:txBody>
          <a:bodyPr wrap="square">
            <a:spAutoFit/>
          </a:bodyPr>
          <a:lstStyle/>
          <a:p>
            <a:pPr algn="ctr"/>
            <a:r>
              <a:rPr lang="en-US" altLang="zh-CN" sz="1200" dirty="0">
                <a:solidFill>
                  <a:schemeClr val="bg1"/>
                </a:solidFill>
                <a:latin typeface="微软雅黑" panose="020B0503020204020204" pitchFamily="34" charset="-122"/>
                <a:ea typeface="微软雅黑" panose="020B0503020204020204" pitchFamily="34" charset="-122"/>
              </a:rPr>
              <a:t>EDEM</a:t>
            </a:r>
            <a:r>
              <a:rPr lang="zh-CN" altLang="en-US" sz="1200" dirty="0">
                <a:solidFill>
                  <a:schemeClr val="bg1"/>
                </a:solidFill>
                <a:latin typeface="微软雅黑" panose="020B0503020204020204" pitchFamily="34" charset="-122"/>
                <a:ea typeface="微软雅黑" panose="020B0503020204020204" pitchFamily="34" charset="-122"/>
              </a:rPr>
              <a:t>：精细模拟压实介质（土壤 </a:t>
            </a:r>
            <a:r>
              <a:rPr lang="en-US" altLang="zh-CN" sz="1200" dirty="0">
                <a:solidFill>
                  <a:schemeClr val="bg1"/>
                </a:solidFill>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沥青混合料）离散元模型</a:t>
            </a:r>
          </a:p>
        </p:txBody>
      </p:sp>
      <p:sp>
        <p:nvSpPr>
          <p:cNvPr id="18" name="箭头: 环形 17">
            <a:extLst>
              <a:ext uri="{FF2B5EF4-FFF2-40B4-BE49-F238E27FC236}">
                <a16:creationId xmlns:a16="http://schemas.microsoft.com/office/drawing/2014/main" id="{F129AAB2-53A5-473C-9F54-13FB10E01B90}"/>
              </a:ext>
            </a:extLst>
          </p:cNvPr>
          <p:cNvSpPr/>
          <p:nvPr/>
        </p:nvSpPr>
        <p:spPr>
          <a:xfrm rot="16200000">
            <a:off x="586664" y="3898535"/>
            <a:ext cx="1569387" cy="1308045"/>
          </a:xfrm>
          <a:prstGeom prst="circular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9" name="箭头: 下 18">
            <a:extLst>
              <a:ext uri="{FF2B5EF4-FFF2-40B4-BE49-F238E27FC236}">
                <a16:creationId xmlns:a16="http://schemas.microsoft.com/office/drawing/2014/main" id="{2BA43C6E-28FF-4E80-B716-C93717CFF50F}"/>
              </a:ext>
            </a:extLst>
          </p:cNvPr>
          <p:cNvSpPr/>
          <p:nvPr/>
        </p:nvSpPr>
        <p:spPr>
          <a:xfrm>
            <a:off x="2620844" y="2475904"/>
            <a:ext cx="321385" cy="646331"/>
          </a:xfrm>
          <a:prstGeom prst="down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1" name="文本框 90">
            <a:extLst>
              <a:ext uri="{FF2B5EF4-FFF2-40B4-BE49-F238E27FC236}">
                <a16:creationId xmlns:a16="http://schemas.microsoft.com/office/drawing/2014/main" id="{0CB9BFFA-FC18-4283-AE99-145618AE98E5}"/>
              </a:ext>
            </a:extLst>
          </p:cNvPr>
          <p:cNvSpPr txBox="1"/>
          <p:nvPr/>
        </p:nvSpPr>
        <p:spPr>
          <a:xfrm>
            <a:off x="1397220" y="2580830"/>
            <a:ext cx="2752340" cy="307777"/>
          </a:xfrm>
          <a:prstGeom prst="rect">
            <a:avLst/>
          </a:prstGeom>
          <a:noFill/>
        </p:spPr>
        <p:txBody>
          <a:bodyPr wrap="square" rtlCol="0">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输入介质动态响应</a:t>
            </a:r>
          </a:p>
        </p:txBody>
      </p:sp>
      <p:sp>
        <p:nvSpPr>
          <p:cNvPr id="92" name="文本框 91">
            <a:extLst>
              <a:ext uri="{FF2B5EF4-FFF2-40B4-BE49-F238E27FC236}">
                <a16:creationId xmlns:a16="http://schemas.microsoft.com/office/drawing/2014/main" id="{B47C0218-3140-4385-8F00-31181DA122DA}"/>
              </a:ext>
            </a:extLst>
          </p:cNvPr>
          <p:cNvSpPr txBox="1"/>
          <p:nvPr/>
        </p:nvSpPr>
        <p:spPr>
          <a:xfrm>
            <a:off x="-64440" y="4231079"/>
            <a:ext cx="968445" cy="523220"/>
          </a:xfrm>
          <a:prstGeom prst="rect">
            <a:avLst/>
          </a:prstGeom>
          <a:noFill/>
        </p:spPr>
        <p:txBody>
          <a:bodyPr wrap="square" rtlCol="0">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反馈实时控制指令</a:t>
            </a:r>
          </a:p>
        </p:txBody>
      </p:sp>
      <p:sp>
        <p:nvSpPr>
          <p:cNvPr id="93" name="箭头: 下 92">
            <a:extLst>
              <a:ext uri="{FF2B5EF4-FFF2-40B4-BE49-F238E27FC236}">
                <a16:creationId xmlns:a16="http://schemas.microsoft.com/office/drawing/2014/main" id="{F6C1186D-A41D-4C00-AF17-A8E814B63D15}"/>
              </a:ext>
            </a:extLst>
          </p:cNvPr>
          <p:cNvSpPr/>
          <p:nvPr/>
        </p:nvSpPr>
        <p:spPr>
          <a:xfrm>
            <a:off x="2604551" y="4168675"/>
            <a:ext cx="337678" cy="821885"/>
          </a:xfrm>
          <a:prstGeom prst="downArrow">
            <a:avLst/>
          </a:prstGeom>
          <a:solidFill>
            <a:schemeClr val="accent1">
              <a:lumMod val="60000"/>
              <a:lumOff val="4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4" name="文本框 93">
            <a:extLst>
              <a:ext uri="{FF2B5EF4-FFF2-40B4-BE49-F238E27FC236}">
                <a16:creationId xmlns:a16="http://schemas.microsoft.com/office/drawing/2014/main" id="{733BF28E-1C8F-435B-A1F9-190056F39545}"/>
              </a:ext>
            </a:extLst>
          </p:cNvPr>
          <p:cNvSpPr txBox="1"/>
          <p:nvPr/>
        </p:nvSpPr>
        <p:spPr>
          <a:xfrm>
            <a:off x="2056807" y="4344951"/>
            <a:ext cx="1449454" cy="523220"/>
          </a:xfrm>
          <a:prstGeom prst="rect">
            <a:avLst/>
          </a:prstGeom>
          <a:noFill/>
        </p:spPr>
        <p:txBody>
          <a:bodyPr wrap="square" rtlCol="0">
            <a:spAutoFit/>
          </a:bodyPr>
          <a:lstStyle/>
          <a:p>
            <a:pPr algn="ctr"/>
            <a:r>
              <a:rPr lang="zh-CN" altLang="en-US" sz="1400" dirty="0">
                <a:solidFill>
                  <a:srgbClr val="000000"/>
                </a:solidFill>
                <a:latin typeface="微软雅黑" panose="020B0503020204020204" pitchFamily="34" charset="-122"/>
                <a:ea typeface="微软雅黑" panose="020B0503020204020204" pitchFamily="34" charset="-122"/>
              </a:rPr>
              <a:t>机器人的状态：位姿、转角等</a:t>
            </a:r>
          </a:p>
        </p:txBody>
      </p:sp>
      <p:sp>
        <p:nvSpPr>
          <p:cNvPr id="96" name="矩形 95">
            <a:extLst>
              <a:ext uri="{FF2B5EF4-FFF2-40B4-BE49-F238E27FC236}">
                <a16:creationId xmlns:a16="http://schemas.microsoft.com/office/drawing/2014/main" id="{CF048ACC-E4D1-4CA6-82AF-2124D7510EC0}"/>
              </a:ext>
            </a:extLst>
          </p:cNvPr>
          <p:cNvSpPr/>
          <p:nvPr/>
        </p:nvSpPr>
        <p:spPr>
          <a:xfrm>
            <a:off x="8006758" y="3992827"/>
            <a:ext cx="2779876" cy="476504"/>
          </a:xfrm>
          <a:prstGeom prst="rect">
            <a:avLst/>
          </a:prstGeom>
        </p:spPr>
        <p:txBody>
          <a:bodyPr wrap="square" lIns="68543" tIns="34272" rIns="68543" bIns="34272">
            <a:spAutoFit/>
          </a:bodyPr>
          <a:lstStyle/>
          <a:p>
            <a:pPr algn="ctr" fontAlgn="auto">
              <a:lnSpc>
                <a:spcPct val="150000"/>
              </a:lnSpc>
              <a:spcBef>
                <a:spcPts val="0"/>
              </a:spcBef>
              <a:spcAft>
                <a:spcPts val="0"/>
              </a:spcAft>
            </a:pPr>
            <a:r>
              <a:rPr lang="zh-CN" altLang="en-US" sz="2000" b="1" dirty="0">
                <a:solidFill>
                  <a:prstClr val="black">
                    <a:lumMod val="75000"/>
                    <a:lumOff val="25000"/>
                  </a:prstClr>
                </a:solidFill>
                <a:latin typeface="微软雅黑" pitchFamily="34" charset="-122"/>
                <a:ea typeface="微软雅黑" pitchFamily="34" charset="-122"/>
                <a:cs typeface="华文黑体" pitchFamily="2" charset="-122"/>
              </a:rPr>
              <a:t>联合仿真过程示意图</a:t>
            </a:r>
            <a:endParaRPr lang="en-US" altLang="zh-CN" sz="2000" b="1" dirty="0">
              <a:solidFill>
                <a:prstClr val="black">
                  <a:lumMod val="75000"/>
                  <a:lumOff val="25000"/>
                </a:prstClr>
              </a:solidFill>
              <a:latin typeface="微软雅黑" pitchFamily="34" charset="-122"/>
              <a:ea typeface="微软雅黑" pitchFamily="34" charset="-122"/>
              <a:cs typeface="华文黑体" pitchFamily="2" charset="-122"/>
            </a:endParaRPr>
          </a:p>
        </p:txBody>
      </p:sp>
      <p:sp>
        <p:nvSpPr>
          <p:cNvPr id="102" name="箭头: 右 101">
            <a:extLst>
              <a:ext uri="{FF2B5EF4-FFF2-40B4-BE49-F238E27FC236}">
                <a16:creationId xmlns:a16="http://schemas.microsoft.com/office/drawing/2014/main" id="{325612D8-1D64-47B0-B997-793520021BCB}"/>
              </a:ext>
            </a:extLst>
          </p:cNvPr>
          <p:cNvSpPr/>
          <p:nvPr/>
        </p:nvSpPr>
        <p:spPr>
          <a:xfrm>
            <a:off x="4369255" y="3382642"/>
            <a:ext cx="2437343" cy="626781"/>
          </a:xfrm>
          <a:prstGeom prst="rightArrow">
            <a:avLst/>
          </a:prstGeom>
          <a:solidFill>
            <a:srgbClr val="FF000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1026" name="Picture 2" descr="RecurDyn, 2019년 세계일류상품 자격유지">
            <a:extLst>
              <a:ext uri="{FF2B5EF4-FFF2-40B4-BE49-F238E27FC236}">
                <a16:creationId xmlns:a16="http://schemas.microsoft.com/office/drawing/2014/main" id="{D63E50A9-C743-4543-A008-5C8AA7F8C03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43026" y="3195467"/>
            <a:ext cx="1774025" cy="3799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DEM 基础案例 01＞SAG Mill_edem官方案例在哪找-CSDN博客">
            <a:extLst>
              <a:ext uri="{FF2B5EF4-FFF2-40B4-BE49-F238E27FC236}">
                <a16:creationId xmlns:a16="http://schemas.microsoft.com/office/drawing/2014/main" id="{E70269EB-13B8-4D41-AB75-4D67092EDDD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29395" y="1010065"/>
            <a:ext cx="1704278" cy="95865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1EE14A3D-D2D4-58D0-E642-B4F86E9A1181}"/>
              </a:ext>
            </a:extLst>
          </p:cNvPr>
          <p:cNvSpPr txBox="1"/>
          <p:nvPr/>
        </p:nvSpPr>
        <p:spPr>
          <a:xfrm>
            <a:off x="1552118" y="5860718"/>
            <a:ext cx="2959061" cy="276999"/>
          </a:xfrm>
          <a:prstGeom prst="rect">
            <a:avLst/>
          </a:prstGeom>
          <a:noFill/>
        </p:spPr>
        <p:txBody>
          <a:bodyPr wrap="square" rtlCol="0">
            <a:spAutoFit/>
          </a:bodyPr>
          <a:lstStyle/>
          <a:p>
            <a:r>
              <a:rPr lang="en-US" altLang="zh-CN" sz="1200" dirty="0">
                <a:solidFill>
                  <a:schemeClr val="bg1"/>
                </a:solidFill>
                <a:latin typeface="微软雅黑" panose="020B0503020204020204" pitchFamily="34" charset="-122"/>
                <a:ea typeface="微软雅黑" panose="020B0503020204020204" pitchFamily="34" charset="-122"/>
              </a:rPr>
              <a:t>MATLAB/Simulink</a:t>
            </a:r>
            <a:r>
              <a:rPr lang="zh-CN" altLang="en-US" sz="1200" dirty="0">
                <a:solidFill>
                  <a:schemeClr val="bg1"/>
                </a:solidFill>
                <a:latin typeface="微软雅黑" panose="020B0503020204020204" pitchFamily="34" charset="-122"/>
                <a:ea typeface="微软雅黑" panose="020B0503020204020204" pitchFamily="34" charset="-122"/>
              </a:rPr>
              <a:t>：集成控制所有模块</a:t>
            </a:r>
          </a:p>
        </p:txBody>
      </p:sp>
      <p:sp>
        <p:nvSpPr>
          <p:cNvPr id="4" name="文本框 3">
            <a:extLst>
              <a:ext uri="{FF2B5EF4-FFF2-40B4-BE49-F238E27FC236}">
                <a16:creationId xmlns:a16="http://schemas.microsoft.com/office/drawing/2014/main" id="{E96291B2-3DBB-060A-4E8A-AA7EAA38999B}"/>
              </a:ext>
            </a:extLst>
          </p:cNvPr>
          <p:cNvSpPr txBox="1"/>
          <p:nvPr/>
        </p:nvSpPr>
        <p:spPr>
          <a:xfrm>
            <a:off x="1838452" y="3621429"/>
            <a:ext cx="2311108" cy="461665"/>
          </a:xfrm>
          <a:prstGeom prst="rect">
            <a:avLst/>
          </a:prstGeom>
          <a:noFill/>
        </p:spPr>
        <p:txBody>
          <a:bodyPr wrap="square" rtlCol="0">
            <a:spAutoFit/>
          </a:bodyPr>
          <a:lstStyle/>
          <a:p>
            <a:pPr algn="ctr"/>
            <a:r>
              <a:rPr lang="en-US" altLang="zh-CN" sz="1200" dirty="0" err="1">
                <a:solidFill>
                  <a:schemeClr val="bg1"/>
                </a:solidFill>
                <a:latin typeface="微软雅黑" panose="020B0503020204020204" pitchFamily="34" charset="-122"/>
                <a:ea typeface="微软雅黑" panose="020B0503020204020204" pitchFamily="34" charset="-122"/>
              </a:rPr>
              <a:t>RecurDyn</a:t>
            </a:r>
            <a:r>
              <a:rPr lang="zh-CN" altLang="en-US" sz="1200" dirty="0">
                <a:solidFill>
                  <a:schemeClr val="bg1"/>
                </a:solidFill>
                <a:latin typeface="微软雅黑" panose="020B0503020204020204" pitchFamily="34" charset="-122"/>
                <a:ea typeface="微软雅黑" panose="020B0503020204020204" pitchFamily="34" charset="-122"/>
              </a:rPr>
              <a:t>：建立振动碾压机器人多体动力学模型</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A33422BB-4A9B-4A04-BA84-D83872238BB3}"/>
              </a:ext>
            </a:extLst>
          </p:cNvPr>
          <p:cNvSpPr txBox="1"/>
          <p:nvPr/>
        </p:nvSpPr>
        <p:spPr>
          <a:xfrm>
            <a:off x="4160175" y="3548622"/>
            <a:ext cx="2682335" cy="307777"/>
          </a:xfrm>
          <a:prstGeom prst="rect">
            <a:avLst/>
          </a:prstGeom>
          <a:noFill/>
        </p:spPr>
        <p:txBody>
          <a:bodyPr wrap="square" rtlCol="0">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联合仿真</a:t>
            </a:r>
          </a:p>
        </p:txBody>
      </p:sp>
      <p:pic>
        <p:nvPicPr>
          <p:cNvPr id="7" name="图片 6">
            <a:extLst>
              <a:ext uri="{FF2B5EF4-FFF2-40B4-BE49-F238E27FC236}">
                <a16:creationId xmlns:a16="http://schemas.microsoft.com/office/drawing/2014/main" id="{8560FD23-8153-4892-B9CA-27BABEB737B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14399" y="1749119"/>
            <a:ext cx="4244920" cy="2299104"/>
          </a:xfrm>
          <a:prstGeom prst="rect">
            <a:avLst/>
          </a:prstGeom>
        </p:spPr>
      </p:pic>
      <p:sp>
        <p:nvSpPr>
          <p:cNvPr id="25" name="文本框 24">
            <a:extLst>
              <a:ext uri="{FF2B5EF4-FFF2-40B4-BE49-F238E27FC236}">
                <a16:creationId xmlns:a16="http://schemas.microsoft.com/office/drawing/2014/main" id="{E7387AB4-8C3B-471C-814D-A3080DA33596}"/>
              </a:ext>
            </a:extLst>
          </p:cNvPr>
          <p:cNvSpPr txBox="1"/>
          <p:nvPr/>
        </p:nvSpPr>
        <p:spPr>
          <a:xfrm>
            <a:off x="0" y="6488668"/>
            <a:ext cx="633507" cy="369332"/>
          </a:xfrm>
          <a:prstGeom prst="rect">
            <a:avLst/>
          </a:prstGeom>
          <a:noFill/>
        </p:spPr>
        <p:txBody>
          <a:bodyPr wrap="none" rtlCol="0">
            <a:spAutoFit/>
          </a:bodyPr>
          <a:lstStyle/>
          <a:p>
            <a:r>
              <a:rPr lang="en-US" altLang="zh-CN" dirty="0"/>
              <a:t>6/10</a:t>
            </a:r>
            <a:endParaRPr lang="zh-CN" altLang="en-US" dirty="0"/>
          </a:p>
        </p:txBody>
      </p:sp>
    </p:spTree>
    <p:extLst>
      <p:ext uri="{BB962C8B-B14F-4D97-AF65-F5344CB8AC3E}">
        <p14:creationId xmlns:p14="http://schemas.microsoft.com/office/powerpoint/2010/main" val="1855830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589" y="91260"/>
            <a:ext cx="2860809" cy="992964"/>
          </a:xfrm>
          <a:prstGeom prst="rect">
            <a:avLst/>
          </a:prstGeom>
        </p:spPr>
      </p:pic>
      <p:sp>
        <p:nvSpPr>
          <p:cNvPr id="93" name="标题 1">
            <a:extLst>
              <a:ext uri="{FF2B5EF4-FFF2-40B4-BE49-F238E27FC236}">
                <a16:creationId xmlns:a16="http://schemas.microsoft.com/office/drawing/2014/main" id="{D3326511-A930-4D57-B61D-ADDA2CAECF05}"/>
              </a:ext>
            </a:extLst>
          </p:cNvPr>
          <p:cNvSpPr txBox="1"/>
          <p:nvPr/>
        </p:nvSpPr>
        <p:spPr>
          <a:xfrm>
            <a:off x="125191" y="988986"/>
            <a:ext cx="6071129" cy="933868"/>
          </a:xfrm>
          <a:prstGeom prst="rect">
            <a:avLst/>
          </a:prstGeom>
        </p:spPr>
        <p:txBody>
          <a:bodyPr>
            <a:noAutofit/>
          </a:bodyPr>
          <a:lstStyle>
            <a:lvl1pPr algn="ctr" rtl="0" fontAlgn="base">
              <a:spcBef>
                <a:spcPct val="0"/>
              </a:spcBef>
              <a:spcAft>
                <a:spcPct val="0"/>
              </a:spcAft>
              <a:defRPr sz="44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4800" b="1" spc="-300" dirty="0">
                <a:solidFill>
                  <a:srgbClr val="C00000"/>
                </a:solidFill>
                <a:latin typeface="Arial" panose="020B0604020202020204" pitchFamily="34" charset="0"/>
                <a:ea typeface="微软雅黑 Light" panose="020B0502040204020203" pitchFamily="34" charset="-122"/>
                <a:cs typeface="Arial" panose="020B0604020202020204" pitchFamily="34" charset="0"/>
              </a:rPr>
              <a:t>预期成果与关键创新点</a:t>
            </a:r>
          </a:p>
        </p:txBody>
      </p:sp>
      <p:sp>
        <p:nvSpPr>
          <p:cNvPr id="94" name="矩形 93">
            <a:extLst>
              <a:ext uri="{FF2B5EF4-FFF2-40B4-BE49-F238E27FC236}">
                <a16:creationId xmlns:a16="http://schemas.microsoft.com/office/drawing/2014/main" id="{F92D34E1-8A47-48B3-B8EB-5218E67441B3}"/>
              </a:ext>
            </a:extLst>
          </p:cNvPr>
          <p:cNvSpPr/>
          <p:nvPr/>
        </p:nvSpPr>
        <p:spPr>
          <a:xfrm>
            <a:off x="231161" y="1812568"/>
            <a:ext cx="5316720" cy="452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spc="600" dirty="0">
                <a:solidFill>
                  <a:schemeClr val="bg1">
                    <a:lumMod val="50000"/>
                  </a:schemeClr>
                </a:solidFill>
                <a:latin typeface="Arial" panose="020B0604020202020204" pitchFamily="34" charset="0"/>
                <a:ea typeface="微软雅黑 Light" panose="020B0502040204020203" pitchFamily="34" charset="-122"/>
                <a:cs typeface="Arial" panose="020B0604020202020204" pitchFamily="34" charset="0"/>
              </a:rPr>
              <a:t>Expected results and key innovation points</a:t>
            </a:r>
          </a:p>
        </p:txBody>
      </p:sp>
      <p:pic>
        <p:nvPicPr>
          <p:cNvPr id="37" name="Picture 2">
            <a:extLst>
              <a:ext uri="{FF2B5EF4-FFF2-40B4-BE49-F238E27FC236}">
                <a16:creationId xmlns:a16="http://schemas.microsoft.com/office/drawing/2014/main" id="{33B2CD83-5EEC-42F8-BB21-DEE617C2C07E}"/>
              </a:ext>
            </a:extLst>
          </p:cNvPr>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6895765" y="0"/>
            <a:ext cx="5311293" cy="68770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a:extLst>
              <a:ext uri="{FF2B5EF4-FFF2-40B4-BE49-F238E27FC236}">
                <a16:creationId xmlns:a16="http://schemas.microsoft.com/office/drawing/2014/main" id="{6BCC987F-4570-4DCF-BB13-BDC95CA78642}"/>
              </a:ext>
            </a:extLst>
          </p:cNvPr>
          <p:cNvSpPr>
            <a:spLocks noChangeArrowheads="1"/>
          </p:cNvSpPr>
          <p:nvPr/>
        </p:nvSpPr>
        <p:spPr bwMode="auto">
          <a:xfrm>
            <a:off x="231161" y="2265333"/>
            <a:ext cx="7704313"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eaLnBrk="1" fontAlgn="auto" hangingPunct="1">
              <a:spcBef>
                <a:spcPts val="0"/>
              </a:spcBef>
              <a:spcAft>
                <a:spcPts val="0"/>
              </a:spcAft>
              <a:buClrTx/>
              <a:buSzTx/>
              <a:tabLst/>
              <a:defRPr/>
            </a:pPr>
            <a:r>
              <a:rPr lang="zh-CN" altLang="zh-CN" sz="2400" b="1" dirty="0">
                <a:solidFill>
                  <a:srgbClr val="FF0000"/>
                </a:solidFill>
                <a:ea typeface="微软雅黑" panose="020B0503020204020204" pitchFamily="34" charset="-122"/>
              </a:rPr>
              <a:t>预期成果</a:t>
            </a:r>
          </a:p>
          <a:p>
            <a:pPr marR="0" lvl="0" eaLnBrk="1" fontAlgn="auto" hangingPunct="1">
              <a:spcBef>
                <a:spcPts val="0"/>
              </a:spcBef>
              <a:spcAft>
                <a:spcPts val="0"/>
              </a:spcAft>
              <a:buClrTx/>
              <a:buSzTx/>
              <a:tabLst/>
              <a:defRPr/>
            </a:pPr>
            <a:r>
              <a:rPr lang="en-US" altLang="zh-CN" sz="2000" b="1" dirty="0">
                <a:solidFill>
                  <a:schemeClr val="accent5">
                    <a:lumMod val="50000"/>
                  </a:schemeClr>
                </a:solidFill>
                <a:ea typeface="微软雅黑" panose="020B0503020204020204" pitchFamily="34" charset="-122"/>
              </a:rPr>
              <a:t>1</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自适应MPC纠偏控制器（含前馈+反馈复合），面向侧滑干扰。</a:t>
            </a:r>
          </a:p>
          <a:p>
            <a:pPr marR="0" lvl="0" eaLnBrk="1" fontAlgn="auto" hangingPunct="1">
              <a:spcBef>
                <a:spcPts val="0"/>
              </a:spcBef>
              <a:spcAft>
                <a:spcPts val="0"/>
              </a:spcAft>
              <a:buClrTx/>
              <a:buSzTx/>
              <a:tabLst/>
              <a:defRPr/>
            </a:pPr>
            <a:r>
              <a:rPr lang="en-US" altLang="zh-CN" sz="2000" b="1" dirty="0">
                <a:solidFill>
                  <a:schemeClr val="accent5">
                    <a:lumMod val="50000"/>
                  </a:schemeClr>
                </a:solidFill>
                <a:ea typeface="微软雅黑" panose="020B0503020204020204" pitchFamily="34" charset="-122"/>
              </a:rPr>
              <a:t>2</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侧滑角在线估计模块（SVR，基于易测信号）。</a:t>
            </a:r>
          </a:p>
          <a:p>
            <a:pPr marR="0" lvl="0" eaLnBrk="1" fontAlgn="auto" hangingPunct="1">
              <a:spcBef>
                <a:spcPts val="0"/>
              </a:spcBef>
              <a:spcAft>
                <a:spcPts val="0"/>
              </a:spcAft>
              <a:buClrTx/>
              <a:buSzTx/>
              <a:tabLst/>
              <a:defRPr/>
            </a:pPr>
            <a:r>
              <a:rPr lang="en-US" altLang="zh-CN" sz="2000" b="1" dirty="0">
                <a:solidFill>
                  <a:schemeClr val="accent5">
                    <a:lumMod val="50000"/>
                  </a:schemeClr>
                </a:solidFill>
                <a:ea typeface="微软雅黑" panose="020B0503020204020204" pitchFamily="34" charset="-122"/>
              </a:rPr>
              <a:t>3</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EDEM–RecurDyn–MATLAB 多物理场闭环联合仿真平台。</a:t>
            </a:r>
          </a:p>
          <a:p>
            <a:pPr marR="0" lvl="0" eaLnBrk="1" fontAlgn="auto" hangingPunct="1">
              <a:spcBef>
                <a:spcPts val="0"/>
              </a:spcBef>
              <a:spcAft>
                <a:spcPts val="0"/>
              </a:spcAft>
              <a:buClrTx/>
              <a:buSzTx/>
              <a:tabLst/>
              <a:defRPr/>
            </a:pPr>
            <a:r>
              <a:rPr lang="en-US" altLang="zh-CN" sz="2000" b="1" dirty="0">
                <a:solidFill>
                  <a:schemeClr val="accent5">
                    <a:lumMod val="50000"/>
                  </a:schemeClr>
                </a:solidFill>
                <a:ea typeface="微软雅黑" panose="020B0503020204020204" pitchFamily="34" charset="-122"/>
              </a:rPr>
              <a:t>4</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仿真工况下验证：路径跟踪更稳，对侧滑更鲁棒，实现从被动纠偏</a:t>
            </a:r>
            <a:r>
              <a:rPr lang="zh-CN" altLang="en-US" sz="2000" b="1" dirty="0">
                <a:solidFill>
                  <a:schemeClr val="accent5">
                    <a:lumMod val="50000"/>
                  </a:schemeClr>
                </a:solidFill>
                <a:ea typeface="微软雅黑" panose="020B0503020204020204" pitchFamily="34" charset="-122"/>
              </a:rPr>
              <a:t>到</a:t>
            </a:r>
            <a:r>
              <a:rPr lang="zh-CN" altLang="zh-CN" sz="2000" b="1" dirty="0">
                <a:solidFill>
                  <a:schemeClr val="accent5">
                    <a:lumMod val="50000"/>
                  </a:schemeClr>
                </a:solidFill>
                <a:ea typeface="微软雅黑" panose="020B0503020204020204" pitchFamily="34" charset="-122"/>
              </a:rPr>
              <a:t>主动抗扰的提升。</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01573443-9753-4929-BBFB-00D68521B872}"/>
              </a:ext>
            </a:extLst>
          </p:cNvPr>
          <p:cNvSpPr>
            <a:spLocks noChangeArrowheads="1"/>
          </p:cNvSpPr>
          <p:nvPr/>
        </p:nvSpPr>
        <p:spPr bwMode="auto">
          <a:xfrm>
            <a:off x="231161" y="4495963"/>
            <a:ext cx="7101968"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1" fontAlgn="auto" hangingPunct="1">
              <a:spcBef>
                <a:spcPts val="0"/>
              </a:spcBef>
              <a:spcAft>
                <a:spcPts val="0"/>
              </a:spcAft>
              <a:defRPr/>
            </a:pPr>
            <a:r>
              <a:rPr lang="zh-CN" altLang="zh-CN" sz="2400" b="1" dirty="0">
                <a:solidFill>
                  <a:srgbClr val="FF0000"/>
                </a:solidFill>
                <a:ea typeface="微软雅黑" panose="020B0503020204020204" pitchFamily="34" charset="-122"/>
              </a:rPr>
              <a:t>关键创新点</a:t>
            </a:r>
          </a:p>
          <a:p>
            <a:pPr eaLnBrk="1" fontAlgn="auto" hangingPunct="1">
              <a:spcBef>
                <a:spcPts val="0"/>
              </a:spcBef>
              <a:spcAft>
                <a:spcPts val="0"/>
              </a:spcAft>
              <a:defRPr/>
            </a:pPr>
            <a:r>
              <a:rPr lang="en-US" altLang="zh-CN" sz="2000" b="1" dirty="0">
                <a:solidFill>
                  <a:schemeClr val="accent5">
                    <a:lumMod val="50000"/>
                  </a:schemeClr>
                </a:solidFill>
                <a:ea typeface="微软雅黑" panose="020B0503020204020204" pitchFamily="34" charset="-122"/>
              </a:rPr>
              <a:t>1</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前馈-反馈复合</a:t>
            </a:r>
            <a:r>
              <a:rPr lang="en-US" altLang="zh-CN" sz="2000" b="1" dirty="0">
                <a:solidFill>
                  <a:schemeClr val="accent5">
                    <a:lumMod val="50000"/>
                  </a:schemeClr>
                </a:solidFill>
                <a:ea typeface="微软雅黑" panose="020B0503020204020204" pitchFamily="34" charset="-122"/>
              </a:rPr>
              <a:t>+</a:t>
            </a:r>
            <a:r>
              <a:rPr lang="zh-CN" altLang="en-US" sz="2000" b="1" dirty="0">
                <a:solidFill>
                  <a:schemeClr val="accent5">
                    <a:lumMod val="50000"/>
                  </a:schemeClr>
                </a:solidFill>
                <a:ea typeface="微软雅黑" panose="020B0503020204020204" pitchFamily="34" charset="-122"/>
              </a:rPr>
              <a:t>自适应</a:t>
            </a:r>
            <a:r>
              <a:rPr lang="en-US" altLang="zh-CN" sz="2000" b="1" dirty="0">
                <a:solidFill>
                  <a:schemeClr val="accent5">
                    <a:lumMod val="50000"/>
                  </a:schemeClr>
                </a:solidFill>
                <a:ea typeface="微软雅黑" panose="020B0503020204020204" pitchFamily="34" charset="-122"/>
              </a:rPr>
              <a:t>MPC</a:t>
            </a:r>
            <a:r>
              <a:rPr lang="zh-CN" altLang="en-US" sz="2000" b="1" dirty="0">
                <a:solidFill>
                  <a:schemeClr val="accent5">
                    <a:lumMod val="50000"/>
                  </a:schemeClr>
                </a:solidFill>
                <a:ea typeface="微软雅黑" panose="020B0503020204020204" pitchFamily="34" charset="-122"/>
              </a:rPr>
              <a:t>算法</a:t>
            </a:r>
            <a:endParaRPr lang="zh-CN" altLang="zh-CN" sz="2000" b="1" dirty="0">
              <a:solidFill>
                <a:schemeClr val="accent5">
                  <a:lumMod val="50000"/>
                </a:schemeClr>
              </a:solidFill>
              <a:ea typeface="微软雅黑" panose="020B0503020204020204" pitchFamily="34" charset="-122"/>
            </a:endParaRPr>
          </a:p>
          <a:p>
            <a:pPr eaLnBrk="1" fontAlgn="auto" hangingPunct="1">
              <a:spcBef>
                <a:spcPts val="0"/>
              </a:spcBef>
              <a:spcAft>
                <a:spcPts val="0"/>
              </a:spcAft>
              <a:defRPr/>
            </a:pPr>
            <a:r>
              <a:rPr lang="en-US" altLang="zh-CN" sz="2000" b="1" dirty="0">
                <a:solidFill>
                  <a:schemeClr val="accent5">
                    <a:lumMod val="50000"/>
                  </a:schemeClr>
                </a:solidFill>
                <a:ea typeface="微软雅黑" panose="020B0503020204020204" pitchFamily="34" charset="-122"/>
              </a:rPr>
              <a:t>2</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数据驱动估计替代复杂建模</a:t>
            </a:r>
          </a:p>
          <a:p>
            <a:pPr eaLnBrk="1" fontAlgn="auto" hangingPunct="1">
              <a:spcBef>
                <a:spcPts val="0"/>
              </a:spcBef>
              <a:spcAft>
                <a:spcPts val="0"/>
              </a:spcAft>
              <a:defRPr/>
            </a:pPr>
            <a:r>
              <a:rPr lang="en-US" altLang="zh-CN" sz="2000" b="1" dirty="0">
                <a:solidFill>
                  <a:schemeClr val="accent5">
                    <a:lumMod val="50000"/>
                  </a:schemeClr>
                </a:solidFill>
                <a:ea typeface="微软雅黑" panose="020B0503020204020204" pitchFamily="34" charset="-122"/>
              </a:rPr>
              <a:t>3</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多物理场闭环验证</a:t>
            </a:r>
          </a:p>
          <a:p>
            <a:pPr eaLnBrk="1" fontAlgn="auto" hangingPunct="1">
              <a:spcBef>
                <a:spcPts val="0"/>
              </a:spcBef>
              <a:spcAft>
                <a:spcPts val="0"/>
              </a:spcAft>
              <a:defRPr/>
            </a:pPr>
            <a:r>
              <a:rPr lang="en-US" altLang="zh-CN" sz="2000" b="1" dirty="0">
                <a:solidFill>
                  <a:schemeClr val="accent5">
                    <a:lumMod val="50000"/>
                  </a:schemeClr>
                </a:solidFill>
                <a:ea typeface="微软雅黑" panose="020B0503020204020204" pitchFamily="34" charset="-122"/>
              </a:rPr>
              <a:t>4</a:t>
            </a:r>
            <a:r>
              <a:rPr lang="zh-CN" altLang="en-US" sz="2000" b="1" dirty="0">
                <a:solidFill>
                  <a:schemeClr val="accent5">
                    <a:lumMod val="50000"/>
                  </a:schemeClr>
                </a:solidFill>
                <a:ea typeface="微软雅黑" panose="020B0503020204020204" pitchFamily="34" charset="-122"/>
              </a:rPr>
              <a:t>、</a:t>
            </a:r>
            <a:r>
              <a:rPr lang="zh-CN" altLang="zh-CN" sz="2000" b="1" dirty="0">
                <a:solidFill>
                  <a:schemeClr val="accent5">
                    <a:lumMod val="50000"/>
                  </a:schemeClr>
                </a:solidFill>
                <a:ea typeface="微软雅黑" panose="020B0503020204020204" pitchFamily="34" charset="-122"/>
              </a:rPr>
              <a:t>面向振动场景的侧滑补偿路径：针对动态侧滑难题提出整体方案</a:t>
            </a:r>
            <a:r>
              <a:rPr lang="zh-CN" altLang="en-US" sz="2000" b="1" dirty="0">
                <a:solidFill>
                  <a:schemeClr val="accent5">
                    <a:lumMod val="50000"/>
                  </a:schemeClr>
                </a:solidFill>
                <a:ea typeface="微软雅黑" panose="020B0503020204020204" pitchFamily="34" charset="-122"/>
              </a:rPr>
              <a:t>，实现在线调参</a:t>
            </a:r>
            <a:r>
              <a:rPr lang="zh-CN" altLang="zh-CN" sz="2000" b="1" dirty="0">
                <a:solidFill>
                  <a:schemeClr val="accent5">
                    <a:lumMod val="50000"/>
                  </a:schemeClr>
                </a:solidFill>
                <a:ea typeface="微软雅黑" panose="020B0503020204020204" pitchFamily="34" charset="-122"/>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文本框 8">
            <a:extLst>
              <a:ext uri="{FF2B5EF4-FFF2-40B4-BE49-F238E27FC236}">
                <a16:creationId xmlns:a16="http://schemas.microsoft.com/office/drawing/2014/main" id="{B03FB914-66DE-4BC9-A1B8-6B6FF1141B38}"/>
              </a:ext>
            </a:extLst>
          </p:cNvPr>
          <p:cNvSpPr txBox="1"/>
          <p:nvPr/>
        </p:nvSpPr>
        <p:spPr>
          <a:xfrm>
            <a:off x="0" y="6488668"/>
            <a:ext cx="633507" cy="369332"/>
          </a:xfrm>
          <a:prstGeom prst="rect">
            <a:avLst/>
          </a:prstGeom>
          <a:noFill/>
        </p:spPr>
        <p:txBody>
          <a:bodyPr wrap="none" rtlCol="0">
            <a:spAutoFit/>
          </a:bodyPr>
          <a:lstStyle/>
          <a:p>
            <a:r>
              <a:rPr lang="en-US" altLang="zh-CN" dirty="0"/>
              <a:t>7/10</a:t>
            </a:r>
            <a:endParaRPr lang="zh-CN" altLang="en-US" dirty="0"/>
          </a:p>
        </p:txBody>
      </p:sp>
    </p:spTree>
    <p:custDataLst>
      <p:tags r:id="rId1"/>
    </p:custDataLst>
    <p:extLst>
      <p:ext uri="{BB962C8B-B14F-4D97-AF65-F5344CB8AC3E}">
        <p14:creationId xmlns:p14="http://schemas.microsoft.com/office/powerpoint/2010/main" val="3159947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589" y="91260"/>
            <a:ext cx="2860809" cy="992964"/>
          </a:xfrm>
          <a:prstGeom prst="rect">
            <a:avLst/>
          </a:prstGeom>
        </p:spPr>
      </p:pic>
      <p:sp>
        <p:nvSpPr>
          <p:cNvPr id="93" name="标题 1">
            <a:extLst>
              <a:ext uri="{FF2B5EF4-FFF2-40B4-BE49-F238E27FC236}">
                <a16:creationId xmlns:a16="http://schemas.microsoft.com/office/drawing/2014/main" id="{D3326511-A930-4D57-B61D-ADDA2CAECF05}"/>
              </a:ext>
            </a:extLst>
          </p:cNvPr>
          <p:cNvSpPr txBox="1"/>
          <p:nvPr/>
        </p:nvSpPr>
        <p:spPr>
          <a:xfrm>
            <a:off x="195200" y="2962066"/>
            <a:ext cx="6071129" cy="933868"/>
          </a:xfrm>
          <a:prstGeom prst="rect">
            <a:avLst/>
          </a:prstGeom>
        </p:spPr>
        <p:txBody>
          <a:bodyPr>
            <a:noAutofit/>
          </a:bodyPr>
          <a:lstStyle>
            <a:lvl1pPr algn="ctr" rtl="0" fontAlgn="base">
              <a:spcBef>
                <a:spcPct val="0"/>
              </a:spcBef>
              <a:spcAft>
                <a:spcPct val="0"/>
              </a:spcAft>
              <a:defRPr sz="4400" kern="1200">
                <a:solidFill>
                  <a:schemeClr val="tx1"/>
                </a:solidFill>
                <a:latin typeface="+mj-lt"/>
                <a:ea typeface="微软雅黑" panose="020B0503020204020204" pitchFamily="34" charset="-122"/>
                <a:cs typeface="+mj-cs"/>
              </a:defRPr>
            </a:lvl1pPr>
            <a:lvl2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a:lstStyle>
          <a:p>
            <a:r>
              <a:rPr kumimoji="1" lang="zh-CN" altLang="en-US" sz="4800" b="1" spc="-300" dirty="0">
                <a:solidFill>
                  <a:srgbClr val="C00000"/>
                </a:solidFill>
                <a:latin typeface="Arial" panose="020B0604020202020204" pitchFamily="34" charset="0"/>
                <a:ea typeface="微软雅黑 Light" panose="020B0502040204020203" pitchFamily="34" charset="-122"/>
                <a:cs typeface="Arial" panose="020B0604020202020204" pitchFamily="34" charset="0"/>
              </a:rPr>
              <a:t>前期工作和进度安排</a:t>
            </a:r>
          </a:p>
        </p:txBody>
      </p:sp>
      <p:sp>
        <p:nvSpPr>
          <p:cNvPr id="94" name="矩形 93">
            <a:extLst>
              <a:ext uri="{FF2B5EF4-FFF2-40B4-BE49-F238E27FC236}">
                <a16:creationId xmlns:a16="http://schemas.microsoft.com/office/drawing/2014/main" id="{F92D34E1-8A47-48B3-B8EB-5218E67441B3}"/>
              </a:ext>
            </a:extLst>
          </p:cNvPr>
          <p:cNvSpPr/>
          <p:nvPr/>
        </p:nvSpPr>
        <p:spPr>
          <a:xfrm>
            <a:off x="301170" y="3785648"/>
            <a:ext cx="5316720" cy="4527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000" b="1" spc="600" dirty="0">
                <a:solidFill>
                  <a:schemeClr val="bg1">
                    <a:lumMod val="50000"/>
                  </a:schemeClr>
                </a:solidFill>
                <a:latin typeface="Arial" panose="020B0604020202020204" pitchFamily="34" charset="0"/>
                <a:ea typeface="微软雅黑 Light" panose="020B0502040204020203" pitchFamily="34" charset="-122"/>
                <a:cs typeface="Arial" panose="020B0604020202020204" pitchFamily="34" charset="0"/>
              </a:rPr>
              <a:t>Preliminary work and schedule arrangement</a:t>
            </a:r>
          </a:p>
        </p:txBody>
      </p:sp>
      <p:pic>
        <p:nvPicPr>
          <p:cNvPr id="37" name="Picture 2">
            <a:extLst>
              <a:ext uri="{FF2B5EF4-FFF2-40B4-BE49-F238E27FC236}">
                <a16:creationId xmlns:a16="http://schemas.microsoft.com/office/drawing/2014/main" id="{1A0EBCD1-1027-418A-9BF7-A871DE57B535}"/>
              </a:ext>
            </a:extLst>
          </p:cNvPr>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6895765" y="0"/>
            <a:ext cx="5311293" cy="68770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4A52B833-8FE1-408A-AA7A-981D320FFFAD}"/>
              </a:ext>
            </a:extLst>
          </p:cNvPr>
          <p:cNvSpPr txBox="1"/>
          <p:nvPr/>
        </p:nvSpPr>
        <p:spPr>
          <a:xfrm>
            <a:off x="0" y="6488668"/>
            <a:ext cx="633507" cy="369332"/>
          </a:xfrm>
          <a:prstGeom prst="rect">
            <a:avLst/>
          </a:prstGeom>
          <a:noFill/>
        </p:spPr>
        <p:txBody>
          <a:bodyPr wrap="none" rtlCol="0">
            <a:spAutoFit/>
          </a:bodyPr>
          <a:lstStyle/>
          <a:p>
            <a:r>
              <a:rPr lang="en-US" altLang="zh-CN" dirty="0"/>
              <a:t>8/10</a:t>
            </a:r>
            <a:endParaRPr lang="zh-CN" altLang="en-US" dirty="0"/>
          </a:p>
        </p:txBody>
      </p:sp>
    </p:spTree>
    <p:custDataLst>
      <p:tags r:id="rId1"/>
    </p:custDataLst>
    <p:extLst>
      <p:ext uri="{BB962C8B-B14F-4D97-AF65-F5344CB8AC3E}">
        <p14:creationId xmlns:p14="http://schemas.microsoft.com/office/powerpoint/2010/main" val="9121347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589" y="91260"/>
            <a:ext cx="2860809" cy="992964"/>
          </a:xfrm>
          <a:prstGeom prst="rect">
            <a:avLst/>
          </a:prstGeom>
        </p:spPr>
      </p:pic>
      <p:sp>
        <p:nvSpPr>
          <p:cNvPr id="39" name="Rectangle 2">
            <a:extLst>
              <a:ext uri="{FF2B5EF4-FFF2-40B4-BE49-F238E27FC236}">
                <a16:creationId xmlns:a16="http://schemas.microsoft.com/office/drawing/2014/main" id="{52ABF7C7-F676-415D-ABB6-FCC0E33E2A2E}"/>
              </a:ext>
            </a:extLst>
          </p:cNvPr>
          <p:cNvSpPr>
            <a:spLocks noChangeArrowheads="1"/>
          </p:cNvSpPr>
          <p:nvPr/>
        </p:nvSpPr>
        <p:spPr bwMode="auto">
          <a:xfrm>
            <a:off x="96589" y="1194914"/>
            <a:ext cx="22431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eaLnBrk="1" fontAlgn="auto" hangingPunct="1">
              <a:spcBef>
                <a:spcPts val="0"/>
              </a:spcBef>
              <a:spcAft>
                <a:spcPts val="0"/>
              </a:spcAft>
              <a:buClrTx/>
              <a:buSzTx/>
              <a:tabLst/>
              <a:defRPr/>
            </a:pPr>
            <a:r>
              <a:rPr lang="zh-CN" altLang="en-US" sz="2000" b="1" dirty="0">
                <a:solidFill>
                  <a:schemeClr val="accent5">
                    <a:lumMod val="50000"/>
                  </a:schemeClr>
                </a:solidFill>
                <a:ea typeface="微软雅黑" panose="020B0503020204020204" pitchFamily="34" charset="-122"/>
              </a:rPr>
              <a:t>建立了运动学模型</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40" name="图片 39" descr="屏幕截图 2025-09-27 174813">
            <a:extLst>
              <a:ext uri="{FF2B5EF4-FFF2-40B4-BE49-F238E27FC236}">
                <a16:creationId xmlns:a16="http://schemas.microsoft.com/office/drawing/2014/main" id="{44C48522-1A6A-4714-A228-E3C1F4F61684}"/>
              </a:ext>
            </a:extLst>
          </p:cNvPr>
          <p:cNvPicPr/>
          <p:nvPr/>
        </p:nvPicPr>
        <p:blipFill>
          <a:blip r:embed="rId5"/>
          <a:srcRect/>
          <a:stretch>
            <a:fillRect/>
          </a:stretch>
        </p:blipFill>
        <p:spPr>
          <a:xfrm>
            <a:off x="145149" y="1688704"/>
            <a:ext cx="2033275" cy="1807631"/>
          </a:xfrm>
          <a:prstGeom prst="rect">
            <a:avLst/>
          </a:prstGeom>
        </p:spPr>
      </p:pic>
      <p:sp>
        <p:nvSpPr>
          <p:cNvPr id="41" name="矩形: 圆角 40">
            <a:extLst>
              <a:ext uri="{FF2B5EF4-FFF2-40B4-BE49-F238E27FC236}">
                <a16:creationId xmlns:a16="http://schemas.microsoft.com/office/drawing/2014/main" id="{DF35768D-BD52-457D-8564-A4BAF91D9A19}"/>
              </a:ext>
            </a:extLst>
          </p:cNvPr>
          <p:cNvSpPr/>
          <p:nvPr/>
        </p:nvSpPr>
        <p:spPr>
          <a:xfrm>
            <a:off x="120333" y="1062074"/>
            <a:ext cx="4828185" cy="2434261"/>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sp>
        <p:nvSpPr>
          <p:cNvPr id="2" name="文本框 1">
            <a:extLst>
              <a:ext uri="{FF2B5EF4-FFF2-40B4-BE49-F238E27FC236}">
                <a16:creationId xmlns:a16="http://schemas.microsoft.com/office/drawing/2014/main" id="{2EF53978-4E79-45DF-BF86-74B027FFBFBC}"/>
              </a:ext>
            </a:extLst>
          </p:cNvPr>
          <p:cNvSpPr txBox="1"/>
          <p:nvPr/>
        </p:nvSpPr>
        <p:spPr>
          <a:xfrm>
            <a:off x="9494770" y="125930"/>
            <a:ext cx="2860809" cy="830997"/>
          </a:xfrm>
          <a:prstGeom prst="rect">
            <a:avLst/>
          </a:prstGeom>
          <a:noFill/>
        </p:spPr>
        <p:txBody>
          <a:bodyPr wrap="square" rtlCol="0">
            <a:spAutoFit/>
          </a:bodyPr>
          <a:lstStyle/>
          <a:p>
            <a:r>
              <a:rPr lang="zh-CN" altLang="en-US" sz="4800" b="1" dirty="0">
                <a:ea typeface="微软雅黑" panose="020B0503020204020204" pitchFamily="34" charset="-122"/>
              </a:rPr>
              <a:t>前期工作</a:t>
            </a:r>
            <a:endParaRPr lang="zh-CN" altLang="zh-CN" sz="4800" b="1" dirty="0">
              <a:ea typeface="微软雅黑" panose="020B0503020204020204" pitchFamily="34" charset="-122"/>
            </a:endParaRPr>
          </a:p>
        </p:txBody>
      </p:sp>
      <p:sp>
        <p:nvSpPr>
          <p:cNvPr id="4" name="箭头: 右 3">
            <a:extLst>
              <a:ext uri="{FF2B5EF4-FFF2-40B4-BE49-F238E27FC236}">
                <a16:creationId xmlns:a16="http://schemas.microsoft.com/office/drawing/2014/main" id="{13933766-193C-45B9-ADF5-2038FECE5D4A}"/>
              </a:ext>
            </a:extLst>
          </p:cNvPr>
          <p:cNvSpPr/>
          <p:nvPr/>
        </p:nvSpPr>
        <p:spPr>
          <a:xfrm>
            <a:off x="2307174" y="2275133"/>
            <a:ext cx="417067" cy="400110"/>
          </a:xfrm>
          <a:prstGeom prst="rightArrow">
            <a:avLst/>
          </a:prstGeom>
          <a:solidFill>
            <a:srgbClr val="00B0F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6" name="图片 5">
            <a:extLst>
              <a:ext uri="{FF2B5EF4-FFF2-40B4-BE49-F238E27FC236}">
                <a16:creationId xmlns:a16="http://schemas.microsoft.com/office/drawing/2014/main" id="{773BB816-43C3-4ACA-953C-FE526FB552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09384" y="1680584"/>
            <a:ext cx="2108247" cy="990412"/>
          </a:xfrm>
          <a:prstGeom prst="rect">
            <a:avLst/>
          </a:prstGeom>
        </p:spPr>
      </p:pic>
      <p:sp>
        <p:nvSpPr>
          <p:cNvPr id="7" name="矩形 6">
            <a:extLst>
              <a:ext uri="{FF2B5EF4-FFF2-40B4-BE49-F238E27FC236}">
                <a16:creationId xmlns:a16="http://schemas.microsoft.com/office/drawing/2014/main" id="{554FAD30-45D9-46E2-BB8F-22A46D427DA3}"/>
              </a:ext>
            </a:extLst>
          </p:cNvPr>
          <p:cNvSpPr/>
          <p:nvPr/>
        </p:nvSpPr>
        <p:spPr>
          <a:xfrm>
            <a:off x="2696571" y="2673670"/>
            <a:ext cx="2162098" cy="328541"/>
          </a:xfrm>
          <a:prstGeom prst="rect">
            <a:avLst/>
          </a:prstGeom>
          <a:solidFill>
            <a:srgbClr val="0070C0"/>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系统状态空间表达式</a:t>
            </a:r>
          </a:p>
        </p:txBody>
      </p:sp>
      <p:sp>
        <p:nvSpPr>
          <p:cNvPr id="83" name="文本框 82">
            <a:extLst>
              <a:ext uri="{FF2B5EF4-FFF2-40B4-BE49-F238E27FC236}">
                <a16:creationId xmlns:a16="http://schemas.microsoft.com/office/drawing/2014/main" id="{AB3DDFFA-AA90-4044-AF24-3526947F1909}"/>
              </a:ext>
            </a:extLst>
          </p:cNvPr>
          <p:cNvSpPr txBox="1"/>
          <p:nvPr/>
        </p:nvSpPr>
        <p:spPr>
          <a:xfrm>
            <a:off x="410931" y="3928926"/>
            <a:ext cx="3647152" cy="369332"/>
          </a:xfrm>
          <a:prstGeom prst="rect">
            <a:avLst/>
          </a:prstGeom>
          <a:noFill/>
        </p:spPr>
        <p:txBody>
          <a:bodyPr wrap="none" rtlCol="0">
            <a:spAutoFit/>
          </a:bodyPr>
          <a:lstStyle/>
          <a:p>
            <a:r>
              <a:rPr lang="zh-CN" altLang="en-US" b="1" dirty="0">
                <a:solidFill>
                  <a:schemeClr val="accent5">
                    <a:lumMod val="50000"/>
                  </a:schemeClr>
                </a:solidFill>
                <a:ea typeface="微软雅黑" panose="020B0503020204020204" pitchFamily="34" charset="-122"/>
              </a:rPr>
              <a:t>建立了多体动力学离散元耦合模型</a:t>
            </a:r>
            <a:endParaRPr lang="zh-CN" altLang="en-US" dirty="0"/>
          </a:p>
        </p:txBody>
      </p:sp>
      <p:sp>
        <p:nvSpPr>
          <p:cNvPr id="84" name="矩形: 圆角 83">
            <a:extLst>
              <a:ext uri="{FF2B5EF4-FFF2-40B4-BE49-F238E27FC236}">
                <a16:creationId xmlns:a16="http://schemas.microsoft.com/office/drawing/2014/main" id="{A8E2CCD9-9A48-4012-A0CC-E05F90A75894}"/>
              </a:ext>
            </a:extLst>
          </p:cNvPr>
          <p:cNvSpPr/>
          <p:nvPr/>
        </p:nvSpPr>
        <p:spPr>
          <a:xfrm>
            <a:off x="301421" y="3745109"/>
            <a:ext cx="4428565" cy="2759605"/>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pic>
        <p:nvPicPr>
          <p:cNvPr id="85" name="图片 84">
            <a:extLst>
              <a:ext uri="{FF2B5EF4-FFF2-40B4-BE49-F238E27FC236}">
                <a16:creationId xmlns:a16="http://schemas.microsoft.com/office/drawing/2014/main" id="{1808C0FA-4292-4CF5-9B6C-9FE9E0EDF4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79791" y="1147710"/>
            <a:ext cx="3082145" cy="1663718"/>
          </a:xfrm>
          <a:prstGeom prst="rect">
            <a:avLst/>
          </a:prstGeom>
        </p:spPr>
      </p:pic>
      <p:pic>
        <p:nvPicPr>
          <p:cNvPr id="14" name="图片 13">
            <a:extLst>
              <a:ext uri="{FF2B5EF4-FFF2-40B4-BE49-F238E27FC236}">
                <a16:creationId xmlns:a16="http://schemas.microsoft.com/office/drawing/2014/main" id="{A18C1F30-3A7A-486B-BA1E-2FB3E916211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42083" y="989630"/>
            <a:ext cx="2421430" cy="1879593"/>
          </a:xfrm>
          <a:prstGeom prst="rect">
            <a:avLst/>
          </a:prstGeom>
        </p:spPr>
      </p:pic>
      <p:pic>
        <p:nvPicPr>
          <p:cNvPr id="88" name="图片 87">
            <a:extLst>
              <a:ext uri="{FF2B5EF4-FFF2-40B4-BE49-F238E27FC236}">
                <a16:creationId xmlns:a16="http://schemas.microsoft.com/office/drawing/2014/main" id="{EEE6A9E2-49E7-4CDE-8E72-AE4844ABC6D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6200000">
            <a:off x="8017381" y="2028860"/>
            <a:ext cx="1935165" cy="4204984"/>
          </a:xfrm>
          <a:prstGeom prst="rect">
            <a:avLst/>
          </a:prstGeom>
        </p:spPr>
      </p:pic>
      <p:sp>
        <p:nvSpPr>
          <p:cNvPr id="89" name="矩形: 圆角 88">
            <a:extLst>
              <a:ext uri="{FF2B5EF4-FFF2-40B4-BE49-F238E27FC236}">
                <a16:creationId xmlns:a16="http://schemas.microsoft.com/office/drawing/2014/main" id="{A3DC46F1-D8AD-4477-A1FA-BAFCD53138B7}"/>
              </a:ext>
            </a:extLst>
          </p:cNvPr>
          <p:cNvSpPr/>
          <p:nvPr/>
        </p:nvSpPr>
        <p:spPr>
          <a:xfrm>
            <a:off x="5899644" y="956927"/>
            <a:ext cx="5781368" cy="2045284"/>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pic>
        <p:nvPicPr>
          <p:cNvPr id="90" name="图片 89">
            <a:extLst>
              <a:ext uri="{FF2B5EF4-FFF2-40B4-BE49-F238E27FC236}">
                <a16:creationId xmlns:a16="http://schemas.microsoft.com/office/drawing/2014/main" id="{7174FD16-BE3B-48D0-830C-5F50132196E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10931" y="4397601"/>
            <a:ext cx="3890440" cy="2107113"/>
          </a:xfrm>
          <a:prstGeom prst="rect">
            <a:avLst/>
          </a:prstGeom>
        </p:spPr>
      </p:pic>
      <p:pic>
        <p:nvPicPr>
          <p:cNvPr id="16" name="图片 15">
            <a:extLst>
              <a:ext uri="{FF2B5EF4-FFF2-40B4-BE49-F238E27FC236}">
                <a16:creationId xmlns:a16="http://schemas.microsoft.com/office/drawing/2014/main" id="{2A80B583-69EF-41F1-8FC0-084B44739F2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82471" y="5098935"/>
            <a:ext cx="4204983" cy="1633135"/>
          </a:xfrm>
          <a:prstGeom prst="rect">
            <a:avLst/>
          </a:prstGeom>
        </p:spPr>
      </p:pic>
      <p:sp>
        <p:nvSpPr>
          <p:cNvPr id="92" name="矩形: 圆角 91">
            <a:extLst>
              <a:ext uri="{FF2B5EF4-FFF2-40B4-BE49-F238E27FC236}">
                <a16:creationId xmlns:a16="http://schemas.microsoft.com/office/drawing/2014/main" id="{46BB1F5E-1DFE-4645-8EDE-B82904A00C88}"/>
              </a:ext>
            </a:extLst>
          </p:cNvPr>
          <p:cNvSpPr/>
          <p:nvPr/>
        </p:nvSpPr>
        <p:spPr>
          <a:xfrm>
            <a:off x="6813176" y="3129509"/>
            <a:ext cx="4428565" cy="3637232"/>
          </a:xfrm>
          <a:prstGeom prst="roundRect">
            <a:avLst>
              <a:gd name="adj" fmla="val 1829"/>
            </a:avLst>
          </a:prstGeom>
          <a:noFill/>
          <a:ln w="19050" cap="flat" cmpd="sng" algn="ctr">
            <a:solidFill>
              <a:schemeClr val="tx1"/>
            </a:solidFill>
            <a:prstDash val="lgDash"/>
            <a:round/>
            <a:headEnd type="none" w="med" len="med"/>
            <a:tailEnd type="none" w="med" len="med"/>
          </a:ln>
        </p:spPr>
        <p:txBody>
          <a:bodyPr vert="horz" wrap="square" lIns="91440" tIns="45720" rIns="91440" bIns="45720" numCol="1" rtlCol="0" anchor="t" anchorCtr="0" compatLnSpc="1"/>
          <a:lstStyle/>
          <a:p>
            <a:pPr eaLnBrk="1" hangingPunct="1"/>
            <a:endParaRPr lang="zh-CN" altLang="en-US"/>
          </a:p>
        </p:txBody>
      </p:sp>
      <p:cxnSp>
        <p:nvCxnSpPr>
          <p:cNvPr id="18" name="连接符: 肘形 17">
            <a:extLst>
              <a:ext uri="{FF2B5EF4-FFF2-40B4-BE49-F238E27FC236}">
                <a16:creationId xmlns:a16="http://schemas.microsoft.com/office/drawing/2014/main" id="{0CF0A067-252E-4D2B-81FB-2FFDCDC113AC}"/>
              </a:ext>
            </a:extLst>
          </p:cNvPr>
          <p:cNvCxnSpPr>
            <a:cxnSpLocks/>
            <a:endCxn id="84" idx="0"/>
          </p:cNvCxnSpPr>
          <p:nvPr/>
        </p:nvCxnSpPr>
        <p:spPr bwMode="auto">
          <a:xfrm rot="5400000">
            <a:off x="2391319" y="3620720"/>
            <a:ext cx="248774" cy="4"/>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p:spPr>
      </p:cxnSp>
      <p:cxnSp>
        <p:nvCxnSpPr>
          <p:cNvPr id="33" name="连接符: 肘形 32">
            <a:extLst>
              <a:ext uri="{FF2B5EF4-FFF2-40B4-BE49-F238E27FC236}">
                <a16:creationId xmlns:a16="http://schemas.microsoft.com/office/drawing/2014/main" id="{A906601F-0F18-4821-B8E9-AE57FD62C29A}"/>
              </a:ext>
            </a:extLst>
          </p:cNvPr>
          <p:cNvCxnSpPr>
            <a:stCxn id="84" idx="3"/>
            <a:endCxn id="89" idx="1"/>
          </p:cNvCxnSpPr>
          <p:nvPr/>
        </p:nvCxnSpPr>
        <p:spPr bwMode="auto">
          <a:xfrm flipV="1">
            <a:off x="4729986" y="1979569"/>
            <a:ext cx="1169658" cy="3145343"/>
          </a:xfrm>
          <a:prstGeom prst="bentConnector3">
            <a:avLst>
              <a:gd name="adj1" fmla="val 50000"/>
            </a:avLst>
          </a:prstGeom>
          <a:solidFill>
            <a:schemeClr val="accent1"/>
          </a:solidFill>
          <a:ln w="9525" cap="flat" cmpd="sng" algn="ctr">
            <a:solidFill>
              <a:schemeClr val="tx1"/>
            </a:solidFill>
            <a:prstDash val="solid"/>
            <a:round/>
            <a:headEnd type="none" w="med" len="med"/>
            <a:tailEnd type="triangle"/>
          </a:ln>
        </p:spPr>
      </p:cxnSp>
      <p:cxnSp>
        <p:nvCxnSpPr>
          <p:cNvPr id="35" name="连接符: 肘形 34">
            <a:extLst>
              <a:ext uri="{FF2B5EF4-FFF2-40B4-BE49-F238E27FC236}">
                <a16:creationId xmlns:a16="http://schemas.microsoft.com/office/drawing/2014/main" id="{1C195E78-DDA0-4119-AC75-FDE097983B3B}"/>
              </a:ext>
            </a:extLst>
          </p:cNvPr>
          <p:cNvCxnSpPr>
            <a:stCxn id="84" idx="3"/>
            <a:endCxn id="92" idx="1"/>
          </p:cNvCxnSpPr>
          <p:nvPr/>
        </p:nvCxnSpPr>
        <p:spPr bwMode="auto">
          <a:xfrm flipV="1">
            <a:off x="4729986" y="4948125"/>
            <a:ext cx="2083190" cy="176787"/>
          </a:xfrm>
          <a:prstGeom prst="bentConnector3">
            <a:avLst/>
          </a:prstGeom>
          <a:solidFill>
            <a:schemeClr val="accent1"/>
          </a:solidFill>
          <a:ln w="9525" cap="flat" cmpd="sng" algn="ctr">
            <a:solidFill>
              <a:schemeClr val="tx1"/>
            </a:solidFill>
            <a:prstDash val="solid"/>
            <a:round/>
            <a:headEnd type="none" w="med" len="med"/>
            <a:tailEnd type="triangle"/>
          </a:ln>
        </p:spPr>
      </p:cxnSp>
      <p:sp>
        <p:nvSpPr>
          <p:cNvPr id="36" name="文本框 35">
            <a:extLst>
              <a:ext uri="{FF2B5EF4-FFF2-40B4-BE49-F238E27FC236}">
                <a16:creationId xmlns:a16="http://schemas.microsoft.com/office/drawing/2014/main" id="{D72C2392-912E-435A-AAC8-FB2589109CA0}"/>
              </a:ext>
            </a:extLst>
          </p:cNvPr>
          <p:cNvSpPr txBox="1"/>
          <p:nvPr/>
        </p:nvSpPr>
        <p:spPr>
          <a:xfrm>
            <a:off x="5065647" y="1550357"/>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走圆弧</a:t>
            </a:r>
          </a:p>
        </p:txBody>
      </p:sp>
      <p:sp>
        <p:nvSpPr>
          <p:cNvPr id="95" name="文本框 94">
            <a:extLst>
              <a:ext uri="{FF2B5EF4-FFF2-40B4-BE49-F238E27FC236}">
                <a16:creationId xmlns:a16="http://schemas.microsoft.com/office/drawing/2014/main" id="{4848C50C-B388-4FFA-B63C-7E24D3D35CD8}"/>
              </a:ext>
            </a:extLst>
          </p:cNvPr>
          <p:cNvSpPr txBox="1"/>
          <p:nvPr/>
        </p:nvSpPr>
        <p:spPr>
          <a:xfrm>
            <a:off x="5776907" y="4515211"/>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走直线</a:t>
            </a:r>
          </a:p>
        </p:txBody>
      </p:sp>
      <p:sp>
        <p:nvSpPr>
          <p:cNvPr id="96" name="文本框 95">
            <a:extLst>
              <a:ext uri="{FF2B5EF4-FFF2-40B4-BE49-F238E27FC236}">
                <a16:creationId xmlns:a16="http://schemas.microsoft.com/office/drawing/2014/main" id="{6C16CDF5-C370-4E5A-8B51-B136FAB91C31}"/>
              </a:ext>
            </a:extLst>
          </p:cNvPr>
          <p:cNvSpPr txBox="1"/>
          <p:nvPr/>
        </p:nvSpPr>
        <p:spPr>
          <a:xfrm>
            <a:off x="4740532" y="5405372"/>
            <a:ext cx="155542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简单仿真结果</a:t>
            </a:r>
          </a:p>
        </p:txBody>
      </p:sp>
      <p:sp>
        <p:nvSpPr>
          <p:cNvPr id="26" name="文本框 25">
            <a:extLst>
              <a:ext uri="{FF2B5EF4-FFF2-40B4-BE49-F238E27FC236}">
                <a16:creationId xmlns:a16="http://schemas.microsoft.com/office/drawing/2014/main" id="{0C215C43-9803-4899-9348-39EA389EE9A7}"/>
              </a:ext>
            </a:extLst>
          </p:cNvPr>
          <p:cNvSpPr txBox="1"/>
          <p:nvPr/>
        </p:nvSpPr>
        <p:spPr>
          <a:xfrm>
            <a:off x="0" y="6488668"/>
            <a:ext cx="633507" cy="369332"/>
          </a:xfrm>
          <a:prstGeom prst="rect">
            <a:avLst/>
          </a:prstGeom>
          <a:noFill/>
        </p:spPr>
        <p:txBody>
          <a:bodyPr wrap="none" rtlCol="0">
            <a:spAutoFit/>
          </a:bodyPr>
          <a:lstStyle/>
          <a:p>
            <a:r>
              <a:rPr lang="en-US" altLang="zh-CN" dirty="0"/>
              <a:t>9/10</a:t>
            </a:r>
            <a:endParaRPr lang="zh-CN" altLang="en-US" dirty="0"/>
          </a:p>
        </p:txBody>
      </p:sp>
    </p:spTree>
    <p:custDataLst>
      <p:tags r:id="rId1"/>
    </p:custDataLst>
    <p:extLst>
      <p:ext uri="{BB962C8B-B14F-4D97-AF65-F5344CB8AC3E}">
        <p14:creationId xmlns:p14="http://schemas.microsoft.com/office/powerpoint/2010/main" val="1116352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pic>
        <p:nvPicPr>
          <p:cNvPr id="91" name="图片 90">
            <a:extLst>
              <a:ext uri="{FF2B5EF4-FFF2-40B4-BE49-F238E27FC236}">
                <a16:creationId xmlns:a16="http://schemas.microsoft.com/office/drawing/2014/main" id="{BD3F7117-281A-4FDE-8C39-6BD0871159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149" y="141467"/>
            <a:ext cx="2860809" cy="992964"/>
          </a:xfrm>
          <a:prstGeom prst="rect">
            <a:avLst/>
          </a:prstGeom>
        </p:spPr>
      </p:pic>
      <p:sp>
        <p:nvSpPr>
          <p:cNvPr id="2" name="文本框 1">
            <a:extLst>
              <a:ext uri="{FF2B5EF4-FFF2-40B4-BE49-F238E27FC236}">
                <a16:creationId xmlns:a16="http://schemas.microsoft.com/office/drawing/2014/main" id="{2EF53978-4E79-45DF-BF86-74B027FFBFBC}"/>
              </a:ext>
            </a:extLst>
          </p:cNvPr>
          <p:cNvSpPr txBox="1"/>
          <p:nvPr/>
        </p:nvSpPr>
        <p:spPr>
          <a:xfrm>
            <a:off x="9494770" y="125930"/>
            <a:ext cx="2860809" cy="830997"/>
          </a:xfrm>
          <a:prstGeom prst="rect">
            <a:avLst/>
          </a:prstGeom>
          <a:noFill/>
        </p:spPr>
        <p:txBody>
          <a:bodyPr wrap="square" rtlCol="0">
            <a:spAutoFit/>
          </a:bodyPr>
          <a:lstStyle/>
          <a:p>
            <a:r>
              <a:rPr lang="zh-CN" altLang="en-US" sz="4800" b="1" dirty="0">
                <a:ea typeface="微软雅黑" panose="020B0503020204020204" pitchFamily="34" charset="-122"/>
              </a:rPr>
              <a:t>进度安排</a:t>
            </a:r>
            <a:endParaRPr lang="zh-CN" altLang="zh-CN" sz="4800" b="1" dirty="0">
              <a:ea typeface="微软雅黑" panose="020B0503020204020204" pitchFamily="34" charset="-122"/>
            </a:endParaRPr>
          </a:p>
        </p:txBody>
      </p:sp>
      <p:graphicFrame>
        <p:nvGraphicFramePr>
          <p:cNvPr id="5" name="表格 4">
            <a:extLst>
              <a:ext uri="{FF2B5EF4-FFF2-40B4-BE49-F238E27FC236}">
                <a16:creationId xmlns:a16="http://schemas.microsoft.com/office/drawing/2014/main" id="{75855A22-CC9C-4044-9506-D94D6304D3A3}"/>
              </a:ext>
            </a:extLst>
          </p:cNvPr>
          <p:cNvGraphicFramePr>
            <a:graphicFrameLocks noGrp="1"/>
          </p:cNvGraphicFramePr>
          <p:nvPr>
            <p:extLst>
              <p:ext uri="{D42A27DB-BD31-4B8C-83A1-F6EECF244321}">
                <p14:modId xmlns:p14="http://schemas.microsoft.com/office/powerpoint/2010/main" val="2259128478"/>
              </p:ext>
            </p:extLst>
          </p:nvPr>
        </p:nvGraphicFramePr>
        <p:xfrm>
          <a:off x="537881" y="1373018"/>
          <a:ext cx="10954871" cy="5035772"/>
        </p:xfrm>
        <a:graphic>
          <a:graphicData uri="http://schemas.openxmlformats.org/drawingml/2006/table">
            <a:tbl>
              <a:tblPr firstRow="1" bandRow="1">
                <a:tableStyleId>{5C22544A-7EE6-4342-B048-85BDC9FD1C3A}</a:tableStyleId>
              </a:tblPr>
              <a:tblGrid>
                <a:gridCol w="1954307">
                  <a:extLst>
                    <a:ext uri="{9D8B030D-6E8A-4147-A177-3AD203B41FA5}">
                      <a16:colId xmlns:a16="http://schemas.microsoft.com/office/drawing/2014/main" val="1220214526"/>
                    </a:ext>
                  </a:extLst>
                </a:gridCol>
                <a:gridCol w="1577788">
                  <a:extLst>
                    <a:ext uri="{9D8B030D-6E8A-4147-A177-3AD203B41FA5}">
                      <a16:colId xmlns:a16="http://schemas.microsoft.com/office/drawing/2014/main" val="1806574687"/>
                    </a:ext>
                  </a:extLst>
                </a:gridCol>
                <a:gridCol w="4303059">
                  <a:extLst>
                    <a:ext uri="{9D8B030D-6E8A-4147-A177-3AD203B41FA5}">
                      <a16:colId xmlns:a16="http://schemas.microsoft.com/office/drawing/2014/main" val="2100261125"/>
                    </a:ext>
                  </a:extLst>
                </a:gridCol>
                <a:gridCol w="3119717">
                  <a:extLst>
                    <a:ext uri="{9D8B030D-6E8A-4147-A177-3AD203B41FA5}">
                      <a16:colId xmlns:a16="http://schemas.microsoft.com/office/drawing/2014/main" val="2130092162"/>
                    </a:ext>
                  </a:extLst>
                </a:gridCol>
              </a:tblGrid>
              <a:tr h="348341">
                <a:tc>
                  <a:txBody>
                    <a:bodyPr/>
                    <a:lstStyle/>
                    <a:p>
                      <a:pPr marL="0" indent="0" algn="ctr" defTabSz="914400" rtl="0" eaLnBrk="1" fontAlgn="ctr" latinLnBrk="0" hangingPunct="1">
                        <a:lnSpc>
                          <a:spcPct val="100000"/>
                        </a:lnSpc>
                        <a:spcAft>
                          <a:spcPts val="0"/>
                        </a:spcAft>
                      </a:pPr>
                      <a:r>
                        <a:rPr lang="zh-CN" altLang="en-US" sz="1200" b="1" kern="0" dirty="0">
                          <a:solidFill>
                            <a:schemeClr val="lt1"/>
                          </a:solidFill>
                          <a:effectLst/>
                          <a:latin typeface="+mn-lt"/>
                          <a:ea typeface="+mn-ea"/>
                          <a:cs typeface="+mn-cs"/>
                        </a:rPr>
                        <a:t>阶段</a:t>
                      </a:r>
                    </a:p>
                  </a:txBody>
                  <a:tcPr marL="114300" marR="7620" marT="7620" marB="0" anchor="ctr"/>
                </a:tc>
                <a:tc>
                  <a:txBody>
                    <a:bodyPr/>
                    <a:lstStyle/>
                    <a:p>
                      <a:pPr marL="0" indent="0" algn="ctr" defTabSz="914400" rtl="0" eaLnBrk="1" fontAlgn="ctr" latinLnBrk="0" hangingPunct="1">
                        <a:lnSpc>
                          <a:spcPct val="100000"/>
                        </a:lnSpc>
                        <a:spcAft>
                          <a:spcPts val="0"/>
                        </a:spcAft>
                      </a:pPr>
                      <a:r>
                        <a:rPr lang="zh-CN" altLang="en-US" sz="1200" b="1" kern="0" dirty="0">
                          <a:solidFill>
                            <a:schemeClr val="lt1"/>
                          </a:solidFill>
                          <a:effectLst/>
                          <a:latin typeface="+mn-lt"/>
                          <a:ea typeface="+mn-ea"/>
                          <a:cs typeface="+mn-cs"/>
                        </a:rPr>
                        <a:t>时间</a:t>
                      </a:r>
                    </a:p>
                  </a:txBody>
                  <a:tcPr marL="114300" marR="7620" marT="7620" marB="0" anchor="ctr"/>
                </a:tc>
                <a:tc>
                  <a:txBody>
                    <a:bodyPr/>
                    <a:lstStyle/>
                    <a:p>
                      <a:pPr marL="0" indent="0" algn="ctr" defTabSz="914400" rtl="0" eaLnBrk="1" fontAlgn="ctr" latinLnBrk="0" hangingPunct="1">
                        <a:lnSpc>
                          <a:spcPct val="100000"/>
                        </a:lnSpc>
                        <a:spcAft>
                          <a:spcPts val="0"/>
                        </a:spcAft>
                      </a:pPr>
                      <a:r>
                        <a:rPr lang="zh-CN" altLang="en-US" sz="1200" b="1" kern="0">
                          <a:solidFill>
                            <a:schemeClr val="lt1"/>
                          </a:solidFill>
                          <a:effectLst/>
                          <a:latin typeface="+mn-lt"/>
                          <a:ea typeface="+mn-ea"/>
                          <a:cs typeface="+mn-cs"/>
                        </a:rPr>
                        <a:t>主要工作内容</a:t>
                      </a:r>
                    </a:p>
                  </a:txBody>
                  <a:tcPr marL="114300" marR="7620" marT="7620" marB="0" anchor="ctr"/>
                </a:tc>
                <a:tc>
                  <a:txBody>
                    <a:bodyPr/>
                    <a:lstStyle/>
                    <a:p>
                      <a:pPr marL="0" indent="0" algn="ctr" defTabSz="914400" rtl="0" eaLnBrk="1" fontAlgn="ctr" latinLnBrk="0" hangingPunct="1">
                        <a:lnSpc>
                          <a:spcPct val="100000"/>
                        </a:lnSpc>
                        <a:spcAft>
                          <a:spcPts val="0"/>
                        </a:spcAft>
                      </a:pPr>
                      <a:r>
                        <a:rPr lang="zh-CN" altLang="en-US" sz="1200" b="1" kern="0" dirty="0">
                          <a:solidFill>
                            <a:schemeClr val="lt1"/>
                          </a:solidFill>
                          <a:effectLst/>
                          <a:latin typeface="+mn-lt"/>
                          <a:ea typeface="+mn-ea"/>
                          <a:cs typeface="+mn-cs"/>
                        </a:rPr>
                        <a:t>计划目标与交付成果</a:t>
                      </a:r>
                    </a:p>
                  </a:txBody>
                  <a:tcPr marL="114300" marR="7620" marT="7620" marB="0" anchor="ctr"/>
                </a:tc>
                <a:extLst>
                  <a:ext uri="{0D108BD9-81ED-4DB2-BD59-A6C34878D82A}">
                    <a16:rowId xmlns:a16="http://schemas.microsoft.com/office/drawing/2014/main" val="1008136113"/>
                  </a:ext>
                </a:extLst>
              </a:tr>
              <a:tr h="348341">
                <a:tc rowSpan="3">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一、开题与理论准备</a:t>
                      </a:r>
                    </a:p>
                  </a:txBody>
                  <a:tcPr marL="114300" marR="7620" marT="7620" marB="0" anchor="ctr"/>
                </a:tc>
                <a:tc rowSpan="3">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2025</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9</a:t>
                      </a:r>
                      <a:r>
                        <a:rPr lang="zh-CN" altLang="en-US" sz="1200" kern="0" dirty="0">
                          <a:solidFill>
                            <a:schemeClr val="dk1"/>
                          </a:solidFill>
                          <a:effectLst/>
                          <a:latin typeface="+mn-lt"/>
                          <a:ea typeface="+mn-ea"/>
                          <a:cs typeface="+mn-cs"/>
                        </a:rPr>
                        <a:t>月 </a:t>
                      </a:r>
                      <a:r>
                        <a:rPr lang="en-US" altLang="zh-CN" sz="1200" kern="0" dirty="0">
                          <a:solidFill>
                            <a:schemeClr val="dk1"/>
                          </a:solidFill>
                          <a:effectLst/>
                          <a:latin typeface="+mn-lt"/>
                          <a:ea typeface="+mn-ea"/>
                          <a:cs typeface="+mn-cs"/>
                        </a:rPr>
                        <a:t>- 10</a:t>
                      </a:r>
                      <a:r>
                        <a:rPr lang="zh-CN" altLang="en-US" sz="1200" kern="0" dirty="0">
                          <a:solidFill>
                            <a:schemeClr val="dk1"/>
                          </a:solidFill>
                          <a:effectLst/>
                          <a:latin typeface="+mn-lt"/>
                          <a:ea typeface="+mn-ea"/>
                          <a:cs typeface="+mn-cs"/>
                        </a:rPr>
                        <a:t>月</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深入文献研究，明确技术路线，完整开题报告。</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完成并提交开题报告。</a:t>
                      </a:r>
                    </a:p>
                  </a:txBody>
                  <a:tcPr marL="114300" marR="7620" marT="7620" marB="0" anchor="ctr"/>
                </a:tc>
                <a:extLst>
                  <a:ext uri="{0D108BD9-81ED-4DB2-BD59-A6C34878D82A}">
                    <a16:rowId xmlns:a16="http://schemas.microsoft.com/office/drawing/2014/main" val="2343707182"/>
                  </a:ext>
                </a:extLst>
              </a:tr>
              <a:tr h="348341">
                <a:tc vMerge="1">
                  <a:txBody>
                    <a:bodyPr/>
                    <a:lstStyle/>
                    <a:p>
                      <a:endParaRPr lang="zh-CN" altLang="en-US"/>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建立考虑侧滑效应的振动压路机运动学模型。</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a:t>
                      </a:r>
                      <a:r>
                        <a:rPr lang="zh-CN" altLang="en-US" sz="1200" kern="0" dirty="0">
                          <a:solidFill>
                            <a:schemeClr val="dk1"/>
                          </a:solidFill>
                          <a:effectLst/>
                          <a:latin typeface="+mn-lt"/>
                          <a:ea typeface="+mn-ea"/>
                          <a:cs typeface="+mn-cs"/>
                        </a:rPr>
                        <a:t>建立考虑侧滑角的运动学模型</a:t>
                      </a:r>
                    </a:p>
                  </a:txBody>
                  <a:tcPr marL="114300" marR="7620" marT="7620" marB="0" anchor="ctr"/>
                </a:tc>
                <a:extLst>
                  <a:ext uri="{0D108BD9-81ED-4DB2-BD59-A6C34878D82A}">
                    <a16:rowId xmlns:a16="http://schemas.microsoft.com/office/drawing/2014/main" val="2649061119"/>
                  </a:ext>
                </a:extLst>
              </a:tr>
              <a:tr h="348341">
                <a:tc vMerge="1">
                  <a:txBody>
                    <a:bodyPr/>
                    <a:lstStyle/>
                    <a:p>
                      <a:endParaRPr lang="zh-CN" altLang="en-US"/>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3. </a:t>
                      </a:r>
                      <a:r>
                        <a:rPr lang="zh-CN" altLang="en-US" sz="1200" kern="0" dirty="0">
                          <a:solidFill>
                            <a:schemeClr val="dk1"/>
                          </a:solidFill>
                          <a:effectLst/>
                          <a:latin typeface="+mn-lt"/>
                          <a:ea typeface="+mn-ea"/>
                          <a:cs typeface="+mn-cs"/>
                        </a:rPr>
                        <a:t>在</a:t>
                      </a:r>
                      <a:r>
                        <a:rPr lang="en-US" sz="1200" kern="0" dirty="0">
                          <a:solidFill>
                            <a:schemeClr val="dk1"/>
                          </a:solidFill>
                          <a:effectLst/>
                          <a:latin typeface="+mn-lt"/>
                          <a:ea typeface="+mn-ea"/>
                          <a:cs typeface="+mn-cs"/>
                        </a:rPr>
                        <a:t>MATLAB/Simulink</a:t>
                      </a:r>
                      <a:r>
                        <a:rPr lang="zh-CN" altLang="en-US" sz="1200" kern="0" dirty="0">
                          <a:solidFill>
                            <a:schemeClr val="dk1"/>
                          </a:solidFill>
                          <a:effectLst/>
                          <a:latin typeface="+mn-lt"/>
                          <a:ea typeface="+mn-ea"/>
                          <a:cs typeface="+mn-cs"/>
                        </a:rPr>
                        <a:t>中实现该模型。</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3. </a:t>
                      </a:r>
                      <a:r>
                        <a:rPr lang="zh-CN" altLang="en-US" sz="1200" kern="0" dirty="0">
                          <a:solidFill>
                            <a:schemeClr val="dk1"/>
                          </a:solidFill>
                          <a:effectLst/>
                          <a:latin typeface="+mn-lt"/>
                          <a:ea typeface="+mn-ea"/>
                          <a:cs typeface="+mn-cs"/>
                        </a:rPr>
                        <a:t>完成模型的初步仿真验证。</a:t>
                      </a:r>
                    </a:p>
                  </a:txBody>
                  <a:tcPr marL="114300" marR="7620" marT="7620" marB="0" anchor="ctr"/>
                </a:tc>
                <a:extLst>
                  <a:ext uri="{0D108BD9-81ED-4DB2-BD59-A6C34878D82A}">
                    <a16:rowId xmlns:a16="http://schemas.microsoft.com/office/drawing/2014/main" val="294951847"/>
                  </a:ext>
                </a:extLst>
              </a:tr>
              <a:tr h="348341">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二、算法开发</a:t>
                      </a:r>
                    </a:p>
                  </a:txBody>
                  <a:tcPr marL="114300" marR="7620" marT="7620" marB="0" anchor="ctr"/>
                </a:tc>
                <a:tc rowSpan="2">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2025</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11</a:t>
                      </a:r>
                      <a:r>
                        <a:rPr lang="zh-CN" altLang="en-US" sz="1200" kern="0" dirty="0">
                          <a:solidFill>
                            <a:schemeClr val="dk1"/>
                          </a:solidFill>
                          <a:effectLst/>
                          <a:latin typeface="+mn-lt"/>
                          <a:ea typeface="+mn-ea"/>
                          <a:cs typeface="+mn-cs"/>
                        </a:rPr>
                        <a:t>月 </a:t>
                      </a:r>
                      <a:r>
                        <a:rPr lang="en-US" altLang="zh-CN" sz="1200" kern="0" dirty="0">
                          <a:solidFill>
                            <a:schemeClr val="dk1"/>
                          </a:solidFill>
                          <a:effectLst/>
                          <a:latin typeface="+mn-lt"/>
                          <a:ea typeface="+mn-ea"/>
                          <a:cs typeface="+mn-cs"/>
                        </a:rPr>
                        <a:t>- 12</a:t>
                      </a:r>
                      <a:r>
                        <a:rPr lang="zh-CN" altLang="en-US" sz="1200" kern="0" dirty="0">
                          <a:solidFill>
                            <a:schemeClr val="dk1"/>
                          </a:solidFill>
                          <a:effectLst/>
                          <a:latin typeface="+mn-lt"/>
                          <a:ea typeface="+mn-ea"/>
                          <a:cs typeface="+mn-cs"/>
                        </a:rPr>
                        <a:t>月</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收集</a:t>
                      </a:r>
                      <a:r>
                        <a:rPr lang="en-US" altLang="zh-CN" sz="1200" kern="0" dirty="0">
                          <a:solidFill>
                            <a:schemeClr val="dk1"/>
                          </a:solidFill>
                          <a:effectLst/>
                          <a:latin typeface="+mn-lt"/>
                          <a:ea typeface="+mn-ea"/>
                          <a:cs typeface="+mn-cs"/>
                        </a:rPr>
                        <a:t>/</a:t>
                      </a:r>
                      <a:r>
                        <a:rPr lang="zh-CN" altLang="en-US" sz="1200" kern="0" dirty="0">
                          <a:solidFill>
                            <a:schemeClr val="dk1"/>
                          </a:solidFill>
                          <a:effectLst/>
                          <a:latin typeface="+mn-lt"/>
                          <a:ea typeface="+mn-ea"/>
                          <a:cs typeface="+mn-cs"/>
                        </a:rPr>
                        <a:t>生成训练数据，开发</a:t>
                      </a:r>
                      <a:r>
                        <a:rPr lang="en-US" altLang="zh-CN" sz="1200" kern="0" dirty="0">
                          <a:solidFill>
                            <a:schemeClr val="dk1"/>
                          </a:solidFill>
                          <a:effectLst/>
                          <a:latin typeface="+mn-lt"/>
                          <a:ea typeface="+mn-ea"/>
                          <a:cs typeface="+mn-cs"/>
                        </a:rPr>
                        <a:t>SVR</a:t>
                      </a:r>
                      <a:r>
                        <a:rPr lang="zh-CN" altLang="en-US" sz="1200" kern="0" dirty="0">
                          <a:solidFill>
                            <a:schemeClr val="dk1"/>
                          </a:solidFill>
                          <a:effectLst/>
                          <a:latin typeface="+mn-lt"/>
                          <a:ea typeface="+mn-ea"/>
                          <a:cs typeface="+mn-cs"/>
                        </a:rPr>
                        <a:t>侧滑角预测模块。</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SVR</a:t>
                      </a:r>
                      <a:r>
                        <a:rPr lang="zh-CN" altLang="en-US" sz="1200" kern="0" dirty="0">
                          <a:solidFill>
                            <a:schemeClr val="dk1"/>
                          </a:solidFill>
                          <a:effectLst/>
                          <a:latin typeface="+mn-lt"/>
                          <a:ea typeface="+mn-ea"/>
                          <a:cs typeface="+mn-cs"/>
                        </a:rPr>
                        <a:t>预测模块能够在线输出侧滑角。</a:t>
                      </a:r>
                    </a:p>
                  </a:txBody>
                  <a:tcPr marL="114300" marR="7620" marT="7620" marB="0" anchor="ctr"/>
                </a:tc>
                <a:extLst>
                  <a:ext uri="{0D108BD9-81ED-4DB2-BD59-A6C34878D82A}">
                    <a16:rowId xmlns:a16="http://schemas.microsoft.com/office/drawing/2014/main" val="1952765943"/>
                  </a:ext>
                </a:extLst>
              </a:tr>
              <a:tr h="348341">
                <a:tc vMerge="1">
                  <a:txBody>
                    <a:bodyPr/>
                    <a:lstStyle/>
                    <a:p>
                      <a:endParaRPr lang="zh-CN" altLang="en-US" dirty="0"/>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设计融合侧滑前馈的自适应</a:t>
                      </a:r>
                      <a:r>
                        <a:rPr lang="en-US" altLang="zh-CN" sz="1200" kern="0" dirty="0">
                          <a:solidFill>
                            <a:schemeClr val="dk1"/>
                          </a:solidFill>
                          <a:effectLst/>
                          <a:latin typeface="+mn-lt"/>
                          <a:ea typeface="+mn-ea"/>
                          <a:cs typeface="+mn-cs"/>
                        </a:rPr>
                        <a:t>MPC</a:t>
                      </a:r>
                      <a:r>
                        <a:rPr lang="zh-CN" altLang="en-US" sz="1200" kern="0" dirty="0">
                          <a:solidFill>
                            <a:schemeClr val="dk1"/>
                          </a:solidFill>
                          <a:effectLst/>
                          <a:latin typeface="+mn-lt"/>
                          <a:ea typeface="+mn-ea"/>
                          <a:cs typeface="+mn-cs"/>
                        </a:rPr>
                        <a:t>控制器。</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完成自适应</a:t>
                      </a:r>
                      <a:r>
                        <a:rPr lang="en-US" altLang="zh-CN" sz="1200" kern="0" dirty="0">
                          <a:solidFill>
                            <a:schemeClr val="dk1"/>
                          </a:solidFill>
                          <a:effectLst/>
                          <a:latin typeface="+mn-lt"/>
                          <a:ea typeface="+mn-ea"/>
                          <a:cs typeface="+mn-cs"/>
                        </a:rPr>
                        <a:t>MPC</a:t>
                      </a:r>
                      <a:r>
                        <a:rPr lang="zh-CN" altLang="en-US" sz="1200" kern="0" dirty="0">
                          <a:solidFill>
                            <a:schemeClr val="dk1"/>
                          </a:solidFill>
                          <a:effectLst/>
                          <a:latin typeface="+mn-lt"/>
                          <a:ea typeface="+mn-ea"/>
                          <a:cs typeface="+mn-cs"/>
                        </a:rPr>
                        <a:t>控制算法的代码实现。</a:t>
                      </a:r>
                    </a:p>
                  </a:txBody>
                  <a:tcPr marL="114300" marR="7620" marT="7620" marB="0" anchor="ctr"/>
                </a:tc>
                <a:extLst>
                  <a:ext uri="{0D108BD9-81ED-4DB2-BD59-A6C34878D82A}">
                    <a16:rowId xmlns:a16="http://schemas.microsoft.com/office/drawing/2014/main" val="712503695"/>
                  </a:ext>
                </a:extLst>
              </a:tr>
              <a:tr h="348341">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三、仿真平台搭建与验证</a:t>
                      </a:r>
                    </a:p>
                  </a:txBody>
                  <a:tcPr marL="114300" marR="7620" marT="7620" marB="0" anchor="ctr">
                    <a:solidFill>
                      <a:srgbClr val="D2DEEF"/>
                    </a:solidFill>
                  </a:tcPr>
                </a:tc>
                <a:tc rowSpan="2">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2026</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1</a:t>
                      </a:r>
                      <a:r>
                        <a:rPr lang="zh-CN" altLang="en-US" sz="1200" kern="0" dirty="0">
                          <a:solidFill>
                            <a:schemeClr val="dk1"/>
                          </a:solidFill>
                          <a:effectLst/>
                          <a:latin typeface="+mn-lt"/>
                          <a:ea typeface="+mn-ea"/>
                          <a:cs typeface="+mn-cs"/>
                        </a:rPr>
                        <a:t>月 </a:t>
                      </a:r>
                      <a:r>
                        <a:rPr lang="en-US" altLang="zh-CN" sz="1200" kern="0" dirty="0">
                          <a:solidFill>
                            <a:schemeClr val="dk1"/>
                          </a:solidFill>
                          <a:effectLst/>
                          <a:latin typeface="+mn-lt"/>
                          <a:ea typeface="+mn-ea"/>
                          <a:cs typeface="+mn-cs"/>
                        </a:rPr>
                        <a:t>- 2</a:t>
                      </a:r>
                      <a:r>
                        <a:rPr lang="zh-CN" altLang="en-US" sz="1200" kern="0" dirty="0">
                          <a:solidFill>
                            <a:schemeClr val="dk1"/>
                          </a:solidFill>
                          <a:effectLst/>
                          <a:latin typeface="+mn-lt"/>
                          <a:ea typeface="+mn-ea"/>
                          <a:cs typeface="+mn-cs"/>
                        </a:rPr>
                        <a:t>月</a:t>
                      </a:r>
                    </a:p>
                  </a:txBody>
                  <a:tcPr marL="114300" marR="7620" marT="7620" marB="0" anchor="ctr">
                    <a:solidFill>
                      <a:srgbClr val="D2DEEF"/>
                    </a:solidFill>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搭建</a:t>
                      </a:r>
                      <a:r>
                        <a:rPr lang="en-US" sz="1200" kern="0" dirty="0">
                          <a:solidFill>
                            <a:schemeClr val="dk1"/>
                          </a:solidFill>
                          <a:effectLst/>
                          <a:latin typeface="+mn-lt"/>
                          <a:ea typeface="+mn-ea"/>
                          <a:cs typeface="+mn-cs"/>
                        </a:rPr>
                        <a:t>EDEM-</a:t>
                      </a:r>
                      <a:r>
                        <a:rPr lang="en-US" sz="1200" kern="0" dirty="0" err="1">
                          <a:solidFill>
                            <a:schemeClr val="dk1"/>
                          </a:solidFill>
                          <a:effectLst/>
                          <a:latin typeface="+mn-lt"/>
                          <a:ea typeface="+mn-ea"/>
                          <a:cs typeface="+mn-cs"/>
                        </a:rPr>
                        <a:t>RecurDyn</a:t>
                      </a:r>
                      <a:r>
                        <a:rPr lang="en-US" sz="1200" kern="0" dirty="0">
                          <a:solidFill>
                            <a:schemeClr val="dk1"/>
                          </a:solidFill>
                          <a:effectLst/>
                          <a:latin typeface="+mn-lt"/>
                          <a:ea typeface="+mn-ea"/>
                          <a:cs typeface="+mn-cs"/>
                        </a:rPr>
                        <a:t>-MATLAB/Simulink</a:t>
                      </a:r>
                      <a:r>
                        <a:rPr lang="zh-CN" altLang="en-US" sz="1200" kern="0" dirty="0">
                          <a:solidFill>
                            <a:schemeClr val="dk1"/>
                          </a:solidFill>
                          <a:effectLst/>
                          <a:latin typeface="+mn-lt"/>
                          <a:ea typeface="+mn-ea"/>
                          <a:cs typeface="+mn-cs"/>
                        </a:rPr>
                        <a:t>联合仿真环境。</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成功搭建多物理场联合仿真平台。</a:t>
                      </a:r>
                    </a:p>
                  </a:txBody>
                  <a:tcPr marL="114300" marR="7620" marT="7620" marB="0" anchor="ctr"/>
                </a:tc>
                <a:extLst>
                  <a:ext uri="{0D108BD9-81ED-4DB2-BD59-A6C34878D82A}">
                    <a16:rowId xmlns:a16="http://schemas.microsoft.com/office/drawing/2014/main" val="439858985"/>
                  </a:ext>
                </a:extLst>
              </a:tr>
              <a:tr h="348341">
                <a:tc vMerge="1">
                  <a:txBody>
                    <a:bodyPr/>
                    <a:lstStyle/>
                    <a:p>
                      <a:endParaRPr lang="zh-CN" altLang="en-US" dirty="0"/>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将模型与算法集成到平台中进行闭环测试。</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获得初步仿真结果，验证系统可行性。</a:t>
                      </a:r>
                    </a:p>
                  </a:txBody>
                  <a:tcPr marL="114300" marR="7620" marT="7620" marB="0" anchor="ctr"/>
                </a:tc>
                <a:extLst>
                  <a:ext uri="{0D108BD9-81ED-4DB2-BD59-A6C34878D82A}">
                    <a16:rowId xmlns:a16="http://schemas.microsoft.com/office/drawing/2014/main" val="1923196431"/>
                  </a:ext>
                </a:extLst>
              </a:tr>
              <a:tr h="374412">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四、数据分析与优化</a:t>
                      </a:r>
                    </a:p>
                  </a:txBody>
                  <a:tcPr marL="114300" marR="7620" marT="7620" marB="0" anchor="ctr"/>
                </a:tc>
                <a:tc rowSpan="2">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2026</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3</a:t>
                      </a:r>
                      <a:r>
                        <a:rPr lang="zh-CN" altLang="en-US" sz="1200" kern="0" dirty="0">
                          <a:solidFill>
                            <a:schemeClr val="dk1"/>
                          </a:solidFill>
                          <a:effectLst/>
                          <a:latin typeface="+mn-lt"/>
                          <a:ea typeface="+mn-ea"/>
                          <a:cs typeface="+mn-cs"/>
                        </a:rPr>
                        <a:t>月</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全面进行仿真实验，分析路径跟踪精度、稳定性等性能。</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获得充分的性能对比数据（与无补偿控制对比）。</a:t>
                      </a:r>
                    </a:p>
                  </a:txBody>
                  <a:tcPr marL="114300" marR="7620" marT="7620" marB="0" anchor="ctr"/>
                </a:tc>
                <a:extLst>
                  <a:ext uri="{0D108BD9-81ED-4DB2-BD59-A6C34878D82A}">
                    <a16:rowId xmlns:a16="http://schemas.microsoft.com/office/drawing/2014/main" val="2875466864"/>
                  </a:ext>
                </a:extLst>
              </a:tr>
              <a:tr h="268995">
                <a:tc vMerge="1">
                  <a:txBody>
                    <a:bodyPr/>
                    <a:lstStyle/>
                    <a:p>
                      <a:endParaRPr lang="zh-CN" altLang="en-US" dirty="0"/>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根据结果优化模型参数和控制算法。</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算法性能达到预期指标。</a:t>
                      </a:r>
                    </a:p>
                  </a:txBody>
                  <a:tcPr marL="114300" marR="7620" marT="7620" marB="0" anchor="ctr"/>
                </a:tc>
                <a:extLst>
                  <a:ext uri="{0D108BD9-81ED-4DB2-BD59-A6C34878D82A}">
                    <a16:rowId xmlns:a16="http://schemas.microsoft.com/office/drawing/2014/main" val="3804653256"/>
                  </a:ext>
                </a:extLst>
              </a:tr>
              <a:tr h="348341">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五、论文撰写与初稿</a:t>
                      </a:r>
                    </a:p>
                  </a:txBody>
                  <a:tcPr marL="114300" marR="7620" marT="7620" marB="0" anchor="ctr">
                    <a:solidFill>
                      <a:srgbClr val="D2DEEF"/>
                    </a:solidFill>
                  </a:tcPr>
                </a:tc>
                <a:tc rowSpan="2">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2026</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4</a:t>
                      </a:r>
                      <a:r>
                        <a:rPr lang="zh-CN" altLang="en-US" sz="1200" kern="0" dirty="0">
                          <a:solidFill>
                            <a:schemeClr val="dk1"/>
                          </a:solidFill>
                          <a:effectLst/>
                          <a:latin typeface="+mn-lt"/>
                          <a:ea typeface="+mn-ea"/>
                          <a:cs typeface="+mn-cs"/>
                        </a:rPr>
                        <a:t>月上中旬</a:t>
                      </a:r>
                    </a:p>
                  </a:txBody>
                  <a:tcPr marL="114300" marR="7620" marT="7620" marB="0" anchor="ctr">
                    <a:solidFill>
                      <a:srgbClr val="D2DEEF"/>
                    </a:solidFill>
                  </a:tcPr>
                </a:tc>
                <a:tc>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开始撰写毕业论文，完成绪论、理论基础、方法设计等章节。</a:t>
                      </a:r>
                    </a:p>
                  </a:txBody>
                  <a:tcPr marL="114300" marR="7620" marT="7620" marB="0" anchor="ctr"/>
                </a:tc>
                <a:tc>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完成论文初稿的绝大部分内容。</a:t>
                      </a:r>
                    </a:p>
                  </a:txBody>
                  <a:tcPr marL="114300" marR="7620" marT="7620" marB="0" anchor="ctr"/>
                </a:tc>
                <a:extLst>
                  <a:ext uri="{0D108BD9-81ED-4DB2-BD59-A6C34878D82A}">
                    <a16:rowId xmlns:a16="http://schemas.microsoft.com/office/drawing/2014/main" val="4084148678"/>
                  </a:ext>
                </a:extLst>
              </a:tr>
              <a:tr h="348341">
                <a:tc vMerge="1">
                  <a:txBody>
                    <a:bodyPr/>
                    <a:lstStyle/>
                    <a:p>
                      <a:pPr marL="0" indent="0" algn="just" defTabSz="914400" rtl="0" eaLnBrk="1" fontAlgn="ctr" latinLnBrk="0" hangingPunct="1">
                        <a:lnSpc>
                          <a:spcPct val="100000"/>
                        </a:lnSpc>
                        <a:spcAft>
                          <a:spcPts val="0"/>
                        </a:spcAft>
                      </a:pPr>
                      <a:endParaRPr lang="zh-CN" altLang="en-US" sz="1200" kern="0" dirty="0">
                        <a:solidFill>
                          <a:schemeClr val="dk1"/>
                        </a:solidFill>
                        <a:effectLst/>
                        <a:latin typeface="+mn-lt"/>
                        <a:ea typeface="+mn-ea"/>
                        <a:cs typeface="+mn-cs"/>
                      </a:endParaRPr>
                    </a:p>
                  </a:txBody>
                  <a:tcPr marL="114300" marR="7620" marT="7620" marB="0" anchor="ct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提交初稿给导师审阅，并根据意见修改。</a:t>
                      </a:r>
                    </a:p>
                  </a:txBody>
                  <a:tcPr marL="114300" marR="7620" marT="7620" marB="0" anchor="ctr"/>
                </a:tc>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完成论文的最终稿，内容完整、格式规范。</a:t>
                      </a:r>
                    </a:p>
                  </a:txBody>
                  <a:tcPr marL="114300" marR="7620" marT="7620" marB="0" anchor="ctr"/>
                </a:tc>
                <a:extLst>
                  <a:ext uri="{0D108BD9-81ED-4DB2-BD59-A6C34878D82A}">
                    <a16:rowId xmlns:a16="http://schemas.microsoft.com/office/drawing/2014/main" val="1651089353"/>
                  </a:ext>
                </a:extLst>
              </a:tr>
              <a:tr h="348341">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zh-CN" altLang="en-US" sz="1200" kern="0" dirty="0">
                          <a:solidFill>
                            <a:schemeClr val="dk1"/>
                          </a:solidFill>
                          <a:effectLst/>
                          <a:latin typeface="+mn-lt"/>
                          <a:ea typeface="+mn-ea"/>
                          <a:cs typeface="+mn-cs"/>
                        </a:rPr>
                        <a:t>六、论文修改与润色</a:t>
                      </a:r>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2026</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4</a:t>
                      </a:r>
                      <a:r>
                        <a:rPr lang="zh-CN" altLang="en-US" sz="1200" kern="0" dirty="0">
                          <a:solidFill>
                            <a:schemeClr val="dk1"/>
                          </a:solidFill>
                          <a:effectLst/>
                          <a:latin typeface="+mn-lt"/>
                          <a:ea typeface="+mn-ea"/>
                          <a:cs typeface="+mn-cs"/>
                        </a:rPr>
                        <a:t>月下旬</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完善摘要、结论、参考文献，格式化全文。</a:t>
                      </a:r>
                    </a:p>
                  </a:txBody>
                  <a:tcPr marL="114300" marR="7620" marT="7620" marB="0" anchor="ctr"/>
                </a:tc>
                <a:tc vMerge="1">
                  <a:txBody>
                    <a:bodyPr/>
                    <a:lstStyle/>
                    <a:p>
                      <a:endParaRPr lang="zh-CN" altLang="en-US"/>
                    </a:p>
                  </a:txBody>
                  <a:tcPr/>
                </a:tc>
                <a:extLst>
                  <a:ext uri="{0D108BD9-81ED-4DB2-BD59-A6C34878D82A}">
                    <a16:rowId xmlns:a16="http://schemas.microsoft.com/office/drawing/2014/main" val="926553073"/>
                  </a:ext>
                </a:extLst>
              </a:tr>
              <a:tr h="347368">
                <a:tc rowSpan="2">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七、答辩准备</a:t>
                      </a:r>
                    </a:p>
                  </a:txBody>
                  <a:tcPr marL="114300" marR="7620" marT="7620" marB="0" anchor="ctr"/>
                </a:tc>
                <a:tc rowSpan="2">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2026</a:t>
                      </a:r>
                      <a:r>
                        <a:rPr lang="zh-CN" altLang="en-US" sz="1200" kern="0" dirty="0">
                          <a:solidFill>
                            <a:schemeClr val="dk1"/>
                          </a:solidFill>
                          <a:effectLst/>
                          <a:latin typeface="+mn-lt"/>
                          <a:ea typeface="+mn-ea"/>
                          <a:cs typeface="+mn-cs"/>
                        </a:rPr>
                        <a:t>年</a:t>
                      </a:r>
                      <a:r>
                        <a:rPr lang="en-US" altLang="zh-CN" sz="1200" kern="0" dirty="0">
                          <a:solidFill>
                            <a:schemeClr val="dk1"/>
                          </a:solidFill>
                          <a:effectLst/>
                          <a:latin typeface="+mn-lt"/>
                          <a:ea typeface="+mn-ea"/>
                          <a:cs typeface="+mn-cs"/>
                        </a:rPr>
                        <a:t>5</a:t>
                      </a:r>
                      <a:r>
                        <a:rPr lang="zh-CN" altLang="en-US" sz="1200" kern="0" dirty="0">
                          <a:solidFill>
                            <a:schemeClr val="dk1"/>
                          </a:solidFill>
                          <a:effectLst/>
                          <a:latin typeface="+mn-lt"/>
                          <a:ea typeface="+mn-ea"/>
                          <a:cs typeface="+mn-cs"/>
                        </a:rPr>
                        <a:t>月上中旬</a:t>
                      </a:r>
                    </a:p>
                  </a:txBody>
                  <a:tcPr marL="114300" marR="7620" marT="7620" marB="0" anchor="ct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1. </a:t>
                      </a:r>
                      <a:r>
                        <a:rPr lang="zh-CN" altLang="en-US" sz="1200" kern="0" dirty="0">
                          <a:solidFill>
                            <a:schemeClr val="dk1"/>
                          </a:solidFill>
                          <a:effectLst/>
                          <a:latin typeface="+mn-lt"/>
                          <a:ea typeface="+mn-ea"/>
                          <a:cs typeface="+mn-cs"/>
                        </a:rPr>
                        <a:t>制作答辩</a:t>
                      </a:r>
                      <a:r>
                        <a:rPr lang="en-US" altLang="zh-CN" sz="1200" kern="0" dirty="0">
                          <a:solidFill>
                            <a:schemeClr val="dk1"/>
                          </a:solidFill>
                          <a:effectLst/>
                          <a:latin typeface="+mn-lt"/>
                          <a:ea typeface="+mn-ea"/>
                          <a:cs typeface="+mn-cs"/>
                        </a:rPr>
                        <a:t>PPT</a:t>
                      </a:r>
                      <a:r>
                        <a:rPr lang="zh-CN" altLang="en-US" sz="1200" kern="0" dirty="0">
                          <a:solidFill>
                            <a:schemeClr val="dk1"/>
                          </a:solidFill>
                          <a:effectLst/>
                          <a:latin typeface="+mn-lt"/>
                          <a:ea typeface="+mn-ea"/>
                          <a:cs typeface="+mn-cs"/>
                        </a:rPr>
                        <a:t>和演示材料。</a:t>
                      </a:r>
                    </a:p>
                  </a:txBody>
                  <a:tcPr marL="114300" marR="7620" marT="7620" marB="0" anchor="ctr"/>
                </a:tc>
                <a:tc>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　</a:t>
                      </a:r>
                    </a:p>
                  </a:txBody>
                  <a:tcPr marL="7620" marR="7620" marT="7620" marB="0" anchor="b"/>
                </a:tc>
                <a:extLst>
                  <a:ext uri="{0D108BD9-81ED-4DB2-BD59-A6C34878D82A}">
                    <a16:rowId xmlns:a16="http://schemas.microsoft.com/office/drawing/2014/main" val="893580307"/>
                  </a:ext>
                </a:extLst>
              </a:tr>
              <a:tr h="213246">
                <a:tc vMerge="1">
                  <a:txBody>
                    <a:bodyPr/>
                    <a:lstStyle/>
                    <a:p>
                      <a:endParaRPr lang="zh-CN" altLang="en-US" dirty="0"/>
                    </a:p>
                  </a:txBody>
                  <a:tcPr/>
                </a:tc>
                <a:tc vMerge="1">
                  <a:txBody>
                    <a:bodyPr/>
                    <a:lstStyle/>
                    <a:p>
                      <a:endParaRPr lang="zh-CN" altLang="en-US"/>
                    </a:p>
                  </a:txBody>
                  <a:tcPr/>
                </a:tc>
                <a:tc>
                  <a:txBody>
                    <a:bodyPr/>
                    <a:lstStyle/>
                    <a:p>
                      <a:pPr marL="0" indent="0" algn="just" defTabSz="914400" rtl="0" eaLnBrk="1" fontAlgn="ctr" latinLnBrk="0" hangingPunct="1">
                        <a:lnSpc>
                          <a:spcPct val="100000"/>
                        </a:lnSpc>
                        <a:spcAft>
                          <a:spcPts val="0"/>
                        </a:spcAft>
                      </a:pPr>
                      <a:r>
                        <a:rPr lang="en-US" altLang="zh-CN" sz="1200" kern="0" dirty="0">
                          <a:solidFill>
                            <a:schemeClr val="dk1"/>
                          </a:solidFill>
                          <a:effectLst/>
                          <a:latin typeface="+mn-lt"/>
                          <a:ea typeface="+mn-ea"/>
                          <a:cs typeface="+mn-cs"/>
                        </a:rPr>
                        <a:t>2. </a:t>
                      </a:r>
                      <a:r>
                        <a:rPr lang="zh-CN" altLang="en-US" sz="1200" kern="0" dirty="0">
                          <a:solidFill>
                            <a:schemeClr val="dk1"/>
                          </a:solidFill>
                          <a:effectLst/>
                          <a:latin typeface="+mn-lt"/>
                          <a:ea typeface="+mn-ea"/>
                          <a:cs typeface="+mn-cs"/>
                        </a:rPr>
                        <a:t>准备答辩讲稿。</a:t>
                      </a:r>
                    </a:p>
                  </a:txBody>
                  <a:tcPr marL="114300" marR="7620" marT="7620" marB="0" anchor="ctr"/>
                </a:tc>
                <a:tc>
                  <a:txBody>
                    <a:bodyPr/>
                    <a:lstStyle/>
                    <a:p>
                      <a:pPr marL="0" indent="0" algn="just" defTabSz="914400" rtl="0" eaLnBrk="1" fontAlgn="ctr" latinLnBrk="0" hangingPunct="1">
                        <a:lnSpc>
                          <a:spcPct val="100000"/>
                        </a:lnSpc>
                        <a:spcAft>
                          <a:spcPts val="0"/>
                        </a:spcAft>
                      </a:pPr>
                      <a:r>
                        <a:rPr lang="zh-CN" altLang="en-US" sz="1200" kern="0" dirty="0">
                          <a:solidFill>
                            <a:schemeClr val="dk1"/>
                          </a:solidFill>
                          <a:effectLst/>
                          <a:latin typeface="+mn-lt"/>
                          <a:ea typeface="+mn-ea"/>
                          <a:cs typeface="+mn-cs"/>
                        </a:rPr>
                        <a:t>　</a:t>
                      </a:r>
                    </a:p>
                  </a:txBody>
                  <a:tcPr marL="7620" marR="7620" marT="7620" marB="0" anchor="b"/>
                </a:tc>
                <a:extLst>
                  <a:ext uri="{0D108BD9-81ED-4DB2-BD59-A6C34878D82A}">
                    <a16:rowId xmlns:a16="http://schemas.microsoft.com/office/drawing/2014/main" val="537117494"/>
                  </a:ext>
                </a:extLst>
              </a:tr>
            </a:tbl>
          </a:graphicData>
        </a:graphic>
      </p:graphicFrame>
      <p:sp>
        <p:nvSpPr>
          <p:cNvPr id="6" name="文本框 5">
            <a:extLst>
              <a:ext uri="{FF2B5EF4-FFF2-40B4-BE49-F238E27FC236}">
                <a16:creationId xmlns:a16="http://schemas.microsoft.com/office/drawing/2014/main" id="{B48ED31A-A356-4B73-8FC3-9F15C86B0718}"/>
              </a:ext>
            </a:extLst>
          </p:cNvPr>
          <p:cNvSpPr txBox="1"/>
          <p:nvPr/>
        </p:nvSpPr>
        <p:spPr>
          <a:xfrm>
            <a:off x="0" y="6488668"/>
            <a:ext cx="761747" cy="369332"/>
          </a:xfrm>
          <a:prstGeom prst="rect">
            <a:avLst/>
          </a:prstGeom>
          <a:noFill/>
        </p:spPr>
        <p:txBody>
          <a:bodyPr wrap="none" rtlCol="0">
            <a:spAutoFit/>
          </a:bodyPr>
          <a:lstStyle/>
          <a:p>
            <a:r>
              <a:rPr lang="en-US" altLang="zh-CN" dirty="0"/>
              <a:t>10/10</a:t>
            </a:r>
            <a:endParaRPr lang="zh-CN" altLang="en-US" dirty="0"/>
          </a:p>
        </p:txBody>
      </p:sp>
    </p:spTree>
    <p:custDataLst>
      <p:tags r:id="rId1"/>
    </p:custDataLst>
    <p:extLst>
      <p:ext uri="{BB962C8B-B14F-4D97-AF65-F5344CB8AC3E}">
        <p14:creationId xmlns:p14="http://schemas.microsoft.com/office/powerpoint/2010/main" val="1823291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5" name="矩形 4"/>
          <p:cNvSpPr/>
          <p:nvPr/>
        </p:nvSpPr>
        <p:spPr>
          <a:xfrm>
            <a:off x="-7529" y="0"/>
            <a:ext cx="12207058"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rgbClr val="00B0F0"/>
              </a:solidFill>
            </a:endParaRPr>
          </a:p>
        </p:txBody>
      </p:sp>
      <p:pic>
        <p:nvPicPr>
          <p:cNvPr id="9" name="Picture 2"/>
          <p:cNvPicPr>
            <a:picLocks noChangeAspect="1" noChangeArrowheads="1"/>
          </p:cNvPicPr>
          <p:nvPr/>
        </p:nvPicPr>
        <p:blipFill>
          <a:blip r:embed="rId4" cstate="print">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flipH="1">
            <a:off x="6895765" y="0"/>
            <a:ext cx="5311293" cy="6877050"/>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2"/>
          <p:cNvSpPr txBox="1"/>
          <p:nvPr/>
        </p:nvSpPr>
        <p:spPr>
          <a:xfrm>
            <a:off x="0" y="2849746"/>
            <a:ext cx="7817007" cy="1835629"/>
          </a:xfrm>
          <a:prstGeom prst="rect">
            <a:avLst/>
          </a:prstGeom>
          <a:noFill/>
        </p:spPr>
        <p:txBody>
          <a:bodyPr wrap="square" lIns="96770" tIns="48386" rIns="96770" bIns="48386" rtlCol="0">
            <a:spAutoFit/>
          </a:bodyPr>
          <a:lstStyle/>
          <a:p>
            <a:pPr algn="ctr">
              <a:lnSpc>
                <a:spcPct val="150000"/>
              </a:lnSpc>
              <a:defRPr/>
            </a:pPr>
            <a:r>
              <a:rPr lang="en-US" altLang="zh-CN" sz="4000" b="1" dirty="0">
                <a:latin typeface="微软雅黑" panose="020B0503020204020204" pitchFamily="34" charset="-122"/>
                <a:ea typeface="微软雅黑" panose="020B0503020204020204" pitchFamily="34" charset="-122"/>
              </a:rPr>
              <a:t>Thank you for your criticism and correction</a:t>
            </a:r>
            <a:endParaRPr lang="zh-CN" altLang="en-US" sz="4000" b="1"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5433" y="292628"/>
            <a:ext cx="2860809" cy="992964"/>
          </a:xfrm>
          <a:prstGeom prst="rect">
            <a:avLst/>
          </a:prstGeom>
        </p:spPr>
      </p:pic>
      <p:sp>
        <p:nvSpPr>
          <p:cNvPr id="7" name="矩形 6">
            <a:extLst>
              <a:ext uri="{FF2B5EF4-FFF2-40B4-BE49-F238E27FC236}">
                <a16:creationId xmlns:a16="http://schemas.microsoft.com/office/drawing/2014/main" id="{DC1F46D1-53D4-422D-86D0-59DC9EECA2F1}"/>
              </a:ext>
            </a:extLst>
          </p:cNvPr>
          <p:cNvSpPr/>
          <p:nvPr/>
        </p:nvSpPr>
        <p:spPr>
          <a:xfrm>
            <a:off x="1571344" y="2811087"/>
            <a:ext cx="4674321" cy="102910"/>
          </a:xfrm>
          <a:prstGeom prst="rect">
            <a:avLst/>
          </a:prstGeom>
          <a:solidFill>
            <a:schemeClr val="bg1">
              <a:lumMod val="8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8" name="文本框 2">
            <a:extLst>
              <a:ext uri="{FF2B5EF4-FFF2-40B4-BE49-F238E27FC236}">
                <a16:creationId xmlns:a16="http://schemas.microsoft.com/office/drawing/2014/main" id="{869D0EA9-A11F-4429-8255-7CEBB2F1403C}"/>
              </a:ext>
            </a:extLst>
          </p:cNvPr>
          <p:cNvSpPr txBox="1"/>
          <p:nvPr/>
        </p:nvSpPr>
        <p:spPr>
          <a:xfrm>
            <a:off x="694884" y="1716528"/>
            <a:ext cx="6900320" cy="1075229"/>
          </a:xfrm>
          <a:prstGeom prst="rect">
            <a:avLst/>
          </a:prstGeom>
          <a:noFill/>
        </p:spPr>
        <p:txBody>
          <a:bodyPr wrap="square" lIns="96770" tIns="48386" rIns="96770" bIns="48386" rtlCol="0">
            <a:spAutoFit/>
          </a:bodyPr>
          <a:lstStyle/>
          <a:p>
            <a:pPr algn="ctr">
              <a:lnSpc>
                <a:spcPct val="150000"/>
              </a:lnSpc>
              <a:defRPr/>
            </a:pPr>
            <a:r>
              <a:rPr lang="zh-CN" altLang="en-US" sz="4800" b="1" dirty="0">
                <a:latin typeface="微软雅黑" panose="020B0503020204020204" pitchFamily="34" charset="-122"/>
                <a:ea typeface="微软雅黑" panose="020B0503020204020204" pitchFamily="34" charset="-122"/>
              </a:rPr>
              <a:t>感谢各位老师批评指正！</a:t>
            </a:r>
          </a:p>
        </p:txBody>
      </p:sp>
      <p:sp>
        <p:nvSpPr>
          <p:cNvPr id="10" name="副标题 2">
            <a:extLst>
              <a:ext uri="{FF2B5EF4-FFF2-40B4-BE49-F238E27FC236}">
                <a16:creationId xmlns:a16="http://schemas.microsoft.com/office/drawing/2014/main" id="{764029B3-430B-45CC-BDD9-F0241C6D3096}"/>
              </a:ext>
            </a:extLst>
          </p:cNvPr>
          <p:cNvSpPr txBox="1">
            <a:spLocks/>
          </p:cNvSpPr>
          <p:nvPr/>
        </p:nvSpPr>
        <p:spPr bwMode="auto">
          <a:xfrm>
            <a:off x="1346197" y="4958680"/>
            <a:ext cx="5117772" cy="1365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20000"/>
              </a:spcBef>
              <a:buFont typeface="Arial" panose="020B0604020202020204" pitchFamily="34" charset="0"/>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答辩人：郑祺耀</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eaLnBrk="1" hangingPunct="1">
              <a:lnSpc>
                <a:spcPct val="100000"/>
              </a:lnSpc>
              <a:spcBef>
                <a:spcPct val="20000"/>
              </a:spcBef>
              <a:buFont typeface="Arial" panose="020B0604020202020204" pitchFamily="34" charset="0"/>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指导老师：杨濛 助理教授</a:t>
            </a:r>
            <a:endPar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eaLnBrk="1" hangingPunct="1">
              <a:lnSpc>
                <a:spcPct val="100000"/>
              </a:lnSpc>
              <a:spcBef>
                <a:spcPct val="20000"/>
              </a:spcBef>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日期：</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2025.10.14</a:t>
            </a:r>
          </a:p>
          <a:p>
            <a:pPr algn="r" eaLnBrk="1" hangingPunct="1">
              <a:lnSpc>
                <a:spcPct val="100000"/>
              </a:lnSpc>
              <a:spcBef>
                <a:spcPct val="20000"/>
              </a:spcBef>
              <a:buNone/>
            </a:pP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endParaRPr>
          </a:p>
          <a:p>
            <a:pPr algn="r" eaLnBrk="1" hangingPunct="1">
              <a:lnSpc>
                <a:spcPct val="100000"/>
              </a:lnSpc>
              <a:spcBef>
                <a:spcPct val="20000"/>
              </a:spcBef>
              <a:buFont typeface="Arial" panose="020B0604020202020204" pitchFamily="34" charset="0"/>
              <a:buNone/>
            </a:pP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1"/>
    </p:custDataLst>
    <p:extLst>
      <p:ext uri="{BB962C8B-B14F-4D97-AF65-F5344CB8AC3E}">
        <p14:creationId xmlns:p14="http://schemas.microsoft.com/office/powerpoint/2010/main" val="12517910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2.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3.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4.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5.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6.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7.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ags/tag8.xml><?xml version="1.0" encoding="utf-8"?>
<p:tagLst xmlns:a="http://schemas.openxmlformats.org/drawingml/2006/main" xmlns:r="http://schemas.openxmlformats.org/officeDocument/2006/relationships" xmlns:p="http://schemas.openxmlformats.org/presentationml/2006/main">
  <p:tag name="KSO_WM_TEMPLATE_TOPIC_ID" val="280617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70C0"/>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15969</TotalTime>
  <Words>2115</Words>
  <Application>Microsoft Office PowerPoint</Application>
  <PresentationFormat>宽屏</PresentationFormat>
  <Paragraphs>174</Paragraphs>
  <Slides>13</Slides>
  <Notes>11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13</vt:i4>
      </vt:variant>
    </vt:vector>
  </HeadingPairs>
  <TitlesOfParts>
    <vt:vector size="27" baseType="lpstr">
      <vt:lpstr>方正兰亭粗黑_GBK</vt:lpstr>
      <vt:lpstr>黑体</vt:lpstr>
      <vt:lpstr>华文黑体</vt:lpstr>
      <vt:lpstr>宋体</vt:lpstr>
      <vt:lpstr>微软雅黑</vt:lpstr>
      <vt:lpstr>微软雅黑 Light</vt:lpstr>
      <vt:lpstr>Arial</vt:lpstr>
      <vt:lpstr>Calibri</vt:lpstr>
      <vt:lpstr>Calibri Light</vt:lpstr>
      <vt:lpstr>Impact</vt:lpstr>
      <vt:lpstr>Times New Roman</vt:lpstr>
      <vt:lpstr>Wingdings</vt:lpstr>
      <vt:lpstr>Office 主题</vt:lpstr>
      <vt:lpstr>1_自定义设计方案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工程机械“新四化”关键技术研究-同济大学</dc:title>
  <dc:creator>杨濛</dc:creator>
  <cp:lastModifiedBy>DELL</cp:lastModifiedBy>
  <cp:revision>3807</cp:revision>
  <cp:lastPrinted>2018-08-16T00:19:00Z</cp:lastPrinted>
  <dcterms:created xsi:type="dcterms:W3CDTF">2015-03-02T06:53:00Z</dcterms:created>
  <dcterms:modified xsi:type="dcterms:W3CDTF">2025-10-13T09:09:13Z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y fmtid="{D5CDD505-2E9C-101B-9397-08002B2CF9AE}" pid="3" name="KSORubyTemplateID">
    <vt:lpwstr>2</vt:lpwstr>
  </property>
</Properties>
</file>